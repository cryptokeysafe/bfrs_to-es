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sldIdLst>
    <p:sldId id="257" r:id="rId5"/>
    <p:sldId id="305" r:id="rId6"/>
    <p:sldId id="256" r:id="rId7"/>
    <p:sldId id="287" r:id="rId8"/>
    <p:sldId id="289" r:id="rId9"/>
    <p:sldId id="290" r:id="rId10"/>
    <p:sldId id="292" r:id="rId11"/>
    <p:sldId id="293" r:id="rId12"/>
    <p:sldId id="294" r:id="rId13"/>
    <p:sldId id="297" r:id="rId14"/>
    <p:sldId id="296" r:id="rId15"/>
    <p:sldId id="299" r:id="rId16"/>
    <p:sldId id="302" r:id="rId17"/>
    <p:sldId id="301" r:id="rId18"/>
    <p:sldId id="291" r:id="rId19"/>
    <p:sldId id="295" r:id="rId20"/>
    <p:sldId id="303" r:id="rId21"/>
    <p:sldId id="304" r:id="rId22"/>
    <p:sldId id="298" r:id="rId23"/>
    <p:sldId id="404" r:id="rId24"/>
    <p:sldId id="808" r:id="rId25"/>
    <p:sldId id="809" r:id="rId26"/>
    <p:sldId id="81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1650" autoAdjust="0"/>
  </p:normalViewPr>
  <p:slideViewPr>
    <p:cSldViewPr snapToGrid="0">
      <p:cViewPr varScale="1">
        <p:scale>
          <a:sx n="89" d="100"/>
          <a:sy n="89" d="100"/>
        </p:scale>
        <p:origin x="1428" y="78"/>
      </p:cViewPr>
      <p:guideLst/>
    </p:cSldViewPr>
  </p:slideViewPr>
  <p:notesTextViewPr>
    <p:cViewPr>
      <p:scale>
        <a:sx n="1" d="1"/>
        <a:sy n="1" d="1"/>
      </p:scale>
      <p:origin x="0" y="0"/>
    </p:cViewPr>
  </p:notesTextViewPr>
  <p:sorterViewPr>
    <p:cViewPr>
      <p:scale>
        <a:sx n="150" d="100"/>
        <a:sy n="150" d="100"/>
      </p:scale>
      <p:origin x="0" y="-136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4C68EF-1BE6-498F-8096-BEA50E9AF59C}" type="datetimeFigureOut">
              <a:rPr lang="en-US" smtClean="0"/>
              <a:t>11/26/2025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473004-8387-4297-A9A8-78C206457C31}" type="slidenum">
              <a:rPr lang="en-US" smtClean="0"/>
              <a:t>‹#›</a:t>
            </a:fld>
            <a:endParaRPr lang="en-US"/>
          </a:p>
        </p:txBody>
      </p:sp>
    </p:spTree>
    <p:extLst>
      <p:ext uri="{BB962C8B-B14F-4D97-AF65-F5344CB8AC3E}">
        <p14:creationId xmlns:p14="http://schemas.microsoft.com/office/powerpoint/2010/main" val="464814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473004-8387-4297-A9A8-78C206457C31}" type="slidenum">
              <a:rPr lang="en-US" smtClean="0"/>
              <a:t>5</a:t>
            </a:fld>
            <a:endParaRPr lang="en-US"/>
          </a:p>
        </p:txBody>
      </p:sp>
    </p:spTree>
    <p:extLst>
      <p:ext uri="{BB962C8B-B14F-4D97-AF65-F5344CB8AC3E}">
        <p14:creationId xmlns:p14="http://schemas.microsoft.com/office/powerpoint/2010/main" val="2508320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7473004-8387-4297-A9A8-78C206457C31}" type="slidenum">
              <a:rPr lang="en-US" smtClean="0"/>
              <a:t>7</a:t>
            </a:fld>
            <a:endParaRPr lang="en-US"/>
          </a:p>
        </p:txBody>
      </p:sp>
    </p:spTree>
    <p:extLst>
      <p:ext uri="{BB962C8B-B14F-4D97-AF65-F5344CB8AC3E}">
        <p14:creationId xmlns:p14="http://schemas.microsoft.com/office/powerpoint/2010/main" val="348336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7473004-8387-4297-A9A8-78C206457C31}" type="slidenum">
              <a:rPr lang="en-US" smtClean="0"/>
              <a:t>9</a:t>
            </a:fld>
            <a:endParaRPr lang="en-US"/>
          </a:p>
        </p:txBody>
      </p:sp>
    </p:spTree>
    <p:extLst>
      <p:ext uri="{BB962C8B-B14F-4D97-AF65-F5344CB8AC3E}">
        <p14:creationId xmlns:p14="http://schemas.microsoft.com/office/powerpoint/2010/main" val="2770529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473004-8387-4297-A9A8-78C206457C31}" type="slidenum">
              <a:rPr lang="en-US" smtClean="0"/>
              <a:t>10</a:t>
            </a:fld>
            <a:endParaRPr lang="en-US"/>
          </a:p>
        </p:txBody>
      </p:sp>
    </p:spTree>
    <p:extLst>
      <p:ext uri="{BB962C8B-B14F-4D97-AF65-F5344CB8AC3E}">
        <p14:creationId xmlns:p14="http://schemas.microsoft.com/office/powerpoint/2010/main" val="1354031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473004-8387-4297-A9A8-78C206457C31}" type="slidenum">
              <a:rPr lang="en-US" smtClean="0"/>
              <a:t>12</a:t>
            </a:fld>
            <a:endParaRPr lang="en-US"/>
          </a:p>
        </p:txBody>
      </p:sp>
    </p:spTree>
    <p:extLst>
      <p:ext uri="{BB962C8B-B14F-4D97-AF65-F5344CB8AC3E}">
        <p14:creationId xmlns:p14="http://schemas.microsoft.com/office/powerpoint/2010/main" val="3073761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78E217DB-5710-454E-A120-EE04C7251D0C}" type="slidenum">
              <a:rPr lang="en-US" smtClean="0"/>
              <a:pPr/>
              <a:t>20</a:t>
            </a:fld>
            <a:endParaRPr lang="en-US"/>
          </a:p>
        </p:txBody>
      </p:sp>
    </p:spTree>
    <p:extLst>
      <p:ext uri="{BB962C8B-B14F-4D97-AF65-F5344CB8AC3E}">
        <p14:creationId xmlns:p14="http://schemas.microsoft.com/office/powerpoint/2010/main" val="4163111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78E217DB-5710-454E-A120-EE04C7251D0C}" type="slidenum">
              <a:rPr lang="en-US" smtClean="0"/>
              <a:pPr/>
              <a:t>21</a:t>
            </a:fld>
            <a:endParaRPr lang="en-US"/>
          </a:p>
        </p:txBody>
      </p:sp>
    </p:spTree>
    <p:extLst>
      <p:ext uri="{BB962C8B-B14F-4D97-AF65-F5344CB8AC3E}">
        <p14:creationId xmlns:p14="http://schemas.microsoft.com/office/powerpoint/2010/main" val="1104141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78E217DB-5710-454E-A120-EE04C7251D0C}" type="slidenum">
              <a:rPr lang="en-US" smtClean="0"/>
              <a:pPr/>
              <a:t>22</a:t>
            </a:fld>
            <a:endParaRPr lang="en-US"/>
          </a:p>
        </p:txBody>
      </p:sp>
    </p:spTree>
    <p:extLst>
      <p:ext uri="{BB962C8B-B14F-4D97-AF65-F5344CB8AC3E}">
        <p14:creationId xmlns:p14="http://schemas.microsoft.com/office/powerpoint/2010/main" val="1395115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78E217DB-5710-454E-A120-EE04C7251D0C}" type="slidenum">
              <a:rPr lang="en-US" smtClean="0"/>
              <a:pPr/>
              <a:t>23</a:t>
            </a:fld>
            <a:endParaRPr lang="en-US"/>
          </a:p>
        </p:txBody>
      </p:sp>
    </p:spTree>
    <p:extLst>
      <p:ext uri="{BB962C8B-B14F-4D97-AF65-F5344CB8AC3E}">
        <p14:creationId xmlns:p14="http://schemas.microsoft.com/office/powerpoint/2010/main" val="1742429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2D1C8-543F-9BB6-B8BE-58246A6C9A4A}"/>
              </a:ext>
            </a:extLst>
          </p:cNvPr>
          <p:cNvSpPr>
            <a:spLocks noGrp="1"/>
          </p:cNvSpPr>
          <p:nvPr>
            <p:ph type="ctrTitle"/>
          </p:nvPr>
        </p:nvSpPr>
        <p:spPr>
          <a:xfrm>
            <a:off x="1524000" y="1122363"/>
            <a:ext cx="9144000" cy="2387600"/>
          </a:xfrm>
        </p:spPr>
        <p:txBody>
          <a:bodyPr anchor="b">
            <a:normAutofit/>
          </a:bodyPr>
          <a:lstStyle>
            <a:lvl1pPr algn="ctr">
              <a:defRPr sz="3200">
                <a:latin typeface="Calibri Light" panose="020F0302020204030204" pitchFamily="34" charset="0"/>
                <a:ea typeface="Calibri Light" panose="020F0302020204030204" pitchFamily="34" charset="0"/>
                <a:cs typeface="Calibri Light" panose="020F030202020403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1C7E2835-82C4-596A-FCC5-125E29EE1FA6}"/>
              </a:ext>
            </a:extLst>
          </p:cNvPr>
          <p:cNvSpPr>
            <a:spLocks noGrp="1"/>
          </p:cNvSpPr>
          <p:nvPr>
            <p:ph type="subTitle" idx="1"/>
          </p:nvPr>
        </p:nvSpPr>
        <p:spPr>
          <a:xfrm>
            <a:off x="1524000" y="3602038"/>
            <a:ext cx="9144000" cy="1655762"/>
          </a:xfrm>
        </p:spPr>
        <p:txBody>
          <a:bodyPr/>
          <a:lstStyle>
            <a:lvl1pPr marL="0" indent="0" algn="ctr">
              <a:buNone/>
              <a:defRPr sz="2400">
                <a:latin typeface="Calibri Light" panose="020F0302020204030204" pitchFamily="34" charset="0"/>
                <a:ea typeface="Calibri Light" panose="020F0302020204030204" pitchFamily="34" charset="0"/>
                <a:cs typeface="Calibri Light" panose="020F03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1B7CAA-CF7F-D9F0-31AE-505889F8FAFE}"/>
              </a:ext>
            </a:extLst>
          </p:cNvPr>
          <p:cNvSpPr>
            <a:spLocks noGrp="1"/>
          </p:cNvSpPr>
          <p:nvPr>
            <p:ph type="dt" sz="half" idx="10"/>
          </p:nvPr>
        </p:nvSpPr>
        <p:spPr/>
        <p:txBody>
          <a:bodyPr/>
          <a:lstStyle/>
          <a:p>
            <a:fld id="{6B838B03-70A3-4937-96EE-0C4DF8775F5F}" type="datetime1">
              <a:rPr lang="en-US" smtClean="0"/>
              <a:t>11/26/2025</a:t>
            </a:fld>
            <a:endParaRPr lang="en-US"/>
          </a:p>
        </p:txBody>
      </p:sp>
      <p:sp>
        <p:nvSpPr>
          <p:cNvPr id="5" name="Footer Placeholder 4">
            <a:extLst>
              <a:ext uri="{FF2B5EF4-FFF2-40B4-BE49-F238E27FC236}">
                <a16:creationId xmlns:a16="http://schemas.microsoft.com/office/drawing/2014/main" id="{7CE7DFFA-1ADF-FF3C-01F1-23A52A4447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DA65FB-2B43-BD2D-6C91-568A5E26809F}"/>
              </a:ext>
            </a:extLst>
          </p:cNvPr>
          <p:cNvSpPr>
            <a:spLocks noGrp="1"/>
          </p:cNvSpPr>
          <p:nvPr>
            <p:ph type="sldNum" sz="quarter" idx="12"/>
          </p:nvPr>
        </p:nvSpPr>
        <p:spPr/>
        <p:txBody>
          <a:bodyPr/>
          <a:lstStyle/>
          <a:p>
            <a:fld id="{683BFD01-D97D-47BB-8E39-D4B87178CFC1}" type="slidenum">
              <a:rPr lang="en-US" smtClean="0"/>
              <a:t>‹#›</a:t>
            </a:fld>
            <a:endParaRPr lang="en-US"/>
          </a:p>
        </p:txBody>
      </p:sp>
      <p:pic>
        <p:nvPicPr>
          <p:cNvPr id="7" name="bg object 16">
            <a:extLst>
              <a:ext uri="{FF2B5EF4-FFF2-40B4-BE49-F238E27FC236}">
                <a16:creationId xmlns:a16="http://schemas.microsoft.com/office/drawing/2014/main" id="{6B8685E6-66F9-2116-1D38-AE4732F3A9AE}"/>
              </a:ext>
            </a:extLst>
          </p:cNvPr>
          <p:cNvPicPr/>
          <p:nvPr userDrawn="1"/>
        </p:nvPicPr>
        <p:blipFill>
          <a:blip r:embed="rId2" cstate="print"/>
          <a:stretch>
            <a:fillRect/>
          </a:stretch>
        </p:blipFill>
        <p:spPr>
          <a:xfrm>
            <a:off x="838200" y="417544"/>
            <a:ext cx="1219200" cy="1220724"/>
          </a:xfrm>
          <a:prstGeom prst="rect">
            <a:avLst/>
          </a:prstGeom>
        </p:spPr>
      </p:pic>
      <p:sp>
        <p:nvSpPr>
          <p:cNvPr id="8" name="bg object 17">
            <a:extLst>
              <a:ext uri="{FF2B5EF4-FFF2-40B4-BE49-F238E27FC236}">
                <a16:creationId xmlns:a16="http://schemas.microsoft.com/office/drawing/2014/main" id="{9F1D1D68-2581-2108-10E8-3F880482439A}"/>
              </a:ext>
            </a:extLst>
          </p:cNvPr>
          <p:cNvSpPr/>
          <p:nvPr userDrawn="1"/>
        </p:nvSpPr>
        <p:spPr>
          <a:xfrm>
            <a:off x="2412492" y="982980"/>
            <a:ext cx="8725535" cy="46990"/>
          </a:xfrm>
          <a:custGeom>
            <a:avLst/>
            <a:gdLst/>
            <a:ahLst/>
            <a:cxnLst/>
            <a:rect l="l" t="t" r="r" b="b"/>
            <a:pathLst>
              <a:path w="8725535" h="46990">
                <a:moveTo>
                  <a:pt x="0" y="46862"/>
                </a:moveTo>
                <a:lnTo>
                  <a:pt x="8725408" y="0"/>
                </a:lnTo>
              </a:path>
            </a:pathLst>
          </a:custGeom>
          <a:ln w="57912">
            <a:solidFill>
              <a:srgbClr val="FF0000"/>
            </a:solidFill>
          </a:ln>
        </p:spPr>
        <p:txBody>
          <a:bodyPr wrap="square" lIns="0" tIns="0" rIns="0" bIns="0" rtlCol="0"/>
          <a:lstStyle/>
          <a:p>
            <a:endParaRPr/>
          </a:p>
        </p:txBody>
      </p:sp>
      <p:sp>
        <p:nvSpPr>
          <p:cNvPr id="9" name="bg object 18">
            <a:extLst>
              <a:ext uri="{FF2B5EF4-FFF2-40B4-BE49-F238E27FC236}">
                <a16:creationId xmlns:a16="http://schemas.microsoft.com/office/drawing/2014/main" id="{9AA9CB7F-5CC9-AEF7-8BD6-F44F76D08FFC}"/>
              </a:ext>
            </a:extLst>
          </p:cNvPr>
          <p:cNvSpPr/>
          <p:nvPr userDrawn="1"/>
        </p:nvSpPr>
        <p:spPr>
          <a:xfrm>
            <a:off x="1078991" y="6169152"/>
            <a:ext cx="10058400" cy="11430"/>
          </a:xfrm>
          <a:custGeom>
            <a:avLst/>
            <a:gdLst/>
            <a:ahLst/>
            <a:cxnLst/>
            <a:rect l="l" t="t" r="r" b="b"/>
            <a:pathLst>
              <a:path w="10058400" h="11429">
                <a:moveTo>
                  <a:pt x="0" y="11023"/>
                </a:moveTo>
                <a:lnTo>
                  <a:pt x="10058400" y="0"/>
                </a:lnTo>
              </a:path>
            </a:pathLst>
          </a:custGeom>
          <a:ln w="57912">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3177938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D503B-04C4-45DA-5DE9-E38C690853DB}"/>
              </a:ext>
            </a:extLst>
          </p:cNvPr>
          <p:cNvSpPr>
            <a:spLocks noGrp="1"/>
          </p:cNvSpPr>
          <p:nvPr>
            <p:ph type="title"/>
          </p:nvPr>
        </p:nvSpPr>
        <p:spPr>
          <a:xfrm>
            <a:off x="2412492" y="365126"/>
            <a:ext cx="8724899" cy="614236"/>
          </a:xfrm>
        </p:spPr>
        <p:txBody>
          <a:bodyPr>
            <a:normAutofit/>
          </a:bodyPr>
          <a:lstStyle>
            <a:lvl1pPr algn="r">
              <a:defRPr sz="3200">
                <a:latin typeface="Calibri Light" panose="020F0302020204030204" pitchFamily="34" charset="0"/>
                <a:ea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AB6E875A-EB2B-0E40-86D6-A1428AF75A05}"/>
              </a:ext>
            </a:extLst>
          </p:cNvPr>
          <p:cNvSpPr>
            <a:spLocks noGrp="1"/>
          </p:cNvSpPr>
          <p:nvPr>
            <p:ph idx="1"/>
          </p:nvPr>
        </p:nvSpPr>
        <p:spPr>
          <a:xfrm>
            <a:off x="838200" y="1638268"/>
            <a:ext cx="10515600" cy="4538695"/>
          </a:xfrm>
        </p:spPr>
        <p:txBody>
          <a:bodyPr/>
          <a:lstStyle>
            <a:lvl1pPr>
              <a:defRPr>
                <a:latin typeface="Calibri Light" panose="020F0302020204030204" pitchFamily="34" charset="0"/>
                <a:ea typeface="Calibri Light" panose="020F0302020204030204" pitchFamily="34" charset="0"/>
                <a:cs typeface="Calibri Light" panose="020F0302020204030204" pitchFamily="34" charset="0"/>
              </a:defRPr>
            </a:lvl1pPr>
            <a:lvl2pPr>
              <a:defRPr>
                <a:latin typeface="Calibri Light" panose="020F0302020204030204" pitchFamily="34" charset="0"/>
                <a:ea typeface="Calibri Light" panose="020F0302020204030204" pitchFamily="34" charset="0"/>
                <a:cs typeface="Calibri Light" panose="020F0302020204030204" pitchFamily="34" charset="0"/>
              </a:defRPr>
            </a:lvl2pPr>
            <a:lvl3pPr>
              <a:defRPr>
                <a:latin typeface="Calibri Light" panose="020F0302020204030204" pitchFamily="34" charset="0"/>
                <a:ea typeface="Calibri Light" panose="020F0302020204030204" pitchFamily="34" charset="0"/>
                <a:cs typeface="Calibri Light" panose="020F0302020204030204" pitchFamily="34" charset="0"/>
              </a:defRPr>
            </a:lvl3pPr>
            <a:lvl4pPr>
              <a:defRPr>
                <a:latin typeface="Calibri Light" panose="020F0302020204030204" pitchFamily="34" charset="0"/>
                <a:ea typeface="Calibri Light" panose="020F0302020204030204" pitchFamily="34" charset="0"/>
                <a:cs typeface="Calibri Light" panose="020F0302020204030204" pitchFamily="34" charset="0"/>
              </a:defRPr>
            </a:lvl4pPr>
            <a:lvl5pPr>
              <a:defRPr>
                <a:latin typeface="Calibri Light" panose="020F0302020204030204" pitchFamily="34" charset="0"/>
                <a:ea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F0052D-030C-2D59-E09C-E0E032EED18A}"/>
              </a:ext>
            </a:extLst>
          </p:cNvPr>
          <p:cNvSpPr>
            <a:spLocks noGrp="1"/>
          </p:cNvSpPr>
          <p:nvPr>
            <p:ph type="dt" sz="half" idx="10"/>
          </p:nvPr>
        </p:nvSpPr>
        <p:spPr/>
        <p:txBody>
          <a:bodyPr/>
          <a:lstStyle/>
          <a:p>
            <a:fld id="{D4F95BCA-EB6F-4A8A-A034-918D127AFC01}" type="datetime1">
              <a:rPr lang="en-US" smtClean="0"/>
              <a:t>11/26/2025</a:t>
            </a:fld>
            <a:endParaRPr lang="en-US"/>
          </a:p>
        </p:txBody>
      </p:sp>
      <p:sp>
        <p:nvSpPr>
          <p:cNvPr id="5" name="Footer Placeholder 4">
            <a:extLst>
              <a:ext uri="{FF2B5EF4-FFF2-40B4-BE49-F238E27FC236}">
                <a16:creationId xmlns:a16="http://schemas.microsoft.com/office/drawing/2014/main" id="{5BA0F188-89D6-87D9-5F5F-C07CC5CF9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340635-E5E5-5C85-7A74-A42D70137F54}"/>
              </a:ext>
            </a:extLst>
          </p:cNvPr>
          <p:cNvSpPr>
            <a:spLocks noGrp="1"/>
          </p:cNvSpPr>
          <p:nvPr>
            <p:ph type="sldNum" sz="quarter" idx="12"/>
          </p:nvPr>
        </p:nvSpPr>
        <p:spPr/>
        <p:txBody>
          <a:bodyPr/>
          <a:lstStyle/>
          <a:p>
            <a:fld id="{683BFD01-D97D-47BB-8E39-D4B87178CFC1}" type="slidenum">
              <a:rPr lang="en-US" smtClean="0"/>
              <a:t>‹#›</a:t>
            </a:fld>
            <a:endParaRPr lang="en-US"/>
          </a:p>
        </p:txBody>
      </p:sp>
      <p:pic>
        <p:nvPicPr>
          <p:cNvPr id="8" name="bg object 16">
            <a:extLst>
              <a:ext uri="{FF2B5EF4-FFF2-40B4-BE49-F238E27FC236}">
                <a16:creationId xmlns:a16="http://schemas.microsoft.com/office/drawing/2014/main" id="{5AA75D20-E518-AF62-F7E7-EF64C0DFDB3B}"/>
              </a:ext>
            </a:extLst>
          </p:cNvPr>
          <p:cNvPicPr/>
          <p:nvPr userDrawn="1"/>
        </p:nvPicPr>
        <p:blipFill>
          <a:blip r:embed="rId2" cstate="print"/>
          <a:stretch>
            <a:fillRect/>
          </a:stretch>
        </p:blipFill>
        <p:spPr>
          <a:xfrm>
            <a:off x="838200" y="417544"/>
            <a:ext cx="1219200" cy="1220724"/>
          </a:xfrm>
          <a:prstGeom prst="rect">
            <a:avLst/>
          </a:prstGeom>
        </p:spPr>
      </p:pic>
      <p:sp>
        <p:nvSpPr>
          <p:cNvPr id="9" name="bg object 17">
            <a:extLst>
              <a:ext uri="{FF2B5EF4-FFF2-40B4-BE49-F238E27FC236}">
                <a16:creationId xmlns:a16="http://schemas.microsoft.com/office/drawing/2014/main" id="{C6D883E6-FB38-C000-4D58-478F614A8901}"/>
              </a:ext>
            </a:extLst>
          </p:cNvPr>
          <p:cNvSpPr/>
          <p:nvPr userDrawn="1"/>
        </p:nvSpPr>
        <p:spPr>
          <a:xfrm>
            <a:off x="2412492" y="982980"/>
            <a:ext cx="8725535" cy="46990"/>
          </a:xfrm>
          <a:custGeom>
            <a:avLst/>
            <a:gdLst/>
            <a:ahLst/>
            <a:cxnLst/>
            <a:rect l="l" t="t" r="r" b="b"/>
            <a:pathLst>
              <a:path w="8725535" h="46990">
                <a:moveTo>
                  <a:pt x="0" y="46862"/>
                </a:moveTo>
                <a:lnTo>
                  <a:pt x="8725408" y="0"/>
                </a:lnTo>
              </a:path>
            </a:pathLst>
          </a:custGeom>
          <a:ln w="57912">
            <a:solidFill>
              <a:srgbClr val="FF0000"/>
            </a:solidFill>
          </a:ln>
        </p:spPr>
        <p:txBody>
          <a:bodyPr wrap="square" lIns="0" tIns="0" rIns="0" bIns="0" rtlCol="0"/>
          <a:lstStyle/>
          <a:p>
            <a:endParaRPr/>
          </a:p>
        </p:txBody>
      </p:sp>
      <p:sp>
        <p:nvSpPr>
          <p:cNvPr id="10" name="bg object 18">
            <a:extLst>
              <a:ext uri="{FF2B5EF4-FFF2-40B4-BE49-F238E27FC236}">
                <a16:creationId xmlns:a16="http://schemas.microsoft.com/office/drawing/2014/main" id="{660838F1-7899-5DB1-DE3F-EDFFD405C526}"/>
              </a:ext>
            </a:extLst>
          </p:cNvPr>
          <p:cNvSpPr/>
          <p:nvPr userDrawn="1"/>
        </p:nvSpPr>
        <p:spPr>
          <a:xfrm>
            <a:off x="1078991" y="6169152"/>
            <a:ext cx="10058400" cy="11430"/>
          </a:xfrm>
          <a:custGeom>
            <a:avLst/>
            <a:gdLst/>
            <a:ahLst/>
            <a:cxnLst/>
            <a:rect l="l" t="t" r="r" b="b"/>
            <a:pathLst>
              <a:path w="10058400" h="11429">
                <a:moveTo>
                  <a:pt x="0" y="11023"/>
                </a:moveTo>
                <a:lnTo>
                  <a:pt x="10058400" y="0"/>
                </a:lnTo>
              </a:path>
            </a:pathLst>
          </a:custGeom>
          <a:ln w="57912">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29375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31296-B3F4-5C97-2259-D03A35EF75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75155E-7AD8-F076-2EF0-CE2A067470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051794-62CE-7FDF-9D3B-2CE6E79E05D1}"/>
              </a:ext>
            </a:extLst>
          </p:cNvPr>
          <p:cNvSpPr>
            <a:spLocks noGrp="1"/>
          </p:cNvSpPr>
          <p:nvPr>
            <p:ph type="dt" sz="half" idx="10"/>
          </p:nvPr>
        </p:nvSpPr>
        <p:spPr/>
        <p:txBody>
          <a:bodyPr/>
          <a:lstStyle/>
          <a:p>
            <a:fld id="{1115B5BE-51C9-4DCE-A1CF-9D0478B6C324}" type="datetime1">
              <a:rPr lang="en-US" smtClean="0"/>
              <a:t>11/26/2025</a:t>
            </a:fld>
            <a:endParaRPr lang="en-US"/>
          </a:p>
        </p:txBody>
      </p:sp>
      <p:sp>
        <p:nvSpPr>
          <p:cNvPr id="5" name="Footer Placeholder 4">
            <a:extLst>
              <a:ext uri="{FF2B5EF4-FFF2-40B4-BE49-F238E27FC236}">
                <a16:creationId xmlns:a16="http://schemas.microsoft.com/office/drawing/2014/main" id="{78AF6F1E-815F-FFE8-0458-EEB5A01673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8F719D-2654-542A-C7B7-903AACC14A24}"/>
              </a:ext>
            </a:extLst>
          </p:cNvPr>
          <p:cNvSpPr>
            <a:spLocks noGrp="1"/>
          </p:cNvSpPr>
          <p:nvPr>
            <p:ph type="sldNum" sz="quarter" idx="12"/>
          </p:nvPr>
        </p:nvSpPr>
        <p:spPr/>
        <p:txBody>
          <a:bodyPr/>
          <a:lstStyle/>
          <a:p>
            <a:fld id="{683BFD01-D97D-47BB-8E39-D4B87178CFC1}" type="slidenum">
              <a:rPr lang="en-US" smtClean="0"/>
              <a:t>‹#›</a:t>
            </a:fld>
            <a:endParaRPr lang="en-US"/>
          </a:p>
        </p:txBody>
      </p:sp>
    </p:spTree>
    <p:extLst>
      <p:ext uri="{BB962C8B-B14F-4D97-AF65-F5344CB8AC3E}">
        <p14:creationId xmlns:p14="http://schemas.microsoft.com/office/powerpoint/2010/main" val="669732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74B4-426A-5183-22CC-BE368285A50F}"/>
              </a:ext>
            </a:extLst>
          </p:cNvPr>
          <p:cNvSpPr>
            <a:spLocks noGrp="1"/>
          </p:cNvSpPr>
          <p:nvPr>
            <p:ph type="title"/>
          </p:nvPr>
        </p:nvSpPr>
        <p:spPr>
          <a:xfrm>
            <a:off x="2412492" y="365126"/>
            <a:ext cx="8724899" cy="614236"/>
          </a:xfrm>
        </p:spPr>
        <p:txBody>
          <a:bodyPr>
            <a:normAutofit/>
          </a:bodyPr>
          <a:lstStyle>
            <a:lvl1pPr algn="r">
              <a:defRPr sz="3200">
                <a:latin typeface="Calibri Light" panose="020F0302020204030204" pitchFamily="34" charset="0"/>
                <a:ea typeface="Calibri Light" panose="020F0302020204030204" pitchFamily="34" charset="0"/>
                <a:cs typeface="Calibri Light" panose="020F030202020403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BDC6BCE-33AA-8CC8-EC43-72690E21CC4B}"/>
              </a:ext>
            </a:extLst>
          </p:cNvPr>
          <p:cNvSpPr>
            <a:spLocks noGrp="1"/>
          </p:cNvSpPr>
          <p:nvPr>
            <p:ph sz="half" idx="1"/>
          </p:nvPr>
        </p:nvSpPr>
        <p:spPr>
          <a:xfrm>
            <a:off x="838200" y="1825625"/>
            <a:ext cx="5181600" cy="4351338"/>
          </a:xfrm>
        </p:spPr>
        <p:txBody>
          <a:bodyPr/>
          <a:lstStyle>
            <a:lvl1pPr>
              <a:defRPr>
                <a:latin typeface="Calibri Light" panose="020F0302020204030204" pitchFamily="34" charset="0"/>
                <a:ea typeface="Calibri Light" panose="020F0302020204030204" pitchFamily="34" charset="0"/>
                <a:cs typeface="Calibri Light" panose="020F0302020204030204" pitchFamily="34" charset="0"/>
              </a:defRPr>
            </a:lvl1pPr>
            <a:lvl2pPr>
              <a:defRPr>
                <a:latin typeface="Calibri Light" panose="020F0302020204030204" pitchFamily="34" charset="0"/>
                <a:ea typeface="Calibri Light" panose="020F0302020204030204" pitchFamily="34" charset="0"/>
                <a:cs typeface="Calibri Light" panose="020F0302020204030204" pitchFamily="34" charset="0"/>
              </a:defRPr>
            </a:lvl2pPr>
            <a:lvl3pPr>
              <a:defRPr>
                <a:latin typeface="Calibri Light" panose="020F0302020204030204" pitchFamily="34" charset="0"/>
                <a:ea typeface="Calibri Light" panose="020F0302020204030204" pitchFamily="34" charset="0"/>
                <a:cs typeface="Calibri Light" panose="020F0302020204030204" pitchFamily="34" charset="0"/>
              </a:defRPr>
            </a:lvl3pPr>
            <a:lvl4pPr>
              <a:defRPr>
                <a:latin typeface="Calibri Light" panose="020F0302020204030204" pitchFamily="34" charset="0"/>
                <a:ea typeface="Calibri Light" panose="020F0302020204030204" pitchFamily="34" charset="0"/>
                <a:cs typeface="Calibri Light" panose="020F0302020204030204" pitchFamily="34" charset="0"/>
              </a:defRPr>
            </a:lvl4pPr>
            <a:lvl5pPr>
              <a:defRPr>
                <a:latin typeface="Calibri Light" panose="020F0302020204030204" pitchFamily="34" charset="0"/>
                <a:ea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ECA5A2-46CA-C106-AE6B-641B9EA189AE}"/>
              </a:ext>
            </a:extLst>
          </p:cNvPr>
          <p:cNvSpPr>
            <a:spLocks noGrp="1"/>
          </p:cNvSpPr>
          <p:nvPr>
            <p:ph sz="half" idx="2"/>
          </p:nvPr>
        </p:nvSpPr>
        <p:spPr>
          <a:xfrm>
            <a:off x="6172200" y="1825625"/>
            <a:ext cx="5181600" cy="4351338"/>
          </a:xfrm>
        </p:spPr>
        <p:txBody>
          <a:bodyPr/>
          <a:lstStyle>
            <a:lvl1pPr>
              <a:defRPr>
                <a:latin typeface="Calibri Light" panose="020F0302020204030204" pitchFamily="34" charset="0"/>
                <a:ea typeface="Calibri Light" panose="020F0302020204030204" pitchFamily="34" charset="0"/>
                <a:cs typeface="Calibri Light" panose="020F0302020204030204" pitchFamily="34" charset="0"/>
              </a:defRPr>
            </a:lvl1pPr>
            <a:lvl2pPr>
              <a:defRPr>
                <a:latin typeface="Calibri Light" panose="020F0302020204030204" pitchFamily="34" charset="0"/>
                <a:ea typeface="Calibri Light" panose="020F0302020204030204" pitchFamily="34" charset="0"/>
                <a:cs typeface="Calibri Light" panose="020F0302020204030204" pitchFamily="34" charset="0"/>
              </a:defRPr>
            </a:lvl2pPr>
            <a:lvl3pPr>
              <a:defRPr>
                <a:latin typeface="Calibri Light" panose="020F0302020204030204" pitchFamily="34" charset="0"/>
                <a:ea typeface="Calibri Light" panose="020F0302020204030204" pitchFamily="34" charset="0"/>
                <a:cs typeface="Calibri Light" panose="020F0302020204030204" pitchFamily="34" charset="0"/>
              </a:defRPr>
            </a:lvl3pPr>
            <a:lvl4pPr>
              <a:defRPr>
                <a:latin typeface="Calibri Light" panose="020F0302020204030204" pitchFamily="34" charset="0"/>
                <a:ea typeface="Calibri Light" panose="020F0302020204030204" pitchFamily="34" charset="0"/>
                <a:cs typeface="Calibri Light" panose="020F0302020204030204" pitchFamily="34" charset="0"/>
              </a:defRPr>
            </a:lvl4pPr>
            <a:lvl5pPr>
              <a:defRPr>
                <a:latin typeface="Calibri Light" panose="020F0302020204030204" pitchFamily="34" charset="0"/>
                <a:ea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3BE295-C0EA-2577-9FBC-C3D3AD3F834B}"/>
              </a:ext>
            </a:extLst>
          </p:cNvPr>
          <p:cNvSpPr>
            <a:spLocks noGrp="1"/>
          </p:cNvSpPr>
          <p:nvPr>
            <p:ph type="dt" sz="half" idx="10"/>
          </p:nvPr>
        </p:nvSpPr>
        <p:spPr/>
        <p:txBody>
          <a:bodyPr/>
          <a:lstStyle/>
          <a:p>
            <a:fld id="{86229EF7-E7BA-4CBA-8D21-1C354A0088F4}" type="datetime1">
              <a:rPr lang="en-US" smtClean="0"/>
              <a:t>11/26/2025</a:t>
            </a:fld>
            <a:endParaRPr lang="en-US"/>
          </a:p>
        </p:txBody>
      </p:sp>
      <p:sp>
        <p:nvSpPr>
          <p:cNvPr id="6" name="Footer Placeholder 5">
            <a:extLst>
              <a:ext uri="{FF2B5EF4-FFF2-40B4-BE49-F238E27FC236}">
                <a16:creationId xmlns:a16="http://schemas.microsoft.com/office/drawing/2014/main" id="{35324BD8-0FA8-4CD4-158E-584B2F63CF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23BC0E-D032-771A-1567-5E817959FEAB}"/>
              </a:ext>
            </a:extLst>
          </p:cNvPr>
          <p:cNvSpPr>
            <a:spLocks noGrp="1"/>
          </p:cNvSpPr>
          <p:nvPr>
            <p:ph type="sldNum" sz="quarter" idx="12"/>
          </p:nvPr>
        </p:nvSpPr>
        <p:spPr/>
        <p:txBody>
          <a:bodyPr/>
          <a:lstStyle/>
          <a:p>
            <a:fld id="{683BFD01-D97D-47BB-8E39-D4B87178CFC1}" type="slidenum">
              <a:rPr lang="en-US" smtClean="0"/>
              <a:t>‹#›</a:t>
            </a:fld>
            <a:endParaRPr lang="en-US"/>
          </a:p>
        </p:txBody>
      </p:sp>
      <p:pic>
        <p:nvPicPr>
          <p:cNvPr id="8" name="bg object 16">
            <a:extLst>
              <a:ext uri="{FF2B5EF4-FFF2-40B4-BE49-F238E27FC236}">
                <a16:creationId xmlns:a16="http://schemas.microsoft.com/office/drawing/2014/main" id="{C585B74B-B019-3E61-863B-09738E867060}"/>
              </a:ext>
            </a:extLst>
          </p:cNvPr>
          <p:cNvPicPr/>
          <p:nvPr userDrawn="1"/>
        </p:nvPicPr>
        <p:blipFill>
          <a:blip r:embed="rId2" cstate="print"/>
          <a:stretch>
            <a:fillRect/>
          </a:stretch>
        </p:blipFill>
        <p:spPr>
          <a:xfrm>
            <a:off x="838200" y="417544"/>
            <a:ext cx="1219200" cy="1220724"/>
          </a:xfrm>
          <a:prstGeom prst="rect">
            <a:avLst/>
          </a:prstGeom>
        </p:spPr>
      </p:pic>
      <p:sp>
        <p:nvSpPr>
          <p:cNvPr id="9" name="bg object 17">
            <a:extLst>
              <a:ext uri="{FF2B5EF4-FFF2-40B4-BE49-F238E27FC236}">
                <a16:creationId xmlns:a16="http://schemas.microsoft.com/office/drawing/2014/main" id="{6F94F49B-29E6-5AEB-BA98-72B789ECB342}"/>
              </a:ext>
            </a:extLst>
          </p:cNvPr>
          <p:cNvSpPr/>
          <p:nvPr userDrawn="1"/>
        </p:nvSpPr>
        <p:spPr>
          <a:xfrm>
            <a:off x="2412492" y="982980"/>
            <a:ext cx="8725535" cy="46990"/>
          </a:xfrm>
          <a:custGeom>
            <a:avLst/>
            <a:gdLst/>
            <a:ahLst/>
            <a:cxnLst/>
            <a:rect l="l" t="t" r="r" b="b"/>
            <a:pathLst>
              <a:path w="8725535" h="46990">
                <a:moveTo>
                  <a:pt x="0" y="46862"/>
                </a:moveTo>
                <a:lnTo>
                  <a:pt x="8725408" y="0"/>
                </a:lnTo>
              </a:path>
            </a:pathLst>
          </a:custGeom>
          <a:ln w="57912">
            <a:solidFill>
              <a:srgbClr val="FF0000"/>
            </a:solidFill>
          </a:ln>
        </p:spPr>
        <p:txBody>
          <a:bodyPr wrap="square" lIns="0" tIns="0" rIns="0" bIns="0" rtlCol="0"/>
          <a:lstStyle/>
          <a:p>
            <a:endParaRPr/>
          </a:p>
        </p:txBody>
      </p:sp>
      <p:sp>
        <p:nvSpPr>
          <p:cNvPr id="10" name="bg object 18">
            <a:extLst>
              <a:ext uri="{FF2B5EF4-FFF2-40B4-BE49-F238E27FC236}">
                <a16:creationId xmlns:a16="http://schemas.microsoft.com/office/drawing/2014/main" id="{15050080-3157-B71C-89E5-9FA8ECA57583}"/>
              </a:ext>
            </a:extLst>
          </p:cNvPr>
          <p:cNvSpPr/>
          <p:nvPr userDrawn="1"/>
        </p:nvSpPr>
        <p:spPr>
          <a:xfrm>
            <a:off x="1078991" y="6169152"/>
            <a:ext cx="10058400" cy="11430"/>
          </a:xfrm>
          <a:custGeom>
            <a:avLst/>
            <a:gdLst/>
            <a:ahLst/>
            <a:cxnLst/>
            <a:rect l="l" t="t" r="r" b="b"/>
            <a:pathLst>
              <a:path w="10058400" h="11429">
                <a:moveTo>
                  <a:pt x="0" y="11023"/>
                </a:moveTo>
                <a:lnTo>
                  <a:pt x="10058400" y="0"/>
                </a:lnTo>
              </a:path>
            </a:pathLst>
          </a:custGeom>
          <a:ln w="57912">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787626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F6644-96F3-24AE-5557-F7160F598E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FA56CE-28B3-997E-5500-3B354F776F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8CA075-A65C-9C1E-12FE-FD6FCD58C9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FF206C-7EBD-FCDA-CB93-7AAD933F0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ED90C9-48D1-296B-BE5E-DD5B4EB09E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92E4C7-DB13-D58B-DB59-ADE33E21815B}"/>
              </a:ext>
            </a:extLst>
          </p:cNvPr>
          <p:cNvSpPr>
            <a:spLocks noGrp="1"/>
          </p:cNvSpPr>
          <p:nvPr>
            <p:ph type="dt" sz="half" idx="10"/>
          </p:nvPr>
        </p:nvSpPr>
        <p:spPr/>
        <p:txBody>
          <a:bodyPr/>
          <a:lstStyle/>
          <a:p>
            <a:fld id="{48250611-1C94-4483-BC61-2AB6510D27D4}" type="datetime1">
              <a:rPr lang="en-US" smtClean="0"/>
              <a:t>11/26/2025</a:t>
            </a:fld>
            <a:endParaRPr lang="en-US"/>
          </a:p>
        </p:txBody>
      </p:sp>
      <p:sp>
        <p:nvSpPr>
          <p:cNvPr id="8" name="Footer Placeholder 7">
            <a:extLst>
              <a:ext uri="{FF2B5EF4-FFF2-40B4-BE49-F238E27FC236}">
                <a16:creationId xmlns:a16="http://schemas.microsoft.com/office/drawing/2014/main" id="{906F2454-1127-3002-FCC3-621F811158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AF190F-F954-12C9-6B62-7A80A954C815}"/>
              </a:ext>
            </a:extLst>
          </p:cNvPr>
          <p:cNvSpPr>
            <a:spLocks noGrp="1"/>
          </p:cNvSpPr>
          <p:nvPr>
            <p:ph type="sldNum" sz="quarter" idx="12"/>
          </p:nvPr>
        </p:nvSpPr>
        <p:spPr/>
        <p:txBody>
          <a:bodyPr/>
          <a:lstStyle/>
          <a:p>
            <a:fld id="{683BFD01-D97D-47BB-8E39-D4B87178CFC1}" type="slidenum">
              <a:rPr lang="en-US" smtClean="0"/>
              <a:t>‹#›</a:t>
            </a:fld>
            <a:endParaRPr lang="en-US"/>
          </a:p>
        </p:txBody>
      </p:sp>
    </p:spTree>
    <p:extLst>
      <p:ext uri="{BB962C8B-B14F-4D97-AF65-F5344CB8AC3E}">
        <p14:creationId xmlns:p14="http://schemas.microsoft.com/office/powerpoint/2010/main" val="1967932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59BBB-2804-C6A7-3039-27171FE2AC9D}"/>
              </a:ext>
            </a:extLst>
          </p:cNvPr>
          <p:cNvSpPr>
            <a:spLocks noGrp="1"/>
          </p:cNvSpPr>
          <p:nvPr>
            <p:ph type="title"/>
          </p:nvPr>
        </p:nvSpPr>
        <p:spPr>
          <a:xfrm>
            <a:off x="2412492" y="365125"/>
            <a:ext cx="8724899" cy="617855"/>
          </a:xfrm>
        </p:spPr>
        <p:txBody>
          <a:bodyPr>
            <a:normAutofit/>
          </a:bodyPr>
          <a:lstStyle>
            <a:lvl1pPr algn="r">
              <a:defRPr sz="3200">
                <a:latin typeface="Calibri Light" panose="020F0302020204030204" pitchFamily="34" charset="0"/>
                <a:ea typeface="Calibri Light" panose="020F0302020204030204" pitchFamily="34" charset="0"/>
                <a:cs typeface="Calibri Light" panose="020F0302020204030204"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B5974616-20A3-0F77-7523-EB29F3CA44CB}"/>
              </a:ext>
            </a:extLst>
          </p:cNvPr>
          <p:cNvSpPr>
            <a:spLocks noGrp="1"/>
          </p:cNvSpPr>
          <p:nvPr>
            <p:ph type="dt" sz="half" idx="10"/>
          </p:nvPr>
        </p:nvSpPr>
        <p:spPr/>
        <p:txBody>
          <a:bodyPr/>
          <a:lstStyle/>
          <a:p>
            <a:fld id="{52EE7912-C9EB-49E2-B5EA-E1EEA235D2CB}" type="datetime1">
              <a:rPr lang="en-US" smtClean="0"/>
              <a:t>11/26/2025</a:t>
            </a:fld>
            <a:endParaRPr lang="en-US"/>
          </a:p>
        </p:txBody>
      </p:sp>
      <p:sp>
        <p:nvSpPr>
          <p:cNvPr id="4" name="Footer Placeholder 3">
            <a:extLst>
              <a:ext uri="{FF2B5EF4-FFF2-40B4-BE49-F238E27FC236}">
                <a16:creationId xmlns:a16="http://schemas.microsoft.com/office/drawing/2014/main" id="{CAEB6876-8F6B-0AB8-996F-6C4F8BBE82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7072DC-E73F-B73C-5F90-BBC95DD70D5A}"/>
              </a:ext>
            </a:extLst>
          </p:cNvPr>
          <p:cNvSpPr>
            <a:spLocks noGrp="1"/>
          </p:cNvSpPr>
          <p:nvPr>
            <p:ph type="sldNum" sz="quarter" idx="12"/>
          </p:nvPr>
        </p:nvSpPr>
        <p:spPr/>
        <p:txBody>
          <a:bodyPr/>
          <a:lstStyle/>
          <a:p>
            <a:fld id="{683BFD01-D97D-47BB-8E39-D4B87178CFC1}" type="slidenum">
              <a:rPr lang="en-US" smtClean="0"/>
              <a:t>‹#›</a:t>
            </a:fld>
            <a:endParaRPr lang="en-US"/>
          </a:p>
        </p:txBody>
      </p:sp>
      <p:pic>
        <p:nvPicPr>
          <p:cNvPr id="6" name="bg object 16">
            <a:extLst>
              <a:ext uri="{FF2B5EF4-FFF2-40B4-BE49-F238E27FC236}">
                <a16:creationId xmlns:a16="http://schemas.microsoft.com/office/drawing/2014/main" id="{2F52F376-07BD-A823-7D20-086C506B44E5}"/>
              </a:ext>
            </a:extLst>
          </p:cNvPr>
          <p:cNvPicPr/>
          <p:nvPr userDrawn="1"/>
        </p:nvPicPr>
        <p:blipFill>
          <a:blip r:embed="rId2" cstate="print"/>
          <a:stretch>
            <a:fillRect/>
          </a:stretch>
        </p:blipFill>
        <p:spPr>
          <a:xfrm>
            <a:off x="838200" y="417544"/>
            <a:ext cx="1219200" cy="1220724"/>
          </a:xfrm>
          <a:prstGeom prst="rect">
            <a:avLst/>
          </a:prstGeom>
        </p:spPr>
      </p:pic>
      <p:sp>
        <p:nvSpPr>
          <p:cNvPr id="7" name="bg object 17">
            <a:extLst>
              <a:ext uri="{FF2B5EF4-FFF2-40B4-BE49-F238E27FC236}">
                <a16:creationId xmlns:a16="http://schemas.microsoft.com/office/drawing/2014/main" id="{F390E549-839B-36E4-6054-6FA4D80B3C0B}"/>
              </a:ext>
            </a:extLst>
          </p:cNvPr>
          <p:cNvSpPr/>
          <p:nvPr userDrawn="1"/>
        </p:nvSpPr>
        <p:spPr>
          <a:xfrm>
            <a:off x="2412492" y="982980"/>
            <a:ext cx="8725535" cy="46990"/>
          </a:xfrm>
          <a:custGeom>
            <a:avLst/>
            <a:gdLst/>
            <a:ahLst/>
            <a:cxnLst/>
            <a:rect l="l" t="t" r="r" b="b"/>
            <a:pathLst>
              <a:path w="8725535" h="46990">
                <a:moveTo>
                  <a:pt x="0" y="46862"/>
                </a:moveTo>
                <a:lnTo>
                  <a:pt x="8725408" y="0"/>
                </a:lnTo>
              </a:path>
            </a:pathLst>
          </a:custGeom>
          <a:ln w="57912">
            <a:solidFill>
              <a:srgbClr val="FF0000"/>
            </a:solidFill>
          </a:ln>
        </p:spPr>
        <p:txBody>
          <a:bodyPr wrap="square" lIns="0" tIns="0" rIns="0" bIns="0" rtlCol="0"/>
          <a:lstStyle/>
          <a:p>
            <a:endParaRPr/>
          </a:p>
        </p:txBody>
      </p:sp>
      <p:sp>
        <p:nvSpPr>
          <p:cNvPr id="8" name="bg object 18">
            <a:extLst>
              <a:ext uri="{FF2B5EF4-FFF2-40B4-BE49-F238E27FC236}">
                <a16:creationId xmlns:a16="http://schemas.microsoft.com/office/drawing/2014/main" id="{B73502E4-A1B9-E654-BCB1-9C7930B487B9}"/>
              </a:ext>
            </a:extLst>
          </p:cNvPr>
          <p:cNvSpPr/>
          <p:nvPr userDrawn="1"/>
        </p:nvSpPr>
        <p:spPr>
          <a:xfrm>
            <a:off x="1078991" y="6169152"/>
            <a:ext cx="10058400" cy="11430"/>
          </a:xfrm>
          <a:custGeom>
            <a:avLst/>
            <a:gdLst/>
            <a:ahLst/>
            <a:cxnLst/>
            <a:rect l="l" t="t" r="r" b="b"/>
            <a:pathLst>
              <a:path w="10058400" h="11429">
                <a:moveTo>
                  <a:pt x="0" y="11023"/>
                </a:moveTo>
                <a:lnTo>
                  <a:pt x="10058400" y="0"/>
                </a:lnTo>
              </a:path>
            </a:pathLst>
          </a:custGeom>
          <a:ln w="57912">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900958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4D03FD-0274-F7BE-1F30-47DFB79523D4}"/>
              </a:ext>
            </a:extLst>
          </p:cNvPr>
          <p:cNvSpPr>
            <a:spLocks noGrp="1"/>
          </p:cNvSpPr>
          <p:nvPr>
            <p:ph type="dt" sz="half" idx="10"/>
          </p:nvPr>
        </p:nvSpPr>
        <p:spPr/>
        <p:txBody>
          <a:bodyPr/>
          <a:lstStyle/>
          <a:p>
            <a:fld id="{2552B7C0-0A9B-47C8-8CFE-8F36C730F1FB}" type="datetime1">
              <a:rPr lang="en-US" smtClean="0"/>
              <a:t>11/26/2025</a:t>
            </a:fld>
            <a:endParaRPr lang="en-US"/>
          </a:p>
        </p:txBody>
      </p:sp>
      <p:sp>
        <p:nvSpPr>
          <p:cNvPr id="3" name="Footer Placeholder 2">
            <a:extLst>
              <a:ext uri="{FF2B5EF4-FFF2-40B4-BE49-F238E27FC236}">
                <a16:creationId xmlns:a16="http://schemas.microsoft.com/office/drawing/2014/main" id="{A4FA9AB2-0353-1F3B-1292-A7E860559D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09F76E-B59C-76D0-11A0-C1B943C77B84}"/>
              </a:ext>
            </a:extLst>
          </p:cNvPr>
          <p:cNvSpPr>
            <a:spLocks noGrp="1"/>
          </p:cNvSpPr>
          <p:nvPr>
            <p:ph type="sldNum" sz="quarter" idx="12"/>
          </p:nvPr>
        </p:nvSpPr>
        <p:spPr/>
        <p:txBody>
          <a:bodyPr/>
          <a:lstStyle/>
          <a:p>
            <a:fld id="{683BFD01-D97D-47BB-8E39-D4B87178CFC1}" type="slidenum">
              <a:rPr lang="en-US" smtClean="0"/>
              <a:t>‹#›</a:t>
            </a:fld>
            <a:endParaRPr lang="en-US"/>
          </a:p>
        </p:txBody>
      </p:sp>
    </p:spTree>
    <p:extLst>
      <p:ext uri="{BB962C8B-B14F-4D97-AF65-F5344CB8AC3E}">
        <p14:creationId xmlns:p14="http://schemas.microsoft.com/office/powerpoint/2010/main" val="139550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72E58-117E-14FD-22FC-A97B1DC0EA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D4E414-BD11-D9C5-68B6-1EA6AE84D0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C8F7B8-000C-D909-DFAF-D860019500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806E3D-B5F5-BDB2-DA34-48924B86B90F}"/>
              </a:ext>
            </a:extLst>
          </p:cNvPr>
          <p:cNvSpPr>
            <a:spLocks noGrp="1"/>
          </p:cNvSpPr>
          <p:nvPr>
            <p:ph type="dt" sz="half" idx="10"/>
          </p:nvPr>
        </p:nvSpPr>
        <p:spPr/>
        <p:txBody>
          <a:bodyPr/>
          <a:lstStyle/>
          <a:p>
            <a:fld id="{8B0F3842-3A59-46D8-8E01-4824C03EE5F6}" type="datetime1">
              <a:rPr lang="en-US" smtClean="0"/>
              <a:t>11/26/2025</a:t>
            </a:fld>
            <a:endParaRPr lang="en-US"/>
          </a:p>
        </p:txBody>
      </p:sp>
      <p:sp>
        <p:nvSpPr>
          <p:cNvPr id="6" name="Footer Placeholder 5">
            <a:extLst>
              <a:ext uri="{FF2B5EF4-FFF2-40B4-BE49-F238E27FC236}">
                <a16:creationId xmlns:a16="http://schemas.microsoft.com/office/drawing/2014/main" id="{1B733F66-D28B-E991-1430-285B374416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514FFF-555B-0A4B-CDD6-FAA6CC80FDBE}"/>
              </a:ext>
            </a:extLst>
          </p:cNvPr>
          <p:cNvSpPr>
            <a:spLocks noGrp="1"/>
          </p:cNvSpPr>
          <p:nvPr>
            <p:ph type="sldNum" sz="quarter" idx="12"/>
          </p:nvPr>
        </p:nvSpPr>
        <p:spPr/>
        <p:txBody>
          <a:bodyPr/>
          <a:lstStyle/>
          <a:p>
            <a:fld id="{683BFD01-D97D-47BB-8E39-D4B87178CFC1}" type="slidenum">
              <a:rPr lang="en-US" smtClean="0"/>
              <a:t>‹#›</a:t>
            </a:fld>
            <a:endParaRPr lang="en-US"/>
          </a:p>
        </p:txBody>
      </p:sp>
    </p:spTree>
    <p:extLst>
      <p:ext uri="{BB962C8B-B14F-4D97-AF65-F5344CB8AC3E}">
        <p14:creationId xmlns:p14="http://schemas.microsoft.com/office/powerpoint/2010/main" val="236922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852B5-E932-41AC-5984-CBDC8D5C52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E6F42A-9A94-6914-B7A2-255A01D865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C50C8D-7BC6-605D-2E1E-FE74848EC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D98D0-F85F-12B4-B1F2-ED9303E1E0C8}"/>
              </a:ext>
            </a:extLst>
          </p:cNvPr>
          <p:cNvSpPr>
            <a:spLocks noGrp="1"/>
          </p:cNvSpPr>
          <p:nvPr>
            <p:ph type="dt" sz="half" idx="10"/>
          </p:nvPr>
        </p:nvSpPr>
        <p:spPr/>
        <p:txBody>
          <a:bodyPr/>
          <a:lstStyle/>
          <a:p>
            <a:fld id="{74FD31BA-D46B-462F-BD47-DC80FD4BBAEB}" type="datetime1">
              <a:rPr lang="en-US" smtClean="0"/>
              <a:t>11/26/2025</a:t>
            </a:fld>
            <a:endParaRPr lang="en-US"/>
          </a:p>
        </p:txBody>
      </p:sp>
      <p:sp>
        <p:nvSpPr>
          <p:cNvPr id="6" name="Footer Placeholder 5">
            <a:extLst>
              <a:ext uri="{FF2B5EF4-FFF2-40B4-BE49-F238E27FC236}">
                <a16:creationId xmlns:a16="http://schemas.microsoft.com/office/drawing/2014/main" id="{0AE385CB-EFC0-48AA-707F-C4A375C38A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4C176F-F071-F100-254C-810F92DB8166}"/>
              </a:ext>
            </a:extLst>
          </p:cNvPr>
          <p:cNvSpPr>
            <a:spLocks noGrp="1"/>
          </p:cNvSpPr>
          <p:nvPr>
            <p:ph type="sldNum" sz="quarter" idx="12"/>
          </p:nvPr>
        </p:nvSpPr>
        <p:spPr/>
        <p:txBody>
          <a:bodyPr/>
          <a:lstStyle/>
          <a:p>
            <a:fld id="{683BFD01-D97D-47BB-8E39-D4B87178CFC1}" type="slidenum">
              <a:rPr lang="en-US" smtClean="0"/>
              <a:t>‹#›</a:t>
            </a:fld>
            <a:endParaRPr lang="en-US"/>
          </a:p>
        </p:txBody>
      </p:sp>
    </p:spTree>
    <p:extLst>
      <p:ext uri="{BB962C8B-B14F-4D97-AF65-F5344CB8AC3E}">
        <p14:creationId xmlns:p14="http://schemas.microsoft.com/office/powerpoint/2010/main" val="933408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3EEB6-B4FE-7771-AC99-227D08B940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0A324E-A184-D697-F9B3-8707EF1269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A80D3-E74C-D0EB-BAD0-E4D749CE219F}"/>
              </a:ext>
            </a:extLst>
          </p:cNvPr>
          <p:cNvSpPr>
            <a:spLocks noGrp="1"/>
          </p:cNvSpPr>
          <p:nvPr>
            <p:ph type="dt" sz="half" idx="10"/>
          </p:nvPr>
        </p:nvSpPr>
        <p:spPr/>
        <p:txBody>
          <a:bodyPr/>
          <a:lstStyle/>
          <a:p>
            <a:fld id="{9865438D-4EF6-49A9-81FB-084E7DC04CA6}" type="datetime1">
              <a:rPr lang="en-US" smtClean="0"/>
              <a:t>11/26/2025</a:t>
            </a:fld>
            <a:endParaRPr lang="en-US"/>
          </a:p>
        </p:txBody>
      </p:sp>
      <p:sp>
        <p:nvSpPr>
          <p:cNvPr id="5" name="Footer Placeholder 4">
            <a:extLst>
              <a:ext uri="{FF2B5EF4-FFF2-40B4-BE49-F238E27FC236}">
                <a16:creationId xmlns:a16="http://schemas.microsoft.com/office/drawing/2014/main" id="{1AFB72C1-7F59-34B6-E10D-E4A3323033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EF13C6-EDFA-6E46-F330-466310E8A531}"/>
              </a:ext>
            </a:extLst>
          </p:cNvPr>
          <p:cNvSpPr>
            <a:spLocks noGrp="1"/>
          </p:cNvSpPr>
          <p:nvPr>
            <p:ph type="sldNum" sz="quarter" idx="12"/>
          </p:nvPr>
        </p:nvSpPr>
        <p:spPr/>
        <p:txBody>
          <a:bodyPr/>
          <a:lstStyle/>
          <a:p>
            <a:fld id="{683BFD01-D97D-47BB-8E39-D4B87178CFC1}" type="slidenum">
              <a:rPr lang="en-US" smtClean="0"/>
              <a:t>‹#›</a:t>
            </a:fld>
            <a:endParaRPr lang="en-US"/>
          </a:p>
        </p:txBody>
      </p:sp>
    </p:spTree>
    <p:extLst>
      <p:ext uri="{BB962C8B-B14F-4D97-AF65-F5344CB8AC3E}">
        <p14:creationId xmlns:p14="http://schemas.microsoft.com/office/powerpoint/2010/main" val="328489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85E906-0D6B-2000-754E-3E98620773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97DAAE-F9A5-38CA-8C04-F54F0C48DD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6F40C7-B7A9-F89C-8A8E-FDD09AA618AC}"/>
              </a:ext>
            </a:extLst>
          </p:cNvPr>
          <p:cNvSpPr>
            <a:spLocks noGrp="1"/>
          </p:cNvSpPr>
          <p:nvPr>
            <p:ph type="dt" sz="half" idx="10"/>
          </p:nvPr>
        </p:nvSpPr>
        <p:spPr/>
        <p:txBody>
          <a:bodyPr/>
          <a:lstStyle/>
          <a:p>
            <a:fld id="{EBBAC345-4BAB-4B62-96A3-FD8E606B4AD6}" type="datetime1">
              <a:rPr lang="en-US" smtClean="0"/>
              <a:t>11/26/2025</a:t>
            </a:fld>
            <a:endParaRPr lang="en-US"/>
          </a:p>
        </p:txBody>
      </p:sp>
      <p:sp>
        <p:nvSpPr>
          <p:cNvPr id="5" name="Footer Placeholder 4">
            <a:extLst>
              <a:ext uri="{FF2B5EF4-FFF2-40B4-BE49-F238E27FC236}">
                <a16:creationId xmlns:a16="http://schemas.microsoft.com/office/drawing/2014/main" id="{D4C2AC1D-94DA-D531-48D9-1950BC4529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A2311-1924-72E8-CF39-A6A325248EC8}"/>
              </a:ext>
            </a:extLst>
          </p:cNvPr>
          <p:cNvSpPr>
            <a:spLocks noGrp="1"/>
          </p:cNvSpPr>
          <p:nvPr>
            <p:ph type="sldNum" sz="quarter" idx="12"/>
          </p:nvPr>
        </p:nvSpPr>
        <p:spPr/>
        <p:txBody>
          <a:bodyPr/>
          <a:lstStyle/>
          <a:p>
            <a:fld id="{683BFD01-D97D-47BB-8E39-D4B87178CFC1}" type="slidenum">
              <a:rPr lang="en-US" smtClean="0"/>
              <a:t>‹#›</a:t>
            </a:fld>
            <a:endParaRPr lang="en-US"/>
          </a:p>
        </p:txBody>
      </p:sp>
    </p:spTree>
    <p:extLst>
      <p:ext uri="{BB962C8B-B14F-4D97-AF65-F5344CB8AC3E}">
        <p14:creationId xmlns:p14="http://schemas.microsoft.com/office/powerpoint/2010/main" val="876497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359C4B-8F74-C1BD-E0C5-A82E96A1BB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5695C0-7C70-BC7B-8944-8D1605063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BC4C20-CDBC-B89E-7F42-2AF200F57A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78CAE1-F795-4F5F-8735-ED127DF81552}" type="datetime1">
              <a:rPr lang="en-US" smtClean="0"/>
              <a:t>11/26/2025</a:t>
            </a:fld>
            <a:endParaRPr lang="en-US"/>
          </a:p>
        </p:txBody>
      </p:sp>
      <p:sp>
        <p:nvSpPr>
          <p:cNvPr id="5" name="Footer Placeholder 4">
            <a:extLst>
              <a:ext uri="{FF2B5EF4-FFF2-40B4-BE49-F238E27FC236}">
                <a16:creationId xmlns:a16="http://schemas.microsoft.com/office/drawing/2014/main" id="{1684449C-DBFE-DEB4-8A15-F996F73EEB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5F82F1-6856-2891-44F3-CD2D52CDE1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3BFD01-D97D-47BB-8E39-D4B87178CFC1}" type="slidenum">
              <a:rPr lang="en-US" smtClean="0"/>
              <a:t>‹#›</a:t>
            </a:fld>
            <a:endParaRPr lang="en-US"/>
          </a:p>
        </p:txBody>
      </p:sp>
    </p:spTree>
    <p:extLst>
      <p:ext uri="{BB962C8B-B14F-4D97-AF65-F5344CB8AC3E}">
        <p14:creationId xmlns:p14="http://schemas.microsoft.com/office/powerpoint/2010/main" val="2689826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1A00B17-30BF-62EA-8314-9E7D909C8C64}"/>
              </a:ext>
            </a:extLst>
          </p:cNvPr>
          <p:cNvSpPr>
            <a:spLocks noGrp="1"/>
          </p:cNvSpPr>
          <p:nvPr>
            <p:ph type="ctrTitle"/>
          </p:nvPr>
        </p:nvSpPr>
        <p:spPr>
          <a:xfrm>
            <a:off x="1524000" y="1775702"/>
            <a:ext cx="9144000" cy="2387600"/>
          </a:xfrm>
        </p:spPr>
        <p:txBody>
          <a:bodyPr>
            <a:normAutofit fontScale="90000"/>
          </a:bodyPr>
          <a:lstStyle/>
          <a:p>
            <a:pPr algn="ctr">
              <a:lnSpc>
                <a:spcPct val="100000"/>
              </a:lnSpc>
              <a:spcBef>
                <a:spcPts val="100"/>
              </a:spcBef>
            </a:pPr>
            <a:br>
              <a:rPr lang="en-US" sz="3200" b="1" spc="-10" dirty="0"/>
            </a:br>
            <a:r>
              <a:rPr lang="en-US" b="1" spc="-10" dirty="0"/>
              <a:t>MCB Butler</a:t>
            </a:r>
            <a:br>
              <a:rPr lang="en-US" sz="3200" b="1" spc="-10" dirty="0"/>
            </a:br>
            <a:br>
              <a:rPr lang="en-US" sz="3200" b="1" spc="-10" dirty="0"/>
            </a:br>
            <a:r>
              <a:rPr lang="en-US" sz="3200" b="1" dirty="0">
                <a:latin typeface="Calibri Light"/>
                <a:cs typeface="Calibri Light"/>
              </a:rPr>
              <a:t>Marine</a:t>
            </a:r>
            <a:r>
              <a:rPr lang="en-US" sz="3200" b="1" spc="-40" dirty="0">
                <a:latin typeface="Calibri Light"/>
                <a:cs typeface="Calibri Light"/>
              </a:rPr>
              <a:t> </a:t>
            </a:r>
            <a:r>
              <a:rPr lang="en-US" sz="3200" b="1" dirty="0">
                <a:latin typeface="Calibri Light"/>
                <a:cs typeface="Calibri Light"/>
              </a:rPr>
              <a:t>Corps</a:t>
            </a:r>
            <a:r>
              <a:rPr lang="en-US" sz="3200" b="1" spc="-35" dirty="0">
                <a:latin typeface="Calibri Light"/>
                <a:cs typeface="Calibri Light"/>
              </a:rPr>
              <a:t> </a:t>
            </a:r>
            <a:r>
              <a:rPr lang="en-US" sz="3200" b="1" spc="-10" dirty="0">
                <a:latin typeface="Calibri Light"/>
                <a:cs typeface="Calibri Light"/>
              </a:rPr>
              <a:t>Strategic</a:t>
            </a:r>
            <a:r>
              <a:rPr lang="en-US" sz="3200" b="1" spc="-55" dirty="0">
                <a:latin typeface="Calibri Light"/>
                <a:cs typeface="Calibri Light"/>
              </a:rPr>
              <a:t> </a:t>
            </a:r>
            <a:r>
              <a:rPr lang="en-US" sz="3200" b="1" dirty="0">
                <a:latin typeface="Calibri Light"/>
                <a:cs typeface="Calibri Light"/>
              </a:rPr>
              <a:t>Basing</a:t>
            </a:r>
            <a:r>
              <a:rPr lang="en-US" sz="3200" b="1" spc="-20" dirty="0">
                <a:latin typeface="Calibri Light"/>
                <a:cs typeface="Calibri Light"/>
              </a:rPr>
              <a:t> </a:t>
            </a:r>
            <a:r>
              <a:rPr lang="en-US" sz="3200" b="1" spc="-10" dirty="0">
                <a:latin typeface="Calibri Light"/>
                <a:cs typeface="Calibri Light"/>
              </a:rPr>
              <a:t>Program</a:t>
            </a:r>
            <a:br>
              <a:rPr lang="en-US" sz="3200" b="1" dirty="0">
                <a:latin typeface="Calibri Light"/>
                <a:cs typeface="Calibri Light"/>
              </a:rPr>
            </a:br>
            <a:r>
              <a:rPr lang="en-US" b="1" dirty="0">
                <a:latin typeface="Calibri Light"/>
                <a:cs typeface="Calibri Light"/>
              </a:rPr>
              <a:t>3rd MLG, 3rd Men Bn, Surg Co B </a:t>
            </a:r>
            <a:r>
              <a:rPr lang="en-US" sz="3200" b="1" dirty="0">
                <a:latin typeface="Calibri Light"/>
                <a:cs typeface="Calibri Light"/>
              </a:rPr>
              <a:t>Basing</a:t>
            </a:r>
            <a:r>
              <a:rPr lang="en-US" sz="3200" b="1" spc="-65" dirty="0">
                <a:latin typeface="Calibri Light"/>
                <a:cs typeface="Calibri Light"/>
              </a:rPr>
              <a:t> </a:t>
            </a:r>
            <a:r>
              <a:rPr lang="en-US" sz="3200" b="1" spc="-20" dirty="0">
                <a:latin typeface="Calibri Light"/>
                <a:cs typeface="Calibri Light"/>
              </a:rPr>
              <a:t>Response </a:t>
            </a:r>
            <a:br>
              <a:rPr lang="en-US" sz="3200" b="1" spc="-20" dirty="0">
                <a:latin typeface="Calibri Light"/>
                <a:cs typeface="Calibri Light"/>
              </a:rPr>
            </a:br>
            <a:r>
              <a:rPr lang="en-US" sz="3200" b="1" spc="-10" dirty="0">
                <a:latin typeface="Calibri Light"/>
                <a:cs typeface="Calibri Light"/>
              </a:rPr>
              <a:t>Aug 1, 2025</a:t>
            </a:r>
            <a:br>
              <a:rPr lang="en-US" sz="3200" b="1" dirty="0">
                <a:latin typeface="Calibri Light"/>
                <a:cs typeface="Calibri Light"/>
              </a:rPr>
            </a:br>
            <a:endParaRPr lang="en-US" dirty="0"/>
          </a:p>
        </p:txBody>
      </p:sp>
      <p:sp>
        <p:nvSpPr>
          <p:cNvPr id="10" name="Subtitle 9">
            <a:extLst>
              <a:ext uri="{FF2B5EF4-FFF2-40B4-BE49-F238E27FC236}">
                <a16:creationId xmlns:a16="http://schemas.microsoft.com/office/drawing/2014/main" id="{518DF92C-E7F2-2BF2-1078-057F98214877}"/>
              </a:ext>
            </a:extLst>
          </p:cNvPr>
          <p:cNvSpPr>
            <a:spLocks noGrp="1"/>
          </p:cNvSpPr>
          <p:nvPr>
            <p:ph type="subTitle" idx="1"/>
          </p:nvPr>
        </p:nvSpPr>
        <p:spPr>
          <a:xfrm>
            <a:off x="1524000" y="4431945"/>
            <a:ext cx="9144000" cy="1655762"/>
          </a:xfrm>
        </p:spPr>
        <p:txBody>
          <a:bodyPr/>
          <a:lstStyle/>
          <a:p>
            <a:pPr marL="12700" marR="5080" algn="ctr">
              <a:lnSpc>
                <a:spcPct val="113900"/>
              </a:lnSpc>
              <a:spcBef>
                <a:spcPts val="105"/>
              </a:spcBef>
            </a:pPr>
            <a:r>
              <a:rPr lang="en-US" b="1" spc="-10" dirty="0">
                <a:latin typeface="Calibri"/>
                <a:cs typeface="Calibri"/>
              </a:rPr>
              <a:t>CDR O’Connor, Justus</a:t>
            </a:r>
          </a:p>
          <a:p>
            <a:pPr marL="12700" marR="5080" algn="ctr">
              <a:lnSpc>
                <a:spcPct val="113900"/>
              </a:lnSpc>
              <a:spcBef>
                <a:spcPts val="105"/>
              </a:spcBef>
            </a:pPr>
            <a:r>
              <a:rPr lang="en-US" b="1" spc="-10" dirty="0">
                <a:latin typeface="Calibri"/>
                <a:cs typeface="Calibri"/>
              </a:rPr>
              <a:t> MCBB GF, Public Works Officer</a:t>
            </a:r>
          </a:p>
          <a:p>
            <a:pPr marL="12700" marR="5080" algn="ctr">
              <a:lnSpc>
                <a:spcPct val="113900"/>
              </a:lnSpc>
              <a:spcBef>
                <a:spcPts val="105"/>
              </a:spcBef>
            </a:pPr>
            <a:r>
              <a:rPr lang="en-US" b="1" spc="-10" dirty="0">
                <a:latin typeface="Calibri"/>
                <a:cs typeface="Calibri"/>
              </a:rPr>
              <a:t>315-645-2800</a:t>
            </a:r>
            <a:endParaRPr lang="en-US" b="1" dirty="0">
              <a:latin typeface="Calibri"/>
              <a:cs typeface="Calibri"/>
            </a:endParaRPr>
          </a:p>
          <a:p>
            <a:endParaRPr lang="en-US" dirty="0"/>
          </a:p>
        </p:txBody>
      </p:sp>
      <p:sp>
        <p:nvSpPr>
          <p:cNvPr id="11" name="object 7"/>
          <p:cNvSpPr txBox="1"/>
          <p:nvPr/>
        </p:nvSpPr>
        <p:spPr>
          <a:xfrm>
            <a:off x="102818" y="6597802"/>
            <a:ext cx="2014739" cy="151323"/>
          </a:xfrm>
          <a:prstGeom prst="rect">
            <a:avLst/>
          </a:prstGeom>
        </p:spPr>
        <p:txBody>
          <a:bodyPr vert="horz" wrap="square" lIns="0" tIns="12700" rIns="0" bIns="0" rtlCol="0">
            <a:spAutoFit/>
          </a:bodyPr>
          <a:lstStyle/>
          <a:p>
            <a:pPr marL="12700">
              <a:lnSpc>
                <a:spcPct val="100000"/>
              </a:lnSpc>
              <a:spcBef>
                <a:spcPts val="100"/>
              </a:spcBef>
            </a:pPr>
            <a:r>
              <a:rPr lang="en-US" sz="900" dirty="0">
                <a:latin typeface="Calibri"/>
                <a:cs typeface="Calibri"/>
              </a:rPr>
              <a:t>20250806</a:t>
            </a:r>
            <a:r>
              <a:rPr sz="900" spc="-40" dirty="0">
                <a:latin typeface="Calibri"/>
                <a:cs typeface="Calibri"/>
              </a:rPr>
              <a:t> </a:t>
            </a:r>
            <a:r>
              <a:rPr lang="en-US" sz="900" spc="-40" dirty="0">
                <a:latin typeface="Calibri"/>
                <a:cs typeface="Calibri"/>
              </a:rPr>
              <a:t>Installation Response</a:t>
            </a:r>
            <a:r>
              <a:rPr sz="900" spc="5" dirty="0">
                <a:latin typeface="Calibri"/>
                <a:cs typeface="Calibri"/>
              </a:rPr>
              <a:t> </a:t>
            </a:r>
            <a:r>
              <a:rPr lang="en-US" sz="900" spc="5" dirty="0" err="1">
                <a:latin typeface="Calibri"/>
                <a:cs typeface="Calibri"/>
              </a:rPr>
              <a:t>KMedit</a:t>
            </a:r>
            <a:endParaRPr sz="900" dirty="0">
              <a:latin typeface="Calibri"/>
              <a:cs typeface="Calibri"/>
            </a:endParaRPr>
          </a:p>
        </p:txBody>
      </p:sp>
      <p:sp>
        <p:nvSpPr>
          <p:cNvPr id="12" name="Slide Number Placeholder 11">
            <a:extLst>
              <a:ext uri="{FF2B5EF4-FFF2-40B4-BE49-F238E27FC236}">
                <a16:creationId xmlns:a16="http://schemas.microsoft.com/office/drawing/2014/main" id="{7BB86C97-4DC4-1B68-A026-5D684DA6BF24}"/>
              </a:ext>
            </a:extLst>
          </p:cNvPr>
          <p:cNvSpPr>
            <a:spLocks noGrp="1"/>
          </p:cNvSpPr>
          <p:nvPr>
            <p:ph type="sldNum" sz="quarter" idx="12"/>
          </p:nvPr>
        </p:nvSpPr>
        <p:spPr/>
        <p:txBody>
          <a:bodyPr/>
          <a:lstStyle/>
          <a:p>
            <a:fld id="{683BFD01-D97D-47BB-8E39-D4B87178CFC1}" type="slidenum">
              <a:rPr lang="en-US" smtClean="0"/>
              <a:t>1</a:t>
            </a:fld>
            <a:endParaRPr lang="en-US"/>
          </a:p>
        </p:txBody>
      </p:sp>
      <p:sp>
        <p:nvSpPr>
          <p:cNvPr id="2" name="object 5">
            <a:extLst>
              <a:ext uri="{FF2B5EF4-FFF2-40B4-BE49-F238E27FC236}">
                <a16:creationId xmlns:a16="http://schemas.microsoft.com/office/drawing/2014/main" id="{15FD4882-3710-B86E-7C91-CEC618271D0D}"/>
              </a:ext>
            </a:extLst>
          </p:cNvPr>
          <p:cNvSpPr txBox="1"/>
          <p:nvPr/>
        </p:nvSpPr>
        <p:spPr>
          <a:xfrm>
            <a:off x="5130800" y="19512"/>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
        <p:nvSpPr>
          <p:cNvPr id="3" name="object 6">
            <a:extLst>
              <a:ext uri="{FF2B5EF4-FFF2-40B4-BE49-F238E27FC236}">
                <a16:creationId xmlns:a16="http://schemas.microsoft.com/office/drawing/2014/main" id="{0B72B1B0-369D-303F-EF6B-959D5F3C0EBD}"/>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4" name="TextBox 3">
            <a:extLst>
              <a:ext uri="{FF2B5EF4-FFF2-40B4-BE49-F238E27FC236}">
                <a16:creationId xmlns:a16="http://schemas.microsoft.com/office/drawing/2014/main" id="{40500965-B872-A617-F0D1-4B096B603BA6}"/>
              </a:ext>
            </a:extLst>
          </p:cNvPr>
          <p:cNvSpPr txBox="1"/>
          <p:nvPr/>
        </p:nvSpPr>
        <p:spPr>
          <a:xfrm>
            <a:off x="282828" y="5626042"/>
            <a:ext cx="2004291"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t>Consolidated Basing Request and Assessment Information is classified as </a:t>
            </a:r>
          </a:p>
          <a:p>
            <a:r>
              <a:rPr lang="en-US" sz="800" dirty="0"/>
              <a:t>Controlled Unclassified Information.</a:t>
            </a:r>
          </a:p>
        </p:txBody>
      </p:sp>
    </p:spTree>
    <p:extLst>
      <p:ext uri="{BB962C8B-B14F-4D97-AF65-F5344CB8AC3E}">
        <p14:creationId xmlns:p14="http://schemas.microsoft.com/office/powerpoint/2010/main" val="1844424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Arrow: Right 58">
            <a:extLst>
              <a:ext uri="{FF2B5EF4-FFF2-40B4-BE49-F238E27FC236}">
                <a16:creationId xmlns:a16="http://schemas.microsoft.com/office/drawing/2014/main" id="{D7AC14CB-EB34-05DF-FB39-E40ABB9A22BD}"/>
              </a:ext>
            </a:extLst>
          </p:cNvPr>
          <p:cNvSpPr/>
          <p:nvPr/>
        </p:nvSpPr>
        <p:spPr>
          <a:xfrm rot="20580000">
            <a:off x="5639226" y="2654573"/>
            <a:ext cx="5564909" cy="1108363"/>
          </a:xfrm>
          <a:prstGeom prst="rightArrow">
            <a:avLst/>
          </a:prstGeom>
          <a:solidFill>
            <a:schemeClr val="bg1">
              <a:lumMod val="95000"/>
            </a:schemeClr>
          </a:solidFill>
          <a:ln w="63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219421-D351-530F-42A4-E53871ACC05D}"/>
              </a:ext>
            </a:extLst>
          </p:cNvPr>
          <p:cNvSpPr>
            <a:spLocks noGrp="1"/>
          </p:cNvSpPr>
          <p:nvPr>
            <p:ph type="title"/>
          </p:nvPr>
        </p:nvSpPr>
        <p:spPr/>
        <p:txBody>
          <a:bodyPr/>
          <a:lstStyle/>
          <a:p>
            <a:r>
              <a:rPr lang="en-US" dirty="0">
                <a:latin typeface="Calibri Light"/>
                <a:ea typeface="Calibri Light"/>
                <a:cs typeface="Calibri Light"/>
              </a:rPr>
              <a:t>Basing Process, Actions, and General Timeline</a:t>
            </a:r>
            <a:endParaRPr lang="en-US" dirty="0"/>
          </a:p>
        </p:txBody>
      </p:sp>
      <p:sp>
        <p:nvSpPr>
          <p:cNvPr id="3" name="Slide Number Placeholder 2">
            <a:extLst>
              <a:ext uri="{FF2B5EF4-FFF2-40B4-BE49-F238E27FC236}">
                <a16:creationId xmlns:a16="http://schemas.microsoft.com/office/drawing/2014/main" id="{2DE235BC-41B4-0ED2-F044-82151618AB6F}"/>
              </a:ext>
            </a:extLst>
          </p:cNvPr>
          <p:cNvSpPr>
            <a:spLocks noGrp="1"/>
          </p:cNvSpPr>
          <p:nvPr>
            <p:ph type="sldNum" sz="quarter" idx="12"/>
          </p:nvPr>
        </p:nvSpPr>
        <p:spPr/>
        <p:txBody>
          <a:bodyPr/>
          <a:lstStyle/>
          <a:p>
            <a:fld id="{683BFD01-D97D-47BB-8E39-D4B87178CFC1}" type="slidenum">
              <a:rPr lang="en-US" smtClean="0"/>
              <a:t>2</a:t>
            </a:fld>
            <a:endParaRPr lang="en-US"/>
          </a:p>
        </p:txBody>
      </p:sp>
      <p:sp>
        <p:nvSpPr>
          <p:cNvPr id="5" name="Rectangle 4">
            <a:extLst>
              <a:ext uri="{FF2B5EF4-FFF2-40B4-BE49-F238E27FC236}">
                <a16:creationId xmlns:a16="http://schemas.microsoft.com/office/drawing/2014/main" id="{A2185AE6-33CD-DDD2-2ED6-3835DE516A19}"/>
              </a:ext>
            </a:extLst>
          </p:cNvPr>
          <p:cNvSpPr/>
          <p:nvPr/>
        </p:nvSpPr>
        <p:spPr>
          <a:xfrm>
            <a:off x="641444" y="1711464"/>
            <a:ext cx="1310901" cy="23100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rPr>
              <a:t>Phase 1 - Validation</a:t>
            </a:r>
          </a:p>
        </p:txBody>
      </p:sp>
      <p:sp>
        <p:nvSpPr>
          <p:cNvPr id="6" name="Rectangle 5">
            <a:extLst>
              <a:ext uri="{FF2B5EF4-FFF2-40B4-BE49-F238E27FC236}">
                <a16:creationId xmlns:a16="http://schemas.microsoft.com/office/drawing/2014/main" id="{716BAC36-C604-0114-F12D-E6A26A2A6E19}"/>
              </a:ext>
            </a:extLst>
          </p:cNvPr>
          <p:cNvSpPr/>
          <p:nvPr/>
        </p:nvSpPr>
        <p:spPr>
          <a:xfrm>
            <a:off x="2008787" y="1711466"/>
            <a:ext cx="4195511" cy="231007"/>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rgbClr val="000000"/>
                </a:solidFill>
              </a:rPr>
              <a:t>Phase 2 – Review and Assessment</a:t>
            </a:r>
            <a:endParaRPr lang="en-US" dirty="0"/>
          </a:p>
        </p:txBody>
      </p:sp>
      <p:sp>
        <p:nvSpPr>
          <p:cNvPr id="7" name="Rectangle 6">
            <a:extLst>
              <a:ext uri="{FF2B5EF4-FFF2-40B4-BE49-F238E27FC236}">
                <a16:creationId xmlns:a16="http://schemas.microsoft.com/office/drawing/2014/main" id="{9CAB251F-6CA1-8A06-4639-121D06731731}"/>
              </a:ext>
            </a:extLst>
          </p:cNvPr>
          <p:cNvSpPr/>
          <p:nvPr/>
        </p:nvSpPr>
        <p:spPr>
          <a:xfrm>
            <a:off x="6263353" y="1711466"/>
            <a:ext cx="1291116" cy="2310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t>Phase 3 - Selection</a:t>
            </a:r>
          </a:p>
        </p:txBody>
      </p:sp>
      <p:sp>
        <p:nvSpPr>
          <p:cNvPr id="8" name="Rectangle 7">
            <a:extLst>
              <a:ext uri="{FF2B5EF4-FFF2-40B4-BE49-F238E27FC236}">
                <a16:creationId xmlns:a16="http://schemas.microsoft.com/office/drawing/2014/main" id="{35747BB7-DEB5-A350-901F-F7F5A47A58DA}"/>
              </a:ext>
            </a:extLst>
          </p:cNvPr>
          <p:cNvSpPr/>
          <p:nvPr/>
        </p:nvSpPr>
        <p:spPr>
          <a:xfrm>
            <a:off x="7637596" y="1711466"/>
            <a:ext cx="1848050" cy="23100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rPr>
              <a:t>Phase 4 - Decision</a:t>
            </a:r>
          </a:p>
        </p:txBody>
      </p:sp>
      <p:sp>
        <p:nvSpPr>
          <p:cNvPr id="9" name="Rectangle 8">
            <a:extLst>
              <a:ext uri="{FF2B5EF4-FFF2-40B4-BE49-F238E27FC236}">
                <a16:creationId xmlns:a16="http://schemas.microsoft.com/office/drawing/2014/main" id="{D7458373-2F00-7D63-A4F8-C7D26FCA31E0}"/>
              </a:ext>
            </a:extLst>
          </p:cNvPr>
          <p:cNvSpPr/>
          <p:nvPr/>
        </p:nvSpPr>
        <p:spPr>
          <a:xfrm>
            <a:off x="9551931" y="1711465"/>
            <a:ext cx="1998625" cy="231007"/>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Phase 5 – Execution/Reporting</a:t>
            </a:r>
          </a:p>
        </p:txBody>
      </p:sp>
      <p:cxnSp>
        <p:nvCxnSpPr>
          <p:cNvPr id="11" name="Straight Arrow Connector 10">
            <a:extLst>
              <a:ext uri="{FF2B5EF4-FFF2-40B4-BE49-F238E27FC236}">
                <a16:creationId xmlns:a16="http://schemas.microsoft.com/office/drawing/2014/main" id="{B4F6C51C-95AE-1F80-4FBE-618F46EC5334}"/>
              </a:ext>
            </a:extLst>
          </p:cNvPr>
          <p:cNvCxnSpPr>
            <a:cxnSpLocks/>
          </p:cNvCxnSpPr>
          <p:nvPr/>
        </p:nvCxnSpPr>
        <p:spPr>
          <a:xfrm flipV="1">
            <a:off x="685800" y="2281310"/>
            <a:ext cx="10745221" cy="3193929"/>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0549BA6D-B81B-E565-DD7E-D02F0E90284D}"/>
              </a:ext>
            </a:extLst>
          </p:cNvPr>
          <p:cNvCxnSpPr/>
          <p:nvPr/>
        </p:nvCxnSpPr>
        <p:spPr>
          <a:xfrm flipV="1">
            <a:off x="641444" y="5813659"/>
            <a:ext cx="10928122" cy="67377"/>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A68C817-FAFC-08DA-A431-8B8A92AEC1F1}"/>
              </a:ext>
            </a:extLst>
          </p:cNvPr>
          <p:cNvCxnSpPr/>
          <p:nvPr/>
        </p:nvCxnSpPr>
        <p:spPr>
          <a:xfrm>
            <a:off x="641444" y="5659655"/>
            <a:ext cx="0" cy="36576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AA916D4-49FA-E3EA-1CFC-383D13C31571}"/>
              </a:ext>
            </a:extLst>
          </p:cNvPr>
          <p:cNvCxnSpPr/>
          <p:nvPr/>
        </p:nvCxnSpPr>
        <p:spPr>
          <a:xfrm>
            <a:off x="2436315" y="5698156"/>
            <a:ext cx="0" cy="36576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6398B05-C630-A7E6-32A4-F2A1055F49CE}"/>
              </a:ext>
            </a:extLst>
          </p:cNvPr>
          <p:cNvCxnSpPr/>
          <p:nvPr/>
        </p:nvCxnSpPr>
        <p:spPr>
          <a:xfrm>
            <a:off x="4273136" y="5698156"/>
            <a:ext cx="0" cy="36576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99F6A10-9840-A3A1-5AB6-DE67BEC5F247}"/>
              </a:ext>
            </a:extLst>
          </p:cNvPr>
          <p:cNvCxnSpPr/>
          <p:nvPr/>
        </p:nvCxnSpPr>
        <p:spPr>
          <a:xfrm>
            <a:off x="6084290" y="5715803"/>
            <a:ext cx="0" cy="36576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D61E807-93B8-1A31-76BA-0CA160E2F2F2}"/>
              </a:ext>
            </a:extLst>
          </p:cNvPr>
          <p:cNvCxnSpPr/>
          <p:nvPr/>
        </p:nvCxnSpPr>
        <p:spPr>
          <a:xfrm>
            <a:off x="7921111" y="5693345"/>
            <a:ext cx="0" cy="36576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7DBB107-606E-21A4-E06A-84EC661ADF42}"/>
              </a:ext>
            </a:extLst>
          </p:cNvPr>
          <p:cNvCxnSpPr/>
          <p:nvPr/>
        </p:nvCxnSpPr>
        <p:spPr>
          <a:xfrm>
            <a:off x="9748307" y="5693345"/>
            <a:ext cx="0" cy="36576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FD9A9B7-6A1C-C3F5-AEE1-B63F2C88AAF2}"/>
              </a:ext>
            </a:extLst>
          </p:cNvPr>
          <p:cNvCxnSpPr/>
          <p:nvPr/>
        </p:nvCxnSpPr>
        <p:spPr>
          <a:xfrm>
            <a:off x="11585128" y="5661262"/>
            <a:ext cx="0" cy="36576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0E69FD18-F8A9-63C0-6A2E-B17F0A99D84A}"/>
              </a:ext>
            </a:extLst>
          </p:cNvPr>
          <p:cNvSpPr/>
          <p:nvPr/>
        </p:nvSpPr>
        <p:spPr>
          <a:xfrm>
            <a:off x="740103" y="5911517"/>
            <a:ext cx="1598831" cy="195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Month 1</a:t>
            </a:r>
          </a:p>
        </p:txBody>
      </p:sp>
      <p:sp>
        <p:nvSpPr>
          <p:cNvPr id="30" name="Rectangle 29">
            <a:extLst>
              <a:ext uri="{FF2B5EF4-FFF2-40B4-BE49-F238E27FC236}">
                <a16:creationId xmlns:a16="http://schemas.microsoft.com/office/drawing/2014/main" id="{E960F560-A707-1F78-C688-2901D1071C46}"/>
              </a:ext>
            </a:extLst>
          </p:cNvPr>
          <p:cNvSpPr/>
          <p:nvPr/>
        </p:nvSpPr>
        <p:spPr>
          <a:xfrm>
            <a:off x="2560123" y="5898683"/>
            <a:ext cx="1598831" cy="195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Month 2</a:t>
            </a:r>
          </a:p>
        </p:txBody>
      </p:sp>
      <p:sp>
        <p:nvSpPr>
          <p:cNvPr id="31" name="Rectangle 30">
            <a:extLst>
              <a:ext uri="{FF2B5EF4-FFF2-40B4-BE49-F238E27FC236}">
                <a16:creationId xmlns:a16="http://schemas.microsoft.com/office/drawing/2014/main" id="{B2F6B4C9-84CA-7E39-ED1A-E3EB37DCA86E}"/>
              </a:ext>
            </a:extLst>
          </p:cNvPr>
          <p:cNvSpPr/>
          <p:nvPr/>
        </p:nvSpPr>
        <p:spPr>
          <a:xfrm>
            <a:off x="4395460" y="5887383"/>
            <a:ext cx="1598831" cy="195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Month 3</a:t>
            </a:r>
          </a:p>
        </p:txBody>
      </p:sp>
      <p:sp>
        <p:nvSpPr>
          <p:cNvPr id="32" name="Rectangle 31">
            <a:extLst>
              <a:ext uri="{FF2B5EF4-FFF2-40B4-BE49-F238E27FC236}">
                <a16:creationId xmlns:a16="http://schemas.microsoft.com/office/drawing/2014/main" id="{EEA019AE-5A0C-3AE8-E0B7-3AFACE0DD0EA}"/>
              </a:ext>
            </a:extLst>
          </p:cNvPr>
          <p:cNvSpPr/>
          <p:nvPr/>
        </p:nvSpPr>
        <p:spPr>
          <a:xfrm>
            <a:off x="9839789" y="5872213"/>
            <a:ext cx="1598831" cy="195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Month 6</a:t>
            </a:r>
          </a:p>
        </p:txBody>
      </p:sp>
      <p:sp>
        <p:nvSpPr>
          <p:cNvPr id="33" name="Rectangle 32">
            <a:extLst>
              <a:ext uri="{FF2B5EF4-FFF2-40B4-BE49-F238E27FC236}">
                <a16:creationId xmlns:a16="http://schemas.microsoft.com/office/drawing/2014/main" id="{B344CA96-FEAF-3579-7B47-14CCBC00DCDC}"/>
              </a:ext>
            </a:extLst>
          </p:cNvPr>
          <p:cNvSpPr/>
          <p:nvPr/>
        </p:nvSpPr>
        <p:spPr>
          <a:xfrm>
            <a:off x="6208098" y="5885847"/>
            <a:ext cx="1598831" cy="195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Month 4</a:t>
            </a:r>
          </a:p>
        </p:txBody>
      </p:sp>
      <p:sp>
        <p:nvSpPr>
          <p:cNvPr id="34" name="Rectangle 33">
            <a:extLst>
              <a:ext uri="{FF2B5EF4-FFF2-40B4-BE49-F238E27FC236}">
                <a16:creationId xmlns:a16="http://schemas.microsoft.com/office/drawing/2014/main" id="{FF9E3BEF-5AEE-42DD-E544-E8A11019C8BE}"/>
              </a:ext>
            </a:extLst>
          </p:cNvPr>
          <p:cNvSpPr/>
          <p:nvPr/>
        </p:nvSpPr>
        <p:spPr>
          <a:xfrm>
            <a:off x="8043434" y="5879432"/>
            <a:ext cx="1598831" cy="195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Month 5</a:t>
            </a:r>
          </a:p>
        </p:txBody>
      </p:sp>
      <p:cxnSp>
        <p:nvCxnSpPr>
          <p:cNvPr id="37" name="Straight Connector 36">
            <a:extLst>
              <a:ext uri="{FF2B5EF4-FFF2-40B4-BE49-F238E27FC236}">
                <a16:creationId xmlns:a16="http://schemas.microsoft.com/office/drawing/2014/main" id="{FBF00923-3822-4FF0-71F6-D96E6C68591C}"/>
              </a:ext>
            </a:extLst>
          </p:cNvPr>
          <p:cNvCxnSpPr/>
          <p:nvPr/>
        </p:nvCxnSpPr>
        <p:spPr>
          <a:xfrm flipV="1">
            <a:off x="815708" y="5502399"/>
            <a:ext cx="1491911" cy="10438"/>
          </a:xfrm>
          <a:prstGeom prst="line">
            <a:avLst/>
          </a:prstGeom>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41CEBAF3-2DAD-1203-8390-74405FA7F71C}"/>
              </a:ext>
            </a:extLst>
          </p:cNvPr>
          <p:cNvSpPr txBox="1"/>
          <p:nvPr/>
        </p:nvSpPr>
        <p:spPr>
          <a:xfrm>
            <a:off x="2231454" y="5348086"/>
            <a:ext cx="1882247" cy="253916"/>
          </a:xfrm>
          <a:prstGeom prst="rect">
            <a:avLst/>
          </a:prstGeom>
          <a:noFill/>
        </p:spPr>
        <p:txBody>
          <a:bodyPr wrap="none" rtlCol="0">
            <a:spAutoFit/>
          </a:bodyPr>
          <a:lstStyle/>
          <a:p>
            <a:r>
              <a:rPr lang="en-US" sz="1050" dirty="0"/>
              <a:t>Proponent Request Validated</a:t>
            </a:r>
          </a:p>
        </p:txBody>
      </p:sp>
      <p:cxnSp>
        <p:nvCxnSpPr>
          <p:cNvPr id="41" name="Straight Connector 40">
            <a:extLst>
              <a:ext uri="{FF2B5EF4-FFF2-40B4-BE49-F238E27FC236}">
                <a16:creationId xmlns:a16="http://schemas.microsoft.com/office/drawing/2014/main" id="{6A3A1C5F-1ED5-430E-04F0-DD8E5743D6C0}"/>
              </a:ext>
            </a:extLst>
          </p:cNvPr>
          <p:cNvCxnSpPr/>
          <p:nvPr/>
        </p:nvCxnSpPr>
        <p:spPr>
          <a:xfrm>
            <a:off x="1312989" y="5331605"/>
            <a:ext cx="1491911" cy="0"/>
          </a:xfrm>
          <a:prstGeom prst="line">
            <a:avLst/>
          </a:prstGeom>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B3F6C10B-C4E9-919D-DF6E-350B9A68E095}"/>
              </a:ext>
            </a:extLst>
          </p:cNvPr>
          <p:cNvSpPr txBox="1"/>
          <p:nvPr/>
        </p:nvSpPr>
        <p:spPr>
          <a:xfrm>
            <a:off x="2728735" y="5156416"/>
            <a:ext cx="2209259" cy="253916"/>
          </a:xfrm>
          <a:prstGeom prst="rect">
            <a:avLst/>
          </a:prstGeom>
          <a:noFill/>
        </p:spPr>
        <p:txBody>
          <a:bodyPr wrap="none" rtlCol="0">
            <a:spAutoFit/>
          </a:bodyPr>
          <a:lstStyle/>
          <a:p>
            <a:r>
              <a:rPr lang="en-US" sz="1050" dirty="0"/>
              <a:t>Proponent Develops Requirements</a:t>
            </a:r>
          </a:p>
        </p:txBody>
      </p:sp>
      <p:cxnSp>
        <p:nvCxnSpPr>
          <p:cNvPr id="10" name="Straight Connector 9">
            <a:extLst>
              <a:ext uri="{FF2B5EF4-FFF2-40B4-BE49-F238E27FC236}">
                <a16:creationId xmlns:a16="http://schemas.microsoft.com/office/drawing/2014/main" id="{BF6A57FA-F91A-DD42-FB3E-0684BC08D133}"/>
              </a:ext>
            </a:extLst>
          </p:cNvPr>
          <p:cNvCxnSpPr>
            <a:cxnSpLocks/>
          </p:cNvCxnSpPr>
          <p:nvPr/>
        </p:nvCxnSpPr>
        <p:spPr>
          <a:xfrm>
            <a:off x="2064550" y="5122837"/>
            <a:ext cx="1491911"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8ABA62E-09F4-F80F-6C60-0C325919C559}"/>
              </a:ext>
            </a:extLst>
          </p:cNvPr>
          <p:cNvSpPr txBox="1"/>
          <p:nvPr/>
        </p:nvSpPr>
        <p:spPr>
          <a:xfrm>
            <a:off x="3465792" y="4928398"/>
            <a:ext cx="2797561" cy="253916"/>
          </a:xfrm>
          <a:prstGeom prst="rect">
            <a:avLst/>
          </a:prstGeom>
          <a:noFill/>
        </p:spPr>
        <p:txBody>
          <a:bodyPr wrap="none" lIns="91440" tIns="45720" rIns="91440" bIns="45720" rtlCol="0" anchor="t">
            <a:spAutoFit/>
          </a:bodyPr>
          <a:lstStyle/>
          <a:p>
            <a:r>
              <a:rPr lang="en-US" sz="1050" dirty="0"/>
              <a:t>Strategic Basing Working Group Brief (SBWG)</a:t>
            </a:r>
          </a:p>
        </p:txBody>
      </p:sp>
      <p:sp>
        <p:nvSpPr>
          <p:cNvPr id="18" name="TextBox 17">
            <a:extLst>
              <a:ext uri="{FF2B5EF4-FFF2-40B4-BE49-F238E27FC236}">
                <a16:creationId xmlns:a16="http://schemas.microsoft.com/office/drawing/2014/main" id="{D2E1E93C-FFCD-EC96-2F68-B726E589C1C5}"/>
              </a:ext>
            </a:extLst>
          </p:cNvPr>
          <p:cNvSpPr txBox="1"/>
          <p:nvPr/>
        </p:nvSpPr>
        <p:spPr>
          <a:xfrm>
            <a:off x="317738" y="4739803"/>
            <a:ext cx="1471878" cy="253916"/>
          </a:xfrm>
          <a:prstGeom prst="rect">
            <a:avLst/>
          </a:prstGeom>
          <a:noFill/>
        </p:spPr>
        <p:txBody>
          <a:bodyPr wrap="none" lIns="91440" tIns="45720" rIns="91440" bIns="45720" rtlCol="0" anchor="t">
            <a:spAutoFit/>
          </a:bodyPr>
          <a:lstStyle/>
          <a:p>
            <a:r>
              <a:rPr lang="en-US" sz="1050" dirty="0"/>
              <a:t>SBWG Comment/RFIs</a:t>
            </a:r>
          </a:p>
        </p:txBody>
      </p:sp>
      <p:cxnSp>
        <p:nvCxnSpPr>
          <p:cNvPr id="21" name="Straight Connector 20">
            <a:extLst>
              <a:ext uri="{FF2B5EF4-FFF2-40B4-BE49-F238E27FC236}">
                <a16:creationId xmlns:a16="http://schemas.microsoft.com/office/drawing/2014/main" id="{328F0623-419B-B887-645B-0113A5B272B1}"/>
              </a:ext>
            </a:extLst>
          </p:cNvPr>
          <p:cNvCxnSpPr>
            <a:cxnSpLocks/>
          </p:cNvCxnSpPr>
          <p:nvPr/>
        </p:nvCxnSpPr>
        <p:spPr>
          <a:xfrm flipV="1">
            <a:off x="3009402" y="4841881"/>
            <a:ext cx="1226366" cy="11546"/>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5D1C253-62C5-D171-69B2-B61116141D3E}"/>
              </a:ext>
            </a:extLst>
          </p:cNvPr>
          <p:cNvSpPr txBox="1"/>
          <p:nvPr/>
        </p:nvSpPr>
        <p:spPr>
          <a:xfrm>
            <a:off x="4164348" y="4645523"/>
            <a:ext cx="2784737" cy="253916"/>
          </a:xfrm>
          <a:prstGeom prst="rect">
            <a:avLst/>
          </a:prstGeom>
          <a:noFill/>
        </p:spPr>
        <p:txBody>
          <a:bodyPr wrap="none" lIns="91440" tIns="45720" rIns="91440" bIns="45720" rtlCol="0" anchor="t">
            <a:spAutoFit/>
          </a:bodyPr>
          <a:lstStyle/>
          <a:p>
            <a:r>
              <a:rPr lang="en-US" sz="1050" dirty="0"/>
              <a:t>Basing Action Provided to Region/Installation</a:t>
            </a:r>
            <a:endParaRPr lang="en-US" sz="2800" dirty="0"/>
          </a:p>
        </p:txBody>
      </p:sp>
      <p:cxnSp>
        <p:nvCxnSpPr>
          <p:cNvPr id="44" name="Straight Connector 43">
            <a:extLst>
              <a:ext uri="{FF2B5EF4-FFF2-40B4-BE49-F238E27FC236}">
                <a16:creationId xmlns:a16="http://schemas.microsoft.com/office/drawing/2014/main" id="{C864E705-AD2A-F643-A2B4-555E7F2878D9}"/>
              </a:ext>
            </a:extLst>
          </p:cNvPr>
          <p:cNvCxnSpPr>
            <a:cxnSpLocks/>
          </p:cNvCxnSpPr>
          <p:nvPr/>
        </p:nvCxnSpPr>
        <p:spPr>
          <a:xfrm flipV="1">
            <a:off x="5678129" y="4041448"/>
            <a:ext cx="2011456" cy="1"/>
          </a:xfrm>
          <a:prstGeom prst="line">
            <a:avLst/>
          </a:prstGeom>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AC05C107-39CC-6A02-201C-F925BCAD0F67}"/>
              </a:ext>
            </a:extLst>
          </p:cNvPr>
          <p:cNvSpPr txBox="1"/>
          <p:nvPr/>
        </p:nvSpPr>
        <p:spPr>
          <a:xfrm>
            <a:off x="7618143" y="3870102"/>
            <a:ext cx="1444626" cy="253916"/>
          </a:xfrm>
          <a:prstGeom prst="rect">
            <a:avLst/>
          </a:prstGeom>
          <a:noFill/>
        </p:spPr>
        <p:txBody>
          <a:bodyPr wrap="none" lIns="91440" tIns="45720" rIns="91440" bIns="45720" rtlCol="0" anchor="t">
            <a:spAutoFit/>
          </a:bodyPr>
          <a:lstStyle/>
          <a:p>
            <a:r>
              <a:rPr lang="en-US" sz="1050" dirty="0"/>
              <a:t>Installation Response</a:t>
            </a:r>
            <a:endParaRPr lang="en-US" sz="2800" dirty="0"/>
          </a:p>
        </p:txBody>
      </p:sp>
      <p:sp>
        <p:nvSpPr>
          <p:cNvPr id="51" name="TextBox 50">
            <a:extLst>
              <a:ext uri="{FF2B5EF4-FFF2-40B4-BE49-F238E27FC236}">
                <a16:creationId xmlns:a16="http://schemas.microsoft.com/office/drawing/2014/main" id="{3214EDBB-E835-26CC-C627-B6D0092F44FB}"/>
              </a:ext>
            </a:extLst>
          </p:cNvPr>
          <p:cNvSpPr txBox="1"/>
          <p:nvPr/>
        </p:nvSpPr>
        <p:spPr>
          <a:xfrm rot="20640000">
            <a:off x="3157511" y="4266098"/>
            <a:ext cx="2273489" cy="215444"/>
          </a:xfrm>
          <a:prstGeom prst="rect">
            <a:avLst/>
          </a:prstGeom>
          <a:solidFill>
            <a:srgbClr val="FFC000"/>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dirty="0"/>
              <a:t>Installation Assessment and Endorsements</a:t>
            </a:r>
          </a:p>
        </p:txBody>
      </p:sp>
      <p:cxnSp>
        <p:nvCxnSpPr>
          <p:cNvPr id="53" name="Straight Arrow Connector 52">
            <a:extLst>
              <a:ext uri="{FF2B5EF4-FFF2-40B4-BE49-F238E27FC236}">
                <a16:creationId xmlns:a16="http://schemas.microsoft.com/office/drawing/2014/main" id="{954B0286-3FFC-FBE2-4280-3A4023389978}"/>
              </a:ext>
            </a:extLst>
          </p:cNvPr>
          <p:cNvCxnSpPr>
            <a:cxnSpLocks/>
          </p:cNvCxnSpPr>
          <p:nvPr/>
        </p:nvCxnSpPr>
        <p:spPr>
          <a:xfrm flipH="1">
            <a:off x="4840540" y="3815316"/>
            <a:ext cx="1017247" cy="13887"/>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EB7F0EAC-0653-6A86-4D88-A0EB2B0BCDF4}"/>
              </a:ext>
            </a:extLst>
          </p:cNvPr>
          <p:cNvSpPr txBox="1"/>
          <p:nvPr/>
        </p:nvSpPr>
        <p:spPr>
          <a:xfrm>
            <a:off x="2171979" y="3632352"/>
            <a:ext cx="2746265" cy="253916"/>
          </a:xfrm>
          <a:prstGeom prst="rect">
            <a:avLst/>
          </a:prstGeom>
          <a:noFill/>
        </p:spPr>
        <p:txBody>
          <a:bodyPr wrap="none" lIns="91440" tIns="45720" rIns="91440" bIns="45720" rtlCol="0" anchor="t">
            <a:spAutoFit/>
          </a:bodyPr>
          <a:lstStyle/>
          <a:p>
            <a:r>
              <a:rPr lang="en-US" sz="1050" dirty="0"/>
              <a:t>COA Coordination/Selection with Proponent</a:t>
            </a:r>
          </a:p>
        </p:txBody>
      </p:sp>
      <p:sp>
        <p:nvSpPr>
          <p:cNvPr id="56" name="Oval 55">
            <a:extLst>
              <a:ext uri="{FF2B5EF4-FFF2-40B4-BE49-F238E27FC236}">
                <a16:creationId xmlns:a16="http://schemas.microsoft.com/office/drawing/2014/main" id="{F4F4B141-1205-F637-B893-9679FCAB04D8}"/>
              </a:ext>
            </a:extLst>
          </p:cNvPr>
          <p:cNvSpPr/>
          <p:nvPr/>
        </p:nvSpPr>
        <p:spPr>
          <a:xfrm>
            <a:off x="6764723" y="3523412"/>
            <a:ext cx="266000" cy="192237"/>
          </a:xfrm>
          <a:prstGeom prst="ellips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0697B42D-D434-89C6-FFAA-06C4B8162912}"/>
              </a:ext>
            </a:extLst>
          </p:cNvPr>
          <p:cNvCxnSpPr>
            <a:cxnSpLocks/>
          </p:cNvCxnSpPr>
          <p:nvPr/>
        </p:nvCxnSpPr>
        <p:spPr>
          <a:xfrm flipV="1">
            <a:off x="7029095" y="3633472"/>
            <a:ext cx="1226366" cy="11546"/>
          </a:xfrm>
          <a:prstGeom prst="line">
            <a:avLst/>
          </a:prstGeom>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0F0287B8-FB33-7E35-D9E2-4DCF177B3A34}"/>
              </a:ext>
            </a:extLst>
          </p:cNvPr>
          <p:cNvSpPr txBox="1"/>
          <p:nvPr/>
        </p:nvSpPr>
        <p:spPr>
          <a:xfrm>
            <a:off x="8164791" y="3452499"/>
            <a:ext cx="1895071" cy="253916"/>
          </a:xfrm>
          <a:prstGeom prst="rect">
            <a:avLst/>
          </a:prstGeom>
          <a:noFill/>
        </p:spPr>
        <p:txBody>
          <a:bodyPr wrap="none" lIns="91440" tIns="45720" rIns="91440" bIns="45720" rtlCol="0" anchor="t">
            <a:spAutoFit/>
          </a:bodyPr>
          <a:lstStyle/>
          <a:p>
            <a:r>
              <a:rPr lang="en-US" sz="1050" dirty="0"/>
              <a:t>Installation </a:t>
            </a:r>
            <a:r>
              <a:rPr lang="en-US" sz="1050" dirty="0" err="1"/>
              <a:t>Outbrief</a:t>
            </a:r>
            <a:r>
              <a:rPr lang="en-US" sz="1050" dirty="0"/>
              <a:t> to SBWG</a:t>
            </a:r>
            <a:endParaRPr lang="en-US" sz="2800" dirty="0"/>
          </a:p>
        </p:txBody>
      </p:sp>
      <p:cxnSp>
        <p:nvCxnSpPr>
          <p:cNvPr id="60" name="Straight Arrow Connector 59">
            <a:extLst>
              <a:ext uri="{FF2B5EF4-FFF2-40B4-BE49-F238E27FC236}">
                <a16:creationId xmlns:a16="http://schemas.microsoft.com/office/drawing/2014/main" id="{848F0C8A-DA4E-8139-B700-5C440F7940CE}"/>
              </a:ext>
            </a:extLst>
          </p:cNvPr>
          <p:cNvCxnSpPr>
            <a:cxnSpLocks/>
          </p:cNvCxnSpPr>
          <p:nvPr/>
        </p:nvCxnSpPr>
        <p:spPr>
          <a:xfrm flipH="1">
            <a:off x="6881090" y="3001817"/>
            <a:ext cx="1189182" cy="11545"/>
          </a:xfrm>
          <a:prstGeom prst="straightConnector1">
            <a:avLst/>
          </a:prstGeom>
          <a:ln>
            <a:solidFill>
              <a:schemeClr val="bg1">
                <a:lumMod val="75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192D6D4A-888F-22F9-C1B5-626E126C337B}"/>
              </a:ext>
            </a:extLst>
          </p:cNvPr>
          <p:cNvSpPr txBox="1"/>
          <p:nvPr/>
        </p:nvSpPr>
        <p:spPr>
          <a:xfrm>
            <a:off x="2215518" y="2873230"/>
            <a:ext cx="4658648" cy="253916"/>
          </a:xfrm>
          <a:prstGeom prst="rect">
            <a:avLst/>
          </a:prstGeom>
          <a:solidFill>
            <a:schemeClr val="bg1">
              <a:lumMod val="95000"/>
            </a:schemeClr>
          </a:solidFill>
          <a:ln>
            <a:solidFill>
              <a:schemeClr val="tx1"/>
            </a:solidFill>
          </a:ln>
        </p:spPr>
        <p:txBody>
          <a:bodyPr wrap="none" lIns="91440" tIns="45720" rIns="91440" bIns="45720" rtlCol="0" anchor="t">
            <a:spAutoFit/>
          </a:bodyPr>
          <a:lstStyle/>
          <a:p>
            <a:r>
              <a:rPr lang="en-US" sz="1050" dirty="0">
                <a:solidFill>
                  <a:srgbClr val="000000"/>
                </a:solidFill>
              </a:rPr>
              <a:t>Final assessment, COA selection, and staffing approval timeline is adjustable</a:t>
            </a:r>
            <a:endParaRPr lang="en-US" sz="2800" dirty="0" err="1">
              <a:solidFill>
                <a:srgbClr val="000000"/>
              </a:solidFill>
            </a:endParaRPr>
          </a:p>
        </p:txBody>
      </p:sp>
      <p:cxnSp>
        <p:nvCxnSpPr>
          <p:cNvPr id="63" name="Straight Connector 62">
            <a:extLst>
              <a:ext uri="{FF2B5EF4-FFF2-40B4-BE49-F238E27FC236}">
                <a16:creationId xmlns:a16="http://schemas.microsoft.com/office/drawing/2014/main" id="{385B7CFA-9232-7254-AE9C-B9762CAB6DDD}"/>
              </a:ext>
            </a:extLst>
          </p:cNvPr>
          <p:cNvCxnSpPr>
            <a:cxnSpLocks/>
          </p:cNvCxnSpPr>
          <p:nvPr/>
        </p:nvCxnSpPr>
        <p:spPr>
          <a:xfrm flipV="1">
            <a:off x="7814185" y="3391017"/>
            <a:ext cx="1226366" cy="11546"/>
          </a:xfrm>
          <a:prstGeom prst="line">
            <a:avLst/>
          </a:prstGeom>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C7D7694A-BC6A-AE3A-50BF-1C94F0A5D8E4}"/>
              </a:ext>
            </a:extLst>
          </p:cNvPr>
          <p:cNvSpPr txBox="1"/>
          <p:nvPr/>
        </p:nvSpPr>
        <p:spPr>
          <a:xfrm>
            <a:off x="8949881" y="3229294"/>
            <a:ext cx="2513830" cy="253916"/>
          </a:xfrm>
          <a:prstGeom prst="rect">
            <a:avLst/>
          </a:prstGeom>
          <a:noFill/>
        </p:spPr>
        <p:txBody>
          <a:bodyPr wrap="none" lIns="91440" tIns="45720" rIns="91440" bIns="45720" rtlCol="0" anchor="t">
            <a:spAutoFit/>
          </a:bodyPr>
          <a:lstStyle/>
          <a:p>
            <a:r>
              <a:rPr lang="en-US" sz="1050" dirty="0"/>
              <a:t>COMMCICOM Review and Endorsement</a:t>
            </a:r>
          </a:p>
        </p:txBody>
      </p:sp>
      <p:cxnSp>
        <p:nvCxnSpPr>
          <p:cNvPr id="68" name="Straight Connector 67">
            <a:extLst>
              <a:ext uri="{FF2B5EF4-FFF2-40B4-BE49-F238E27FC236}">
                <a16:creationId xmlns:a16="http://schemas.microsoft.com/office/drawing/2014/main" id="{52DEC463-4464-0A4B-E423-B09D8012CA14}"/>
              </a:ext>
            </a:extLst>
          </p:cNvPr>
          <p:cNvCxnSpPr>
            <a:cxnSpLocks/>
          </p:cNvCxnSpPr>
          <p:nvPr/>
        </p:nvCxnSpPr>
        <p:spPr>
          <a:xfrm flipV="1">
            <a:off x="8610821" y="3160107"/>
            <a:ext cx="1226366" cy="11546"/>
          </a:xfrm>
          <a:prstGeom prst="line">
            <a:avLst/>
          </a:prstGeom>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82E402ED-E939-68E7-940C-1A9395520D6C}"/>
              </a:ext>
            </a:extLst>
          </p:cNvPr>
          <p:cNvSpPr txBox="1"/>
          <p:nvPr/>
        </p:nvSpPr>
        <p:spPr>
          <a:xfrm>
            <a:off x="9756142" y="3008009"/>
            <a:ext cx="1659429" cy="253916"/>
          </a:xfrm>
          <a:prstGeom prst="rect">
            <a:avLst/>
          </a:prstGeom>
          <a:noFill/>
        </p:spPr>
        <p:txBody>
          <a:bodyPr wrap="none" lIns="91440" tIns="45720" rIns="91440" bIns="45720" rtlCol="0" anchor="t">
            <a:spAutoFit/>
          </a:bodyPr>
          <a:lstStyle/>
          <a:p>
            <a:r>
              <a:rPr lang="en-US" sz="1050" dirty="0"/>
              <a:t>DC I&amp;L Decision or higher</a:t>
            </a:r>
          </a:p>
        </p:txBody>
      </p:sp>
      <p:sp>
        <p:nvSpPr>
          <p:cNvPr id="70" name="Flowchart: Decision 69">
            <a:extLst>
              <a:ext uri="{FF2B5EF4-FFF2-40B4-BE49-F238E27FC236}">
                <a16:creationId xmlns:a16="http://schemas.microsoft.com/office/drawing/2014/main" id="{8FC267F6-695F-B705-BEC2-29C25009CCCB}"/>
              </a:ext>
            </a:extLst>
          </p:cNvPr>
          <p:cNvSpPr/>
          <p:nvPr/>
        </p:nvSpPr>
        <p:spPr>
          <a:xfrm>
            <a:off x="8255461" y="3001303"/>
            <a:ext cx="357447" cy="300717"/>
          </a:xfrm>
          <a:prstGeom prst="flowChartDecision">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36E67E2F-BCCF-739F-FD0B-0E8B9BCC4F20}"/>
              </a:ext>
            </a:extLst>
          </p:cNvPr>
          <p:cNvSpPr txBox="1"/>
          <p:nvPr/>
        </p:nvSpPr>
        <p:spPr>
          <a:xfrm>
            <a:off x="10641302" y="4555121"/>
            <a:ext cx="757988" cy="830997"/>
          </a:xfrm>
          <a:prstGeom prst="rect">
            <a:avLst/>
          </a:prstGeom>
          <a:noFill/>
          <a:ln>
            <a:solidFill>
              <a:schemeClr val="tx1"/>
            </a:solidFill>
          </a:ln>
        </p:spPr>
        <p:txBody>
          <a:bodyPr wrap="square" lIns="91440" tIns="45720" rIns="91440" bIns="45720" rtlCol="0" anchor="t">
            <a:spAutoFit/>
          </a:bodyPr>
          <a:lstStyle/>
          <a:p>
            <a:r>
              <a:rPr lang="en-US" sz="800" dirty="0">
                <a:solidFill>
                  <a:srgbClr val="000000"/>
                </a:solidFill>
              </a:rPr>
              <a:t>Key:</a:t>
            </a:r>
          </a:p>
          <a:p>
            <a:endParaRPr lang="en-US" sz="800" dirty="0">
              <a:solidFill>
                <a:srgbClr val="000000"/>
              </a:solidFill>
            </a:endParaRPr>
          </a:p>
          <a:p>
            <a:r>
              <a:rPr lang="en-US" sz="800" dirty="0">
                <a:solidFill>
                  <a:srgbClr val="000000"/>
                </a:solidFill>
              </a:rPr>
              <a:t>         Decision</a:t>
            </a:r>
          </a:p>
          <a:p>
            <a:endParaRPr lang="en-US" sz="800" dirty="0">
              <a:solidFill>
                <a:srgbClr val="000000"/>
              </a:solidFill>
            </a:endParaRPr>
          </a:p>
          <a:p>
            <a:r>
              <a:rPr lang="en-US" sz="800" dirty="0">
                <a:solidFill>
                  <a:srgbClr val="000000"/>
                </a:solidFill>
              </a:rPr>
              <a:t>         Action</a:t>
            </a:r>
          </a:p>
          <a:p>
            <a:endParaRPr lang="en-US" sz="800" dirty="0">
              <a:solidFill>
                <a:srgbClr val="000000"/>
              </a:solidFill>
            </a:endParaRPr>
          </a:p>
        </p:txBody>
      </p:sp>
      <p:sp>
        <p:nvSpPr>
          <p:cNvPr id="71" name="Flowchart: Decision 70">
            <a:extLst>
              <a:ext uri="{FF2B5EF4-FFF2-40B4-BE49-F238E27FC236}">
                <a16:creationId xmlns:a16="http://schemas.microsoft.com/office/drawing/2014/main" id="{3AC881EB-3A77-F3B0-93D9-8BC3CB301399}"/>
              </a:ext>
            </a:extLst>
          </p:cNvPr>
          <p:cNvSpPr/>
          <p:nvPr/>
        </p:nvSpPr>
        <p:spPr>
          <a:xfrm>
            <a:off x="10702635" y="4779818"/>
            <a:ext cx="184727" cy="161636"/>
          </a:xfrm>
          <a:prstGeom prst="flowChartDecis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sp>
        <p:nvSpPr>
          <p:cNvPr id="72" name="Oval 71">
            <a:extLst>
              <a:ext uri="{FF2B5EF4-FFF2-40B4-BE49-F238E27FC236}">
                <a16:creationId xmlns:a16="http://schemas.microsoft.com/office/drawing/2014/main" id="{8B46DF9C-AD04-998F-0615-D972FCE79677}"/>
              </a:ext>
            </a:extLst>
          </p:cNvPr>
          <p:cNvSpPr/>
          <p:nvPr/>
        </p:nvSpPr>
        <p:spPr>
          <a:xfrm>
            <a:off x="10703007" y="5025998"/>
            <a:ext cx="187737" cy="184775"/>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sp>
        <p:nvSpPr>
          <p:cNvPr id="46" name="object 6">
            <a:extLst>
              <a:ext uri="{FF2B5EF4-FFF2-40B4-BE49-F238E27FC236}">
                <a16:creationId xmlns:a16="http://schemas.microsoft.com/office/drawing/2014/main" id="{81732EFD-0452-EA59-DEB3-5C4B5C2F4A82}"/>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49" name="TextBox 48">
            <a:extLst>
              <a:ext uri="{FF2B5EF4-FFF2-40B4-BE49-F238E27FC236}">
                <a16:creationId xmlns:a16="http://schemas.microsoft.com/office/drawing/2014/main" id="{674144F9-F4B7-AE16-EAB8-6E55ABC312CB}"/>
              </a:ext>
            </a:extLst>
          </p:cNvPr>
          <p:cNvSpPr txBox="1"/>
          <p:nvPr/>
        </p:nvSpPr>
        <p:spPr>
          <a:xfrm>
            <a:off x="2320054" y="1027759"/>
            <a:ext cx="6879282" cy="82330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dirty="0"/>
              <a:t>Notes:  </a:t>
            </a:r>
          </a:p>
          <a:p>
            <a:r>
              <a:rPr lang="en-US" sz="950" dirty="0"/>
              <a:t>(1) NEPA is assessed throughout basing process.</a:t>
            </a:r>
          </a:p>
          <a:p>
            <a:r>
              <a:rPr lang="en-US" sz="950" dirty="0"/>
              <a:t>(2) Timelines are flexible based on action complexity and interdependencies.</a:t>
            </a:r>
          </a:p>
          <a:p>
            <a:r>
              <a:rPr lang="en-US" sz="950" dirty="0"/>
              <a:t>(3) Congressional reporting, Host Nation Notifications, or Overseas Force Structure Change may be required.</a:t>
            </a:r>
          </a:p>
          <a:p>
            <a:endParaRPr lang="en-US" sz="1000" dirty="0"/>
          </a:p>
        </p:txBody>
      </p:sp>
      <p:sp>
        <p:nvSpPr>
          <p:cNvPr id="14" name="object 5">
            <a:extLst>
              <a:ext uri="{FF2B5EF4-FFF2-40B4-BE49-F238E27FC236}">
                <a16:creationId xmlns:a16="http://schemas.microsoft.com/office/drawing/2014/main" id="{5AB1E7E2-2B04-3165-F6D5-73EA7571FE9A}"/>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
        <p:nvSpPr>
          <p:cNvPr id="16" name="Flowchart: Decision 15">
            <a:extLst>
              <a:ext uri="{FF2B5EF4-FFF2-40B4-BE49-F238E27FC236}">
                <a16:creationId xmlns:a16="http://schemas.microsoft.com/office/drawing/2014/main" id="{3AF8D6E8-8AF3-82DD-2CA5-EA3136531F0A}"/>
              </a:ext>
            </a:extLst>
          </p:cNvPr>
          <p:cNvSpPr/>
          <p:nvPr/>
        </p:nvSpPr>
        <p:spPr>
          <a:xfrm>
            <a:off x="7475681" y="3219486"/>
            <a:ext cx="357447" cy="300717"/>
          </a:xfrm>
          <a:prstGeom prst="flowChartDecision">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ecision 16">
            <a:extLst>
              <a:ext uri="{FF2B5EF4-FFF2-40B4-BE49-F238E27FC236}">
                <a16:creationId xmlns:a16="http://schemas.microsoft.com/office/drawing/2014/main" id="{46FAC7F8-CFEE-B62C-DD7D-C718DECE3AD0}"/>
              </a:ext>
            </a:extLst>
          </p:cNvPr>
          <p:cNvSpPr/>
          <p:nvPr/>
        </p:nvSpPr>
        <p:spPr>
          <a:xfrm>
            <a:off x="561379" y="5327286"/>
            <a:ext cx="357447" cy="300717"/>
          </a:xfrm>
          <a:prstGeom prst="flowChartDecisio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Decision 34">
            <a:extLst>
              <a:ext uri="{FF2B5EF4-FFF2-40B4-BE49-F238E27FC236}">
                <a16:creationId xmlns:a16="http://schemas.microsoft.com/office/drawing/2014/main" id="{DE3E6F93-DD25-750A-AF3C-78C4BD134678}"/>
              </a:ext>
            </a:extLst>
          </p:cNvPr>
          <p:cNvSpPr/>
          <p:nvPr/>
        </p:nvSpPr>
        <p:spPr>
          <a:xfrm>
            <a:off x="5861587" y="3730864"/>
            <a:ext cx="357447" cy="300717"/>
          </a:xfrm>
          <a:prstGeom prst="flowChartDecisi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4308B9CC-355E-1FED-11B2-8C4CA54A7279}"/>
              </a:ext>
            </a:extLst>
          </p:cNvPr>
          <p:cNvSpPr/>
          <p:nvPr/>
        </p:nvSpPr>
        <p:spPr>
          <a:xfrm>
            <a:off x="5491522" y="3907185"/>
            <a:ext cx="266000" cy="19223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9D23D34-1DBB-E84F-2287-68E48E050D93}"/>
              </a:ext>
            </a:extLst>
          </p:cNvPr>
          <p:cNvSpPr/>
          <p:nvPr/>
        </p:nvSpPr>
        <p:spPr>
          <a:xfrm>
            <a:off x="2739602" y="4722653"/>
            <a:ext cx="266000" cy="19223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6A274E87-B800-1219-B8D0-CF29502B71F8}"/>
              </a:ext>
            </a:extLst>
          </p:cNvPr>
          <p:cNvSpPr/>
          <p:nvPr/>
        </p:nvSpPr>
        <p:spPr>
          <a:xfrm>
            <a:off x="2354849" y="4827466"/>
            <a:ext cx="266000" cy="19223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1D5A4073-D065-F601-4B2F-2E796F934A16}"/>
              </a:ext>
            </a:extLst>
          </p:cNvPr>
          <p:cNvCxnSpPr>
            <a:cxnSpLocks/>
          </p:cNvCxnSpPr>
          <p:nvPr/>
        </p:nvCxnSpPr>
        <p:spPr>
          <a:xfrm>
            <a:off x="1693366" y="4924511"/>
            <a:ext cx="661483" cy="8699"/>
          </a:xfrm>
          <a:prstGeom prst="line">
            <a:avLst/>
          </a:prstGeom>
        </p:spPr>
        <p:style>
          <a:lnRef idx="2">
            <a:schemeClr val="accent1"/>
          </a:lnRef>
          <a:fillRef idx="0">
            <a:schemeClr val="accent1"/>
          </a:fillRef>
          <a:effectRef idx="1">
            <a:schemeClr val="accent1"/>
          </a:effectRef>
          <a:fontRef idx="minor">
            <a:schemeClr val="tx1"/>
          </a:fontRef>
        </p:style>
      </p:cxnSp>
      <p:sp>
        <p:nvSpPr>
          <p:cNvPr id="75" name="Oval 74">
            <a:extLst>
              <a:ext uri="{FF2B5EF4-FFF2-40B4-BE49-F238E27FC236}">
                <a16:creationId xmlns:a16="http://schemas.microsoft.com/office/drawing/2014/main" id="{95B58701-7381-9C23-A0FD-E922B41A27C9}"/>
              </a:ext>
            </a:extLst>
          </p:cNvPr>
          <p:cNvSpPr/>
          <p:nvPr/>
        </p:nvSpPr>
        <p:spPr>
          <a:xfrm>
            <a:off x="1784940" y="4999300"/>
            <a:ext cx="266000" cy="19223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572965B2-F520-DCDC-E40B-0A06725F9253}"/>
              </a:ext>
            </a:extLst>
          </p:cNvPr>
          <p:cNvSpPr/>
          <p:nvPr/>
        </p:nvSpPr>
        <p:spPr>
          <a:xfrm>
            <a:off x="1150107" y="5201577"/>
            <a:ext cx="266000" cy="19223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473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0F5C32-3FC0-64AF-2A40-296B41748FE0}"/>
              </a:ext>
            </a:extLst>
          </p:cNvPr>
          <p:cNvSpPr>
            <a:spLocks noGrp="1"/>
          </p:cNvSpPr>
          <p:nvPr>
            <p:ph type="title"/>
          </p:nvPr>
        </p:nvSpPr>
        <p:spPr>
          <a:xfrm>
            <a:off x="2412492" y="343693"/>
            <a:ext cx="8724900" cy="639287"/>
          </a:xfrm>
        </p:spPr>
        <p:txBody>
          <a:bodyPr>
            <a:noAutofit/>
          </a:bodyPr>
          <a:lstStyle/>
          <a:p>
            <a:pPr algn="r"/>
            <a:r>
              <a:rPr lang="en-US" sz="3200" dirty="0">
                <a:latin typeface="Calibri Light" panose="020F0302020204030204" pitchFamily="34" charset="0"/>
                <a:ea typeface="Calibri Light" panose="020F0302020204030204" pitchFamily="34" charset="0"/>
                <a:cs typeface="Calibri Light" panose="020F0302020204030204" pitchFamily="34" charset="0"/>
              </a:rPr>
              <a:t>Assessment Process</a:t>
            </a:r>
          </a:p>
        </p:txBody>
      </p:sp>
      <p:sp>
        <p:nvSpPr>
          <p:cNvPr id="5" name="Content Placeholder 4">
            <a:extLst>
              <a:ext uri="{FF2B5EF4-FFF2-40B4-BE49-F238E27FC236}">
                <a16:creationId xmlns:a16="http://schemas.microsoft.com/office/drawing/2014/main" id="{C3822E7D-2E7D-000E-98CE-B6813A1B59E1}"/>
              </a:ext>
            </a:extLst>
          </p:cNvPr>
          <p:cNvSpPr>
            <a:spLocks noGrp="1"/>
          </p:cNvSpPr>
          <p:nvPr>
            <p:ph idx="4294967295"/>
          </p:nvPr>
        </p:nvSpPr>
        <p:spPr>
          <a:xfrm>
            <a:off x="838200" y="1825625"/>
            <a:ext cx="10515600" cy="4351338"/>
          </a:xfrm>
        </p:spPr>
        <p:txBody>
          <a:bodyPr vert="horz" lIns="91440" tIns="45720" rIns="91440" bIns="45720" rtlCol="0" anchor="t">
            <a:normAutofit lnSpcReduction="10000"/>
          </a:bodyPr>
          <a:lstStyle/>
          <a:p>
            <a:pPr marL="0" indent="0">
              <a:buNone/>
            </a:pPr>
            <a:r>
              <a:rPr lang="en-US" dirty="0">
                <a:latin typeface="Calibri Light"/>
                <a:ea typeface="Calibri Light"/>
                <a:cs typeface="Calibri Light"/>
              </a:rPr>
              <a:t>Purpose – Installation Assessment</a:t>
            </a:r>
          </a:p>
          <a:p>
            <a:pPr lvl="1"/>
            <a:r>
              <a:rPr lang="en-US" sz="2000" dirty="0">
                <a:latin typeface="Calibri Light"/>
                <a:ea typeface="Calibri Light"/>
                <a:cs typeface="Calibri Light"/>
              </a:rPr>
              <a:t>To provide leadership COAs to support 3rd MLG, 3rd Medical Battalion, Surgical Company B relocation from MCB Hawaii to MCB Butler.</a:t>
            </a:r>
            <a:endParaRPr lang="en-US" sz="2400" dirty="0">
              <a:latin typeface="Calibri Light"/>
              <a:ea typeface="Calibri Light"/>
              <a:cs typeface="Calibri Light"/>
            </a:endParaRPr>
          </a:p>
          <a:p>
            <a:pPr marL="0" indent="0">
              <a:buNone/>
            </a:pPr>
            <a:r>
              <a:rPr lang="en-US" dirty="0">
                <a:latin typeface="Calibri Light"/>
                <a:ea typeface="Calibri Light"/>
                <a:cs typeface="Calibri Light"/>
              </a:rPr>
              <a:t>Strategic Narrative</a:t>
            </a:r>
          </a:p>
          <a:p>
            <a:pPr lvl="1"/>
            <a:r>
              <a:rPr lang="en-US" sz="2000" dirty="0">
                <a:latin typeface="Calibri Light"/>
                <a:ea typeface="Calibri Light"/>
                <a:cs typeface="Calibri Light"/>
              </a:rPr>
              <a:t>Facility Planner explored facility options for short-, mid-, and long-range solutions.  The one short-term COA, which is recommended, recommends 3rd MLG consolidate functions in existing surplus facilities and re-absorb Surg Co B. Doing so would bring Role II capacities to the FIC. However, mid- to long-term solutions are currently unsupportable due to significant deficiency in programmed resources. DPRI Program of Record and OKICON re-development efforts do not account for the entirety of 3rd MLG subordinate Battalions to remain on Okinawa. </a:t>
            </a:r>
            <a:endParaRPr lang="en-US" sz="2400" dirty="0">
              <a:latin typeface="Calibri Light"/>
              <a:ea typeface="Calibri Light"/>
              <a:cs typeface="Calibri Light"/>
            </a:endParaRPr>
          </a:p>
          <a:p>
            <a:pPr marL="0" indent="0">
              <a:buNone/>
            </a:pPr>
            <a:r>
              <a:rPr lang="en-US" dirty="0">
                <a:latin typeface="Calibri Light"/>
                <a:ea typeface="Calibri Light"/>
                <a:cs typeface="Calibri Light"/>
              </a:rPr>
              <a:t>Impacts</a:t>
            </a:r>
          </a:p>
          <a:p>
            <a:pPr lvl="1"/>
            <a:r>
              <a:rPr lang="en-US" sz="2000" dirty="0">
                <a:latin typeface="Calibri Light"/>
                <a:ea typeface="Calibri Light"/>
                <a:cs typeface="Calibri Light"/>
              </a:rPr>
              <a:t>3rd MLG armory space is deficient and will require immediate unit funded procurement of portable armories (e.g. ARMAG).</a:t>
            </a:r>
          </a:p>
          <a:p>
            <a:pPr marL="457200" lvl="1" indent="0">
              <a:buNone/>
            </a:pPr>
            <a:endParaRPr lang="en-US" sz="2000" i="1" dirty="0">
              <a:latin typeface="Calibri Light"/>
              <a:ea typeface="Calibri Light"/>
              <a:cs typeface="Calibri Light"/>
            </a:endParaRPr>
          </a:p>
          <a:p>
            <a:pPr lvl="1"/>
            <a:endParaRPr lang="en-US" sz="2000" i="1" dirty="0">
              <a:latin typeface="Calibri Light"/>
              <a:ea typeface="Calibri Light"/>
              <a:cs typeface="Calibri Light"/>
            </a:endParaRPr>
          </a:p>
          <a:p>
            <a:pPr marL="0" indent="0">
              <a:buNone/>
            </a:pPr>
            <a:endParaRPr lang="en-US" sz="2400" dirty="0">
              <a:latin typeface="Calibri Light"/>
              <a:ea typeface="Calibri Light"/>
              <a:cs typeface="Calibri Light"/>
            </a:endParaRPr>
          </a:p>
        </p:txBody>
      </p:sp>
      <p:sp>
        <p:nvSpPr>
          <p:cNvPr id="9" name="Slide Number Placeholder 8">
            <a:extLst>
              <a:ext uri="{FF2B5EF4-FFF2-40B4-BE49-F238E27FC236}">
                <a16:creationId xmlns:a16="http://schemas.microsoft.com/office/drawing/2014/main" id="{708565B9-8FFA-E9F3-547A-C7CFF5F5AF5C}"/>
              </a:ext>
            </a:extLst>
          </p:cNvPr>
          <p:cNvSpPr>
            <a:spLocks noGrp="1"/>
          </p:cNvSpPr>
          <p:nvPr>
            <p:ph type="sldNum" sz="quarter" idx="12"/>
          </p:nvPr>
        </p:nvSpPr>
        <p:spPr/>
        <p:txBody>
          <a:bodyPr/>
          <a:lstStyle/>
          <a:p>
            <a:fld id="{683BFD01-D97D-47BB-8E39-D4B87178CFC1}" type="slidenum">
              <a:rPr lang="en-US" smtClean="0"/>
              <a:t>3</a:t>
            </a:fld>
            <a:endParaRPr lang="en-US"/>
          </a:p>
        </p:txBody>
      </p:sp>
      <p:sp>
        <p:nvSpPr>
          <p:cNvPr id="3" name="object 6">
            <a:extLst>
              <a:ext uri="{FF2B5EF4-FFF2-40B4-BE49-F238E27FC236}">
                <a16:creationId xmlns:a16="http://schemas.microsoft.com/office/drawing/2014/main" id="{AC33B543-9D78-2096-2338-F32F772423D3}"/>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6" name="object 5">
            <a:extLst>
              <a:ext uri="{FF2B5EF4-FFF2-40B4-BE49-F238E27FC236}">
                <a16:creationId xmlns:a16="http://schemas.microsoft.com/office/drawing/2014/main" id="{597B189B-B24D-6A9B-7241-DB90B2D2BAB0}"/>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3212179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770F3-248F-6F5E-D987-BBAA85AB47D6}"/>
              </a:ext>
            </a:extLst>
          </p:cNvPr>
          <p:cNvSpPr>
            <a:spLocks noGrp="1"/>
          </p:cNvSpPr>
          <p:nvPr>
            <p:ph type="title"/>
          </p:nvPr>
        </p:nvSpPr>
        <p:spPr/>
        <p:txBody>
          <a:bodyPr/>
          <a:lstStyle/>
          <a:p>
            <a:r>
              <a:rPr lang="en-US" dirty="0"/>
              <a:t>Installation Planning</a:t>
            </a:r>
          </a:p>
        </p:txBody>
      </p:sp>
      <p:sp>
        <p:nvSpPr>
          <p:cNvPr id="4" name="Content Placeholder 3">
            <a:extLst>
              <a:ext uri="{FF2B5EF4-FFF2-40B4-BE49-F238E27FC236}">
                <a16:creationId xmlns:a16="http://schemas.microsoft.com/office/drawing/2014/main" id="{085D26B2-9BEB-FFE2-C036-5AB86F7BCDA0}"/>
              </a:ext>
            </a:extLst>
          </p:cNvPr>
          <p:cNvSpPr>
            <a:spLocks noGrp="1"/>
          </p:cNvSpPr>
          <p:nvPr>
            <p:ph idx="1"/>
          </p:nvPr>
        </p:nvSpPr>
        <p:spPr/>
        <p:txBody>
          <a:bodyPr>
            <a:normAutofit fontScale="77500" lnSpcReduction="20000"/>
          </a:bodyPr>
          <a:lstStyle/>
          <a:p>
            <a:pPr marL="0" indent="0">
              <a:buNone/>
            </a:pPr>
            <a:r>
              <a:rPr lang="en-US" dirty="0"/>
              <a:t>Assumptions</a:t>
            </a:r>
          </a:p>
          <a:p>
            <a:pPr lvl="1"/>
            <a:r>
              <a:rPr lang="en-US" dirty="0"/>
              <a:t>No formal Basic Facilities Requirements (BFR) documented for SURG CO B on Camp Foster. Facility Planning factors were generated from existing SURG CO B Hawaii BFR, existing SURG CO A Camp Foster BFR, and TO/TE data.</a:t>
            </a:r>
          </a:p>
          <a:p>
            <a:pPr lvl="1"/>
            <a:r>
              <a:rPr lang="en-US" dirty="0"/>
              <a:t>Other current 3D MLG units (3D MED BN, CLR 3, 3D LSB, 3D SUP BN, &amp; MLG HQs) utilizing facilities aboard Camp Foster were also assessed.</a:t>
            </a:r>
          </a:p>
          <a:p>
            <a:pPr lvl="1"/>
            <a:r>
              <a:rPr lang="en-US" dirty="0"/>
              <a:t>BFR calculations can typically be considered ideal ‘not to exceed’ targets. If facility utilization satisfies at least a significant portion of stated BFR requirements the general space assessment is considered ‘adequate’ for the planned unit/function.</a:t>
            </a:r>
          </a:p>
          <a:p>
            <a:pPr lvl="1"/>
            <a:r>
              <a:rPr lang="en-US" dirty="0"/>
              <a:t>A future assessment will determine mid- to long-range requirements and Master Plan revision.</a:t>
            </a:r>
          </a:p>
          <a:p>
            <a:pPr lvl="1"/>
            <a:r>
              <a:rPr lang="en-US" dirty="0"/>
              <a:t>SURG CO B target relocation aboard Camp Foster starts Q1 FY28.</a:t>
            </a:r>
          </a:p>
          <a:p>
            <a:pPr marL="0" indent="0">
              <a:buNone/>
            </a:pPr>
            <a:r>
              <a:rPr lang="en-US" dirty="0"/>
              <a:t>Constraints</a:t>
            </a:r>
          </a:p>
          <a:p>
            <a:pPr lvl="1"/>
            <a:r>
              <a:rPr lang="en-US" dirty="0"/>
              <a:t>Funding shortfalls and significant project backlog limits GF construction support in the target timeline.</a:t>
            </a:r>
          </a:p>
          <a:p>
            <a:pPr lvl="1"/>
            <a:r>
              <a:rPr lang="en-US" dirty="0"/>
              <a:t>MCB Butler has a current shortfall of critical swing space (vacant facilities).</a:t>
            </a:r>
          </a:p>
          <a:p>
            <a:pPr marL="0" indent="0">
              <a:buNone/>
            </a:pPr>
            <a:r>
              <a:rPr lang="en-US" dirty="0"/>
              <a:t>Restraints</a:t>
            </a:r>
          </a:p>
          <a:p>
            <a:pPr lvl="1"/>
            <a:r>
              <a:rPr lang="en-US" dirty="0"/>
              <a:t>No user/unit facility movements shall be completed without MCB Butler notification/approval.</a:t>
            </a:r>
          </a:p>
        </p:txBody>
      </p:sp>
      <p:sp>
        <p:nvSpPr>
          <p:cNvPr id="3" name="Slide Number Placeholder 2">
            <a:extLst>
              <a:ext uri="{FF2B5EF4-FFF2-40B4-BE49-F238E27FC236}">
                <a16:creationId xmlns:a16="http://schemas.microsoft.com/office/drawing/2014/main" id="{1A0F6D81-761F-3AA2-3CDF-8AD219A40F9E}"/>
              </a:ext>
            </a:extLst>
          </p:cNvPr>
          <p:cNvSpPr>
            <a:spLocks noGrp="1"/>
          </p:cNvSpPr>
          <p:nvPr>
            <p:ph type="sldNum" sz="quarter" idx="12"/>
          </p:nvPr>
        </p:nvSpPr>
        <p:spPr/>
        <p:txBody>
          <a:bodyPr/>
          <a:lstStyle/>
          <a:p>
            <a:fld id="{683BFD01-D97D-47BB-8E39-D4B87178CFC1}" type="slidenum">
              <a:rPr lang="en-US" smtClean="0"/>
              <a:t>4</a:t>
            </a:fld>
            <a:endParaRPr lang="en-US"/>
          </a:p>
        </p:txBody>
      </p:sp>
      <p:sp>
        <p:nvSpPr>
          <p:cNvPr id="6" name="object 6">
            <a:extLst>
              <a:ext uri="{FF2B5EF4-FFF2-40B4-BE49-F238E27FC236}">
                <a16:creationId xmlns:a16="http://schemas.microsoft.com/office/drawing/2014/main" id="{4304221E-CDD6-C37D-CBDA-49AF51649958}"/>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dirty="0">
              <a:latin typeface="Calibri"/>
              <a:cs typeface="Calibri"/>
            </a:endParaRPr>
          </a:p>
        </p:txBody>
      </p:sp>
      <p:sp>
        <p:nvSpPr>
          <p:cNvPr id="7" name="object 5">
            <a:extLst>
              <a:ext uri="{FF2B5EF4-FFF2-40B4-BE49-F238E27FC236}">
                <a16:creationId xmlns:a16="http://schemas.microsoft.com/office/drawing/2014/main" id="{DAAEA362-4381-ED26-6524-80A1F359966A}"/>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1824653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65E488-D228-5928-76FE-D0B400D8E83F}"/>
              </a:ext>
            </a:extLst>
          </p:cNvPr>
          <p:cNvSpPr>
            <a:spLocks noGrp="1"/>
          </p:cNvSpPr>
          <p:nvPr>
            <p:ph type="title"/>
          </p:nvPr>
        </p:nvSpPr>
        <p:spPr>
          <a:xfrm>
            <a:off x="2412492" y="365126"/>
            <a:ext cx="8724899" cy="614236"/>
          </a:xfrm>
        </p:spPr>
        <p:txBody>
          <a:bodyPr>
            <a:normAutofit/>
          </a:bodyPr>
          <a:lstStyle/>
          <a:p>
            <a:pPr algn="r"/>
            <a:r>
              <a:rPr lang="en-US" sz="3200" dirty="0">
                <a:latin typeface="Calibri Light" panose="020F0302020204030204" pitchFamily="34" charset="0"/>
                <a:ea typeface="Calibri Light" panose="020F0302020204030204" pitchFamily="34" charset="0"/>
                <a:cs typeface="Calibri Light" panose="020F0302020204030204" pitchFamily="34" charset="0"/>
              </a:rPr>
              <a:t>Functional Requirements </a:t>
            </a:r>
            <a:r>
              <a:rPr lang="en-US" dirty="0"/>
              <a:t>Assessment</a:t>
            </a:r>
            <a:endParaRPr lang="en-US" sz="3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Content Placeholder 4">
            <a:extLst>
              <a:ext uri="{FF2B5EF4-FFF2-40B4-BE49-F238E27FC236}">
                <a16:creationId xmlns:a16="http://schemas.microsoft.com/office/drawing/2014/main" id="{7C93003A-8FC5-0C0E-C63C-07D760348794}"/>
              </a:ext>
            </a:extLst>
          </p:cNvPr>
          <p:cNvSpPr>
            <a:spLocks noGrp="1"/>
          </p:cNvSpPr>
          <p:nvPr>
            <p:ph sz="half" idx="1"/>
          </p:nvPr>
        </p:nvSpPr>
        <p:spPr>
          <a:xfrm>
            <a:off x="1026032" y="1078022"/>
            <a:ext cx="4993768" cy="2444821"/>
          </a:xfrm>
        </p:spPr>
        <p:txBody>
          <a:bodyPr>
            <a:normAutofit/>
          </a:bodyPr>
          <a:lstStyle/>
          <a:p>
            <a:pPr marL="0" indent="0" algn="ctr">
              <a:buNone/>
            </a:pPr>
            <a:r>
              <a:rPr lang="en-US" sz="1400" spc="-10" dirty="0">
                <a:latin typeface="Calibri"/>
                <a:cs typeface="Calibri"/>
              </a:rPr>
              <a:t>                           Armory/Weapon Storage Assessment:</a:t>
            </a:r>
          </a:p>
          <a:p>
            <a:pPr marL="0" indent="0">
              <a:buNone/>
            </a:pPr>
            <a:endParaRPr lang="en-US" sz="1400" dirty="0">
              <a:latin typeface="Calibri"/>
              <a:cs typeface="Calibri"/>
            </a:endParaRPr>
          </a:p>
          <a:p>
            <a:r>
              <a:rPr lang="en-US" sz="1400" dirty="0">
                <a:latin typeface="Calibri"/>
                <a:cs typeface="Calibri"/>
              </a:rPr>
              <a:t>SURG CO B Requirement: 944 SF</a:t>
            </a:r>
          </a:p>
          <a:p>
            <a:r>
              <a:rPr lang="en-US" sz="1400" dirty="0">
                <a:latin typeface="Calibri"/>
                <a:cs typeface="Calibri"/>
              </a:rPr>
              <a:t>3D MED BN (current facilities) – (existing requirement):</a:t>
            </a:r>
          </a:p>
          <a:p>
            <a:pPr marL="457200" lvl="1" indent="0">
              <a:buNone/>
            </a:pPr>
            <a:r>
              <a:rPr lang="en-US" sz="1400" dirty="0">
                <a:latin typeface="Calibri"/>
                <a:cs typeface="Calibri"/>
              </a:rPr>
              <a:t>(809 SF) – (6,398 SF) = </a:t>
            </a:r>
            <a:r>
              <a:rPr lang="en-US" sz="1400" dirty="0">
                <a:highlight>
                  <a:srgbClr val="FF0000"/>
                </a:highlight>
                <a:latin typeface="Calibri"/>
                <a:cs typeface="Calibri"/>
              </a:rPr>
              <a:t>-5,589 SF </a:t>
            </a:r>
            <a:r>
              <a:rPr lang="en-US" sz="1400" dirty="0">
                <a:latin typeface="Calibri"/>
                <a:cs typeface="Calibri"/>
                <a:sym typeface="Wingdings" panose="05000000000000000000" pitchFamily="2" charset="2"/>
              </a:rPr>
              <a:t>Area </a:t>
            </a:r>
            <a:r>
              <a:rPr lang="en-US" sz="1400" dirty="0">
                <a:latin typeface="Calibri"/>
                <a:cs typeface="Calibri"/>
              </a:rPr>
              <a:t>Shortfall</a:t>
            </a:r>
          </a:p>
          <a:p>
            <a:pPr marL="0" indent="0">
              <a:buNone/>
            </a:pPr>
            <a:r>
              <a:rPr lang="en-US" sz="1400" b="1" dirty="0">
                <a:latin typeface="Calibri"/>
                <a:cs typeface="Calibri"/>
              </a:rPr>
              <a:t>3D MED BN currently has a significant armory capacity shortfall. Camp Foster does not have additional armory space available. It is likely that existing </a:t>
            </a:r>
            <a:r>
              <a:rPr lang="en-US" sz="1400" b="1" u="sng" dirty="0">
                <a:latin typeface="Calibri"/>
                <a:cs typeface="Calibri"/>
              </a:rPr>
              <a:t>operational issues will be further impacted without mitigation.</a:t>
            </a:r>
          </a:p>
        </p:txBody>
      </p:sp>
      <p:sp>
        <p:nvSpPr>
          <p:cNvPr id="10" name="Slide Number Placeholder 9">
            <a:extLst>
              <a:ext uri="{FF2B5EF4-FFF2-40B4-BE49-F238E27FC236}">
                <a16:creationId xmlns:a16="http://schemas.microsoft.com/office/drawing/2014/main" id="{6032EEB1-7441-C228-3F17-267245A5D1C9}"/>
              </a:ext>
            </a:extLst>
          </p:cNvPr>
          <p:cNvSpPr>
            <a:spLocks noGrp="1"/>
          </p:cNvSpPr>
          <p:nvPr>
            <p:ph type="sldNum" sz="quarter" idx="12"/>
          </p:nvPr>
        </p:nvSpPr>
        <p:spPr/>
        <p:txBody>
          <a:bodyPr/>
          <a:lstStyle/>
          <a:p>
            <a:fld id="{683BFD01-D97D-47BB-8E39-D4B87178CFC1}" type="slidenum">
              <a:rPr lang="en-US" smtClean="0"/>
              <a:t>5</a:t>
            </a:fld>
            <a:endParaRPr lang="en-US"/>
          </a:p>
        </p:txBody>
      </p:sp>
      <p:cxnSp>
        <p:nvCxnSpPr>
          <p:cNvPr id="2" name="Straight Connector 1">
            <a:extLst>
              <a:ext uri="{FF2B5EF4-FFF2-40B4-BE49-F238E27FC236}">
                <a16:creationId xmlns:a16="http://schemas.microsoft.com/office/drawing/2014/main" id="{EC5FA6E1-6EC8-9C9D-98FF-B92C566CD76B}"/>
              </a:ext>
            </a:extLst>
          </p:cNvPr>
          <p:cNvCxnSpPr>
            <a:cxnSpLocks/>
          </p:cNvCxnSpPr>
          <p:nvPr/>
        </p:nvCxnSpPr>
        <p:spPr>
          <a:xfrm>
            <a:off x="6096000" y="1154194"/>
            <a:ext cx="35432" cy="5005973"/>
          </a:xfrm>
          <a:prstGeom prst="line">
            <a:avLst/>
          </a:prstGeom>
          <a:ln/>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A74632B1-AD76-EBB6-8C54-6F6A94098542}"/>
              </a:ext>
            </a:extLst>
          </p:cNvPr>
          <p:cNvCxnSpPr>
            <a:cxnSpLocks/>
          </p:cNvCxnSpPr>
          <p:nvPr/>
        </p:nvCxnSpPr>
        <p:spPr>
          <a:xfrm>
            <a:off x="990600" y="3621500"/>
            <a:ext cx="10363200" cy="0"/>
          </a:xfrm>
          <a:prstGeom prst="line">
            <a:avLst/>
          </a:prstGeom>
          <a:ln/>
        </p:spPr>
        <p:style>
          <a:lnRef idx="2">
            <a:schemeClr val="dk1"/>
          </a:lnRef>
          <a:fillRef idx="0">
            <a:schemeClr val="dk1"/>
          </a:fillRef>
          <a:effectRef idx="1">
            <a:schemeClr val="dk1"/>
          </a:effectRef>
          <a:fontRef idx="minor">
            <a:schemeClr val="tx1"/>
          </a:fontRef>
        </p:style>
      </p:cxnSp>
      <p:sp>
        <p:nvSpPr>
          <p:cNvPr id="16" name="Content Placeholder 4">
            <a:extLst>
              <a:ext uri="{FF2B5EF4-FFF2-40B4-BE49-F238E27FC236}">
                <a16:creationId xmlns:a16="http://schemas.microsoft.com/office/drawing/2014/main" id="{8C59539C-8CD0-297E-A25F-92DA6DE437F3}"/>
              </a:ext>
            </a:extLst>
          </p:cNvPr>
          <p:cNvSpPr txBox="1">
            <a:spLocks/>
          </p:cNvSpPr>
          <p:nvPr/>
        </p:nvSpPr>
        <p:spPr>
          <a:xfrm>
            <a:off x="6207632" y="1082786"/>
            <a:ext cx="5181600" cy="24400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spc="-10" dirty="0">
                <a:latin typeface="Calibri"/>
                <a:cs typeface="Calibri"/>
              </a:rPr>
              <a:t>Workspace/Office Assessment :</a:t>
            </a:r>
            <a:br>
              <a:rPr lang="en-US" sz="1400" spc="-10" dirty="0">
                <a:latin typeface="Calibri"/>
                <a:cs typeface="Calibri"/>
              </a:rPr>
            </a:br>
            <a:endParaRPr lang="en-US" sz="1400" spc="-10" dirty="0">
              <a:latin typeface="Calibri"/>
              <a:cs typeface="Calibri"/>
            </a:endParaRPr>
          </a:p>
          <a:p>
            <a:pPr marL="0" indent="0">
              <a:buNone/>
            </a:pPr>
            <a:r>
              <a:rPr lang="en-US" sz="1400" dirty="0">
                <a:latin typeface="Calibri"/>
                <a:cs typeface="Calibri"/>
              </a:rPr>
              <a:t>HQs / Administrative Office Facilities</a:t>
            </a:r>
          </a:p>
          <a:p>
            <a:r>
              <a:rPr lang="en-US" sz="1400" dirty="0">
                <a:latin typeface="Calibri"/>
                <a:cs typeface="Calibri"/>
              </a:rPr>
              <a:t>SURG CO B Requirement: 4,063 SF</a:t>
            </a:r>
          </a:p>
          <a:p>
            <a:r>
              <a:rPr lang="en-US" sz="1400" dirty="0">
                <a:latin typeface="Calibri"/>
                <a:cs typeface="Calibri"/>
              </a:rPr>
              <a:t>3D MED BN (current facilities) – (existing requirement):</a:t>
            </a:r>
          </a:p>
          <a:p>
            <a:pPr marL="457200" lvl="1" indent="0">
              <a:buNone/>
            </a:pPr>
            <a:r>
              <a:rPr lang="en-US" sz="1400" dirty="0">
                <a:latin typeface="Calibri"/>
                <a:cs typeface="Calibri"/>
              </a:rPr>
              <a:t>(27,031 SF) – (12,513 SF) = </a:t>
            </a:r>
            <a:r>
              <a:rPr lang="en-US" sz="1400" dirty="0">
                <a:highlight>
                  <a:srgbClr val="00FF00"/>
                </a:highlight>
                <a:latin typeface="Calibri"/>
                <a:cs typeface="Calibri"/>
              </a:rPr>
              <a:t>14,518 SF </a:t>
            </a:r>
            <a:r>
              <a:rPr lang="en-US" sz="1400" dirty="0">
                <a:latin typeface="Calibri"/>
                <a:cs typeface="Calibri"/>
                <a:sym typeface="Wingdings" panose="05000000000000000000" pitchFamily="2" charset="2"/>
              </a:rPr>
              <a:t>Area Surplus</a:t>
            </a:r>
          </a:p>
          <a:p>
            <a:pPr marL="0" indent="0">
              <a:buNone/>
            </a:pPr>
            <a:r>
              <a:rPr lang="en-US" sz="1400" b="1" dirty="0">
                <a:latin typeface="Calibri"/>
                <a:cs typeface="Calibri"/>
              </a:rPr>
              <a:t>3D MED BN currently has a significant surplus of HQs/admin capacity. Surg Co B can be adequately co-located in existing 3D MED BN spaces and still result in a </a:t>
            </a:r>
            <a:r>
              <a:rPr lang="en-US" sz="1400" b="1" u="sng" dirty="0">
                <a:latin typeface="Calibri"/>
                <a:cs typeface="Calibri"/>
              </a:rPr>
              <a:t>surplus of 10,455 SF.</a:t>
            </a:r>
          </a:p>
        </p:txBody>
      </p:sp>
      <p:sp>
        <p:nvSpPr>
          <p:cNvPr id="17" name="Content Placeholder 4">
            <a:extLst>
              <a:ext uri="{FF2B5EF4-FFF2-40B4-BE49-F238E27FC236}">
                <a16:creationId xmlns:a16="http://schemas.microsoft.com/office/drawing/2014/main" id="{B906DBAB-8015-5BB8-71D5-32CE818DA699}"/>
              </a:ext>
            </a:extLst>
          </p:cNvPr>
          <p:cNvSpPr txBox="1">
            <a:spLocks/>
          </p:cNvSpPr>
          <p:nvPr/>
        </p:nvSpPr>
        <p:spPr>
          <a:xfrm>
            <a:off x="838200" y="3720110"/>
            <a:ext cx="5181600" cy="23686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spc="-10" dirty="0">
                <a:latin typeface="Calibri"/>
                <a:cs typeface="Calibri"/>
              </a:rPr>
              <a:t>Ground Equipment Maintenance Assessment :</a:t>
            </a:r>
          </a:p>
          <a:p>
            <a:pPr marL="0" indent="0">
              <a:buNone/>
            </a:pPr>
            <a:endParaRPr lang="en-US" sz="1400" dirty="0">
              <a:latin typeface="Calibri"/>
              <a:cs typeface="Calibri"/>
            </a:endParaRPr>
          </a:p>
          <a:p>
            <a:r>
              <a:rPr lang="en-US" sz="1400" dirty="0">
                <a:latin typeface="Calibri"/>
                <a:cs typeface="Calibri"/>
              </a:rPr>
              <a:t>SURG CO B Requirement: 2,848 SF</a:t>
            </a:r>
          </a:p>
          <a:p>
            <a:r>
              <a:rPr lang="en-US" sz="1400" dirty="0">
                <a:latin typeface="Calibri"/>
                <a:cs typeface="Calibri"/>
              </a:rPr>
              <a:t>3D MED BN doe not exclusively utilize any Auto Org Shop facilities currently.</a:t>
            </a:r>
          </a:p>
          <a:p>
            <a:pPr marL="0" indent="0">
              <a:buNone/>
            </a:pPr>
            <a:r>
              <a:rPr lang="en-US" sz="1400" b="1" dirty="0">
                <a:latin typeface="Calibri"/>
                <a:cs typeface="Calibri"/>
              </a:rPr>
              <a:t>3D MED BN vehicle assets are maintained by other 3D MLG units. Initial assessment of Auto Org Shop facilities utilized by other MLG units aboard Camp Foster shows a significant surplus. Surg Co B can be adequately co-located in existing MLG facilities.</a:t>
            </a:r>
          </a:p>
        </p:txBody>
      </p:sp>
      <p:sp>
        <p:nvSpPr>
          <p:cNvPr id="18" name="Content Placeholder 4">
            <a:extLst>
              <a:ext uri="{FF2B5EF4-FFF2-40B4-BE49-F238E27FC236}">
                <a16:creationId xmlns:a16="http://schemas.microsoft.com/office/drawing/2014/main" id="{1C130446-D3FB-B97C-00D6-2BB1976240F6}"/>
              </a:ext>
            </a:extLst>
          </p:cNvPr>
          <p:cNvSpPr txBox="1">
            <a:spLocks/>
          </p:cNvSpPr>
          <p:nvPr/>
        </p:nvSpPr>
        <p:spPr>
          <a:xfrm>
            <a:off x="6228016" y="3720110"/>
            <a:ext cx="5181600" cy="236869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spc="-10" dirty="0">
                <a:latin typeface="Calibri"/>
                <a:cs typeface="Calibri"/>
              </a:rPr>
              <a:t>Billeting Assessment :</a:t>
            </a:r>
            <a:endParaRPr lang="en-US" sz="1100" spc="-10" dirty="0">
              <a:latin typeface="Calibri"/>
              <a:cs typeface="Calibri"/>
            </a:endParaRPr>
          </a:p>
          <a:p>
            <a:r>
              <a:rPr lang="en-US" sz="1400" spc="-10" dirty="0">
                <a:latin typeface="Calibri"/>
                <a:cs typeface="Calibri"/>
              </a:rPr>
              <a:t>SURG CO B Total PN Loading: 181</a:t>
            </a:r>
          </a:p>
          <a:p>
            <a:pPr lvl="1"/>
            <a:r>
              <a:rPr lang="en-US" sz="1000" spc="-10" dirty="0">
                <a:latin typeface="Calibri"/>
                <a:cs typeface="Calibri"/>
              </a:rPr>
              <a:t>(139) Enlisted</a:t>
            </a:r>
          </a:p>
          <a:p>
            <a:pPr lvl="1"/>
            <a:r>
              <a:rPr lang="en-US" sz="1000" spc="-10" dirty="0">
                <a:latin typeface="Calibri"/>
                <a:cs typeface="Calibri"/>
              </a:rPr>
              <a:t>(42) Officer</a:t>
            </a:r>
          </a:p>
          <a:p>
            <a:r>
              <a:rPr lang="en-US" sz="1400" spc="-10" dirty="0">
                <a:latin typeface="Calibri"/>
                <a:cs typeface="Calibri"/>
              </a:rPr>
              <a:t>UH Requirement (Unaccompanied) PN = 71</a:t>
            </a:r>
          </a:p>
          <a:p>
            <a:pPr lvl="1"/>
            <a:r>
              <a:rPr lang="en-US" sz="1000" spc="-10" dirty="0">
                <a:latin typeface="Calibri"/>
                <a:cs typeface="Calibri"/>
              </a:rPr>
              <a:t>(61) Enlisted</a:t>
            </a:r>
          </a:p>
          <a:p>
            <a:pPr lvl="1"/>
            <a:r>
              <a:rPr lang="en-US" sz="1000" spc="-10" dirty="0">
                <a:latin typeface="Calibri"/>
                <a:cs typeface="Calibri"/>
              </a:rPr>
              <a:t>(10) Officer</a:t>
            </a:r>
          </a:p>
          <a:p>
            <a:r>
              <a:rPr lang="en-US" sz="1400" spc="-10" dirty="0">
                <a:latin typeface="Calibri"/>
                <a:cs typeface="Calibri"/>
              </a:rPr>
              <a:t># of Dependents = 153</a:t>
            </a:r>
          </a:p>
          <a:p>
            <a:pPr lvl="1"/>
            <a:r>
              <a:rPr lang="en-US" sz="1000" spc="-10" dirty="0">
                <a:latin typeface="Calibri"/>
                <a:cs typeface="Calibri"/>
              </a:rPr>
              <a:t>(110) Spouse</a:t>
            </a:r>
          </a:p>
          <a:p>
            <a:pPr lvl="1"/>
            <a:r>
              <a:rPr lang="en-US" sz="1000" spc="-10" dirty="0">
                <a:latin typeface="Calibri"/>
                <a:cs typeface="Calibri"/>
              </a:rPr>
              <a:t>(43) Children</a:t>
            </a:r>
            <a:endParaRPr lang="en-US" dirty="0"/>
          </a:p>
        </p:txBody>
      </p:sp>
      <p:sp>
        <p:nvSpPr>
          <p:cNvPr id="7" name="object 6">
            <a:extLst>
              <a:ext uri="{FF2B5EF4-FFF2-40B4-BE49-F238E27FC236}">
                <a16:creationId xmlns:a16="http://schemas.microsoft.com/office/drawing/2014/main" id="{74E957C6-E1FF-5119-F65D-4353FD2C2C95}"/>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8" name="object 5">
            <a:extLst>
              <a:ext uri="{FF2B5EF4-FFF2-40B4-BE49-F238E27FC236}">
                <a16:creationId xmlns:a16="http://schemas.microsoft.com/office/drawing/2014/main" id="{E55E5EF9-4324-2CF5-8DC0-91FB2DA19D83}"/>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231010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65E488-D228-5928-76FE-D0B400D8E83F}"/>
              </a:ext>
            </a:extLst>
          </p:cNvPr>
          <p:cNvSpPr>
            <a:spLocks noGrp="1"/>
          </p:cNvSpPr>
          <p:nvPr>
            <p:ph type="title"/>
          </p:nvPr>
        </p:nvSpPr>
        <p:spPr>
          <a:xfrm>
            <a:off x="2412492" y="365126"/>
            <a:ext cx="8724899" cy="614236"/>
          </a:xfrm>
        </p:spPr>
        <p:txBody>
          <a:bodyPr>
            <a:normAutofit/>
          </a:bodyPr>
          <a:lstStyle/>
          <a:p>
            <a:pPr algn="r"/>
            <a:r>
              <a:rPr lang="en-US" sz="3200" dirty="0">
                <a:latin typeface="Calibri Light" panose="020F0302020204030204" pitchFamily="34" charset="0"/>
                <a:ea typeface="Calibri Light" panose="020F0302020204030204" pitchFamily="34" charset="0"/>
                <a:cs typeface="Calibri Light" panose="020F0302020204030204" pitchFamily="34" charset="0"/>
              </a:rPr>
              <a:t>Functional Requirements</a:t>
            </a:r>
            <a:r>
              <a:rPr lang="en-US" dirty="0"/>
              <a:t> Assessment </a:t>
            </a:r>
            <a:endParaRPr lang="en-US" sz="3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Content Placeholder 4">
            <a:extLst>
              <a:ext uri="{FF2B5EF4-FFF2-40B4-BE49-F238E27FC236}">
                <a16:creationId xmlns:a16="http://schemas.microsoft.com/office/drawing/2014/main" id="{7C93003A-8FC5-0C0E-C63C-07D760348794}"/>
              </a:ext>
            </a:extLst>
          </p:cNvPr>
          <p:cNvSpPr>
            <a:spLocks noGrp="1"/>
          </p:cNvSpPr>
          <p:nvPr>
            <p:ph sz="half" idx="1"/>
          </p:nvPr>
        </p:nvSpPr>
        <p:spPr>
          <a:xfrm>
            <a:off x="1026032" y="1078022"/>
            <a:ext cx="4993768" cy="2444821"/>
          </a:xfrm>
        </p:spPr>
        <p:txBody>
          <a:bodyPr/>
          <a:lstStyle/>
          <a:p>
            <a:pPr marL="0" indent="0" algn="ctr">
              <a:buNone/>
            </a:pPr>
            <a:r>
              <a:rPr lang="en-US" sz="1800" dirty="0">
                <a:latin typeface="Calibri"/>
                <a:cs typeface="Calibri"/>
              </a:rPr>
              <a:t>    </a:t>
            </a:r>
            <a:r>
              <a:rPr lang="en-US" sz="1200" dirty="0">
                <a:latin typeface="Calibri"/>
                <a:cs typeface="Calibri"/>
              </a:rPr>
              <a:t>            </a:t>
            </a:r>
            <a:r>
              <a:rPr lang="en-US" sz="1400" dirty="0">
                <a:latin typeface="Calibri"/>
                <a:cs typeface="Calibri"/>
              </a:rPr>
              <a:t>Utilities</a:t>
            </a:r>
            <a:r>
              <a:rPr lang="en-US" sz="1400" spc="-60" dirty="0">
                <a:latin typeface="Calibri"/>
                <a:cs typeface="Calibri"/>
              </a:rPr>
              <a:t> </a:t>
            </a:r>
            <a:r>
              <a:rPr lang="en-US" sz="1400" spc="-10" dirty="0">
                <a:latin typeface="Calibri"/>
                <a:cs typeface="Calibri"/>
              </a:rPr>
              <a:t>Assessment:</a:t>
            </a:r>
            <a:br>
              <a:rPr lang="en-US" sz="1400" spc="-10" dirty="0">
                <a:latin typeface="Calibri"/>
                <a:cs typeface="Calibri"/>
              </a:rPr>
            </a:br>
            <a:r>
              <a:rPr lang="en-US" sz="1200" spc="-10" dirty="0">
                <a:latin typeface="Calibri"/>
                <a:cs typeface="Calibri"/>
              </a:rPr>
              <a:t>              </a:t>
            </a:r>
          </a:p>
          <a:p>
            <a:r>
              <a:rPr lang="en-US" sz="1400" dirty="0">
                <a:latin typeface="Calibri"/>
                <a:cs typeface="Calibri"/>
              </a:rPr>
              <a:t>Specific facility-level utility requirements can be identified after scope is defined (</a:t>
            </a:r>
            <a:r>
              <a:rPr lang="en-US" sz="1400" dirty="0" err="1">
                <a:latin typeface="Calibri"/>
                <a:cs typeface="Calibri"/>
              </a:rPr>
              <a:t>eg</a:t>
            </a:r>
            <a:r>
              <a:rPr lang="en-US" sz="1400" dirty="0">
                <a:latin typeface="Calibri"/>
                <a:cs typeface="Calibri"/>
              </a:rPr>
              <a:t> buildings selected and conceptual floorplans created). This assessment reviewed base-level utilities impacts from the general facility requirements.</a:t>
            </a:r>
          </a:p>
          <a:p>
            <a:pPr marL="0" indent="0">
              <a:buNone/>
            </a:pPr>
            <a:r>
              <a:rPr lang="en-US" sz="1400" b="1" dirty="0">
                <a:latin typeface="Calibri"/>
                <a:cs typeface="Calibri"/>
              </a:rPr>
              <a:t>Per initial assessment no significant utility concerns.</a:t>
            </a:r>
          </a:p>
        </p:txBody>
      </p:sp>
      <p:sp>
        <p:nvSpPr>
          <p:cNvPr id="10" name="Slide Number Placeholder 9">
            <a:extLst>
              <a:ext uri="{FF2B5EF4-FFF2-40B4-BE49-F238E27FC236}">
                <a16:creationId xmlns:a16="http://schemas.microsoft.com/office/drawing/2014/main" id="{6032EEB1-7441-C228-3F17-267245A5D1C9}"/>
              </a:ext>
            </a:extLst>
          </p:cNvPr>
          <p:cNvSpPr>
            <a:spLocks noGrp="1"/>
          </p:cNvSpPr>
          <p:nvPr>
            <p:ph type="sldNum" sz="quarter" idx="12"/>
          </p:nvPr>
        </p:nvSpPr>
        <p:spPr/>
        <p:txBody>
          <a:bodyPr/>
          <a:lstStyle/>
          <a:p>
            <a:fld id="{683BFD01-D97D-47BB-8E39-D4B87178CFC1}" type="slidenum">
              <a:rPr lang="en-US" smtClean="0"/>
              <a:t>6</a:t>
            </a:fld>
            <a:endParaRPr lang="en-US"/>
          </a:p>
        </p:txBody>
      </p:sp>
      <p:cxnSp>
        <p:nvCxnSpPr>
          <p:cNvPr id="2" name="Straight Connector 1">
            <a:extLst>
              <a:ext uri="{FF2B5EF4-FFF2-40B4-BE49-F238E27FC236}">
                <a16:creationId xmlns:a16="http://schemas.microsoft.com/office/drawing/2014/main" id="{EC5FA6E1-6EC8-9C9D-98FF-B92C566CD76B}"/>
              </a:ext>
            </a:extLst>
          </p:cNvPr>
          <p:cNvCxnSpPr>
            <a:cxnSpLocks/>
          </p:cNvCxnSpPr>
          <p:nvPr/>
        </p:nvCxnSpPr>
        <p:spPr>
          <a:xfrm>
            <a:off x="6096000" y="1154194"/>
            <a:ext cx="35432" cy="5005973"/>
          </a:xfrm>
          <a:prstGeom prst="line">
            <a:avLst/>
          </a:prstGeom>
          <a:ln/>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A74632B1-AD76-EBB6-8C54-6F6A94098542}"/>
              </a:ext>
            </a:extLst>
          </p:cNvPr>
          <p:cNvCxnSpPr>
            <a:cxnSpLocks/>
          </p:cNvCxnSpPr>
          <p:nvPr/>
        </p:nvCxnSpPr>
        <p:spPr>
          <a:xfrm>
            <a:off x="990600" y="3621500"/>
            <a:ext cx="10363200" cy="0"/>
          </a:xfrm>
          <a:prstGeom prst="line">
            <a:avLst/>
          </a:prstGeom>
          <a:ln/>
        </p:spPr>
        <p:style>
          <a:lnRef idx="2">
            <a:schemeClr val="dk1"/>
          </a:lnRef>
          <a:fillRef idx="0">
            <a:schemeClr val="dk1"/>
          </a:fillRef>
          <a:effectRef idx="1">
            <a:schemeClr val="dk1"/>
          </a:effectRef>
          <a:fontRef idx="minor">
            <a:schemeClr val="tx1"/>
          </a:fontRef>
        </p:style>
      </p:cxnSp>
      <p:sp>
        <p:nvSpPr>
          <p:cNvPr id="16" name="Content Placeholder 4">
            <a:extLst>
              <a:ext uri="{FF2B5EF4-FFF2-40B4-BE49-F238E27FC236}">
                <a16:creationId xmlns:a16="http://schemas.microsoft.com/office/drawing/2014/main" id="{8C59539C-8CD0-297E-A25F-92DA6DE437F3}"/>
              </a:ext>
            </a:extLst>
          </p:cNvPr>
          <p:cNvSpPr txBox="1">
            <a:spLocks/>
          </p:cNvSpPr>
          <p:nvPr/>
        </p:nvSpPr>
        <p:spPr>
          <a:xfrm>
            <a:off x="6207632" y="1082786"/>
            <a:ext cx="5181600" cy="244005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95"/>
              </a:spcBef>
              <a:buNone/>
            </a:pPr>
            <a:r>
              <a:rPr lang="en-US" sz="1400" dirty="0" err="1">
                <a:latin typeface="Calibri"/>
                <a:cs typeface="Calibri"/>
              </a:rPr>
              <a:t>Motorpool</a:t>
            </a:r>
            <a:r>
              <a:rPr lang="en-US" sz="1400" spc="-90" dirty="0">
                <a:latin typeface="Calibri"/>
                <a:cs typeface="Calibri"/>
              </a:rPr>
              <a:t> </a:t>
            </a:r>
            <a:r>
              <a:rPr lang="en-US" sz="1400" spc="-10" dirty="0">
                <a:latin typeface="Calibri"/>
                <a:cs typeface="Calibri"/>
              </a:rPr>
              <a:t>Assessment :</a:t>
            </a:r>
            <a:br>
              <a:rPr lang="en-US" sz="1400" spc="-10" dirty="0">
                <a:latin typeface="Calibri"/>
                <a:cs typeface="Calibri"/>
              </a:rPr>
            </a:br>
            <a:endParaRPr lang="en-US" sz="1200" spc="-10" dirty="0">
              <a:latin typeface="Calibri"/>
              <a:cs typeface="Calibri"/>
            </a:endParaRPr>
          </a:p>
          <a:p>
            <a:pPr marL="0" indent="0">
              <a:buNone/>
            </a:pPr>
            <a:r>
              <a:rPr lang="en-US" sz="1400" dirty="0">
                <a:latin typeface="Calibri"/>
                <a:cs typeface="Calibri"/>
              </a:rPr>
              <a:t>Tactical Vehicle Laydown Area</a:t>
            </a:r>
          </a:p>
          <a:p>
            <a:r>
              <a:rPr lang="en-US" sz="1400" dirty="0">
                <a:latin typeface="Calibri"/>
                <a:cs typeface="Calibri"/>
              </a:rPr>
              <a:t>SURG CO B Requirement: 1,811 SY</a:t>
            </a:r>
          </a:p>
          <a:p>
            <a:r>
              <a:rPr lang="en-US" sz="1400" dirty="0">
                <a:latin typeface="Calibri"/>
                <a:cs typeface="Calibri"/>
              </a:rPr>
              <a:t>3D MED BN does not exclusively utilize any Tactical Vehicle Laydown areas currently.</a:t>
            </a:r>
          </a:p>
          <a:p>
            <a:pPr marL="0" indent="0">
              <a:buNone/>
            </a:pPr>
            <a:r>
              <a:rPr lang="en-US" sz="1400" b="1" dirty="0">
                <a:latin typeface="Calibri"/>
                <a:cs typeface="Calibri"/>
              </a:rPr>
              <a:t>3D MED BN vehicle assets are maintained by other 3D MLG units. Initial assessment of Operational Vehicle areas utilized by MLG units aboard Camp Foster shows Surg Co B can be adequately co-located in existing MLG facilities.</a:t>
            </a:r>
          </a:p>
          <a:p>
            <a:pPr marL="0" indent="0">
              <a:buNone/>
            </a:pPr>
            <a:endParaRPr lang="en-US" sz="1400" dirty="0">
              <a:latin typeface="Calibri"/>
              <a:cs typeface="Calibri"/>
            </a:endParaRPr>
          </a:p>
          <a:p>
            <a:endParaRPr lang="en-US" sz="1400" dirty="0">
              <a:latin typeface="Calibri"/>
              <a:cs typeface="Calibri"/>
            </a:endParaRPr>
          </a:p>
          <a:p>
            <a:pPr marL="0" indent="0" algn="ctr">
              <a:buFont typeface="Arial" panose="020B0604020202020204" pitchFamily="34" charset="0"/>
              <a:buNone/>
            </a:pPr>
            <a:endParaRPr lang="en-US" dirty="0"/>
          </a:p>
        </p:txBody>
      </p:sp>
      <p:sp>
        <p:nvSpPr>
          <p:cNvPr id="17" name="Content Placeholder 4">
            <a:extLst>
              <a:ext uri="{FF2B5EF4-FFF2-40B4-BE49-F238E27FC236}">
                <a16:creationId xmlns:a16="http://schemas.microsoft.com/office/drawing/2014/main" id="{B906DBAB-8015-5BB8-71D5-32CE818DA699}"/>
              </a:ext>
            </a:extLst>
          </p:cNvPr>
          <p:cNvSpPr txBox="1">
            <a:spLocks/>
          </p:cNvSpPr>
          <p:nvPr/>
        </p:nvSpPr>
        <p:spPr>
          <a:xfrm>
            <a:off x="838200" y="3720110"/>
            <a:ext cx="5181600" cy="23686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spc="-10" dirty="0">
                <a:latin typeface="Calibri"/>
                <a:cs typeface="Calibri"/>
              </a:rPr>
              <a:t>Security/Classified Material Facility Assessment :</a:t>
            </a:r>
            <a:br>
              <a:rPr lang="en-US" sz="1400" spc="-10" dirty="0">
                <a:latin typeface="Calibri"/>
                <a:cs typeface="Calibri"/>
              </a:rPr>
            </a:br>
            <a:endParaRPr lang="en-US" sz="1100" i="1" spc="-10" dirty="0">
              <a:latin typeface="Calibri"/>
              <a:cs typeface="Calibri"/>
            </a:endParaRPr>
          </a:p>
          <a:p>
            <a:pPr marL="0" indent="0">
              <a:buNone/>
            </a:pPr>
            <a:endParaRPr lang="en-US" sz="1400" b="1" dirty="0">
              <a:latin typeface="Calibri"/>
              <a:cs typeface="Calibri"/>
            </a:endParaRPr>
          </a:p>
          <a:p>
            <a:pPr marL="0" indent="0">
              <a:buNone/>
            </a:pPr>
            <a:r>
              <a:rPr lang="en-US" sz="1400" b="1" dirty="0">
                <a:latin typeface="Calibri"/>
                <a:cs typeface="Calibri"/>
              </a:rPr>
              <a:t>3D MED BN currently has SIPR capability. Surg Co B requirements can be adequately supported in existing facility.</a:t>
            </a:r>
            <a:endParaRPr lang="en-US" sz="1400" dirty="0">
              <a:latin typeface="Calibri"/>
              <a:cs typeface="Calibri"/>
            </a:endParaRPr>
          </a:p>
        </p:txBody>
      </p:sp>
      <p:sp>
        <p:nvSpPr>
          <p:cNvPr id="18" name="Content Placeholder 4">
            <a:extLst>
              <a:ext uri="{FF2B5EF4-FFF2-40B4-BE49-F238E27FC236}">
                <a16:creationId xmlns:a16="http://schemas.microsoft.com/office/drawing/2014/main" id="{1C130446-D3FB-B97C-00D6-2BB1976240F6}"/>
              </a:ext>
            </a:extLst>
          </p:cNvPr>
          <p:cNvSpPr txBox="1">
            <a:spLocks/>
          </p:cNvSpPr>
          <p:nvPr/>
        </p:nvSpPr>
        <p:spPr>
          <a:xfrm>
            <a:off x="6228016" y="3720110"/>
            <a:ext cx="5181600" cy="23686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spc="-10" dirty="0">
                <a:latin typeface="Calibri"/>
                <a:cs typeface="Calibri"/>
              </a:rPr>
              <a:t>Environmental &amp; Historical Assessment:</a:t>
            </a:r>
            <a:br>
              <a:rPr lang="en-US" sz="1400" spc="-10" dirty="0">
                <a:latin typeface="Calibri"/>
                <a:cs typeface="Calibri"/>
              </a:rPr>
            </a:br>
            <a:r>
              <a:rPr lang="en-US" sz="1100" i="1" spc="-10" dirty="0">
                <a:latin typeface="Calibri"/>
                <a:cs typeface="Calibri"/>
              </a:rPr>
              <a:t>(Define how action may impact environment: </a:t>
            </a:r>
            <a:r>
              <a:rPr lang="en-US" sz="1100" i="1" spc="-10" dirty="0" err="1">
                <a:latin typeface="Calibri"/>
                <a:cs typeface="Calibri"/>
              </a:rPr>
              <a:t>i.e</a:t>
            </a:r>
            <a:r>
              <a:rPr lang="en-US" sz="1100" i="1" spc="-10" dirty="0">
                <a:latin typeface="Calibri"/>
                <a:cs typeface="Calibri"/>
              </a:rPr>
              <a:t>: new construction, new weapons, </a:t>
            </a:r>
            <a:r>
              <a:rPr lang="en-US" sz="1100" i="1" spc="-10" dirty="0" err="1">
                <a:latin typeface="Calibri"/>
                <a:cs typeface="Calibri"/>
              </a:rPr>
              <a:t>etc</a:t>
            </a:r>
            <a:r>
              <a:rPr lang="en-US" sz="1100" i="1" spc="-10" dirty="0">
                <a:latin typeface="Calibri"/>
                <a:cs typeface="Calibri"/>
              </a:rPr>
              <a:t>)</a:t>
            </a:r>
          </a:p>
          <a:p>
            <a:r>
              <a:rPr lang="en-US" sz="1400" spc="-10" dirty="0">
                <a:latin typeface="Calibri"/>
                <a:cs typeface="Calibri"/>
              </a:rPr>
              <a:t>Insert Here</a:t>
            </a:r>
          </a:p>
        </p:txBody>
      </p:sp>
      <p:sp>
        <p:nvSpPr>
          <p:cNvPr id="7" name="object 6">
            <a:extLst>
              <a:ext uri="{FF2B5EF4-FFF2-40B4-BE49-F238E27FC236}">
                <a16:creationId xmlns:a16="http://schemas.microsoft.com/office/drawing/2014/main" id="{BEA9F380-8B4D-CE58-9B27-EC69F759C899}"/>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8" name="object 5">
            <a:extLst>
              <a:ext uri="{FF2B5EF4-FFF2-40B4-BE49-F238E27FC236}">
                <a16:creationId xmlns:a16="http://schemas.microsoft.com/office/drawing/2014/main" id="{FD141E72-3FCA-E5F0-0283-3441A4EB22B6}"/>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2267571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65E488-D228-5928-76FE-D0B400D8E83F}"/>
              </a:ext>
            </a:extLst>
          </p:cNvPr>
          <p:cNvSpPr>
            <a:spLocks noGrp="1"/>
          </p:cNvSpPr>
          <p:nvPr>
            <p:ph type="title"/>
          </p:nvPr>
        </p:nvSpPr>
        <p:spPr>
          <a:xfrm>
            <a:off x="2412492" y="365126"/>
            <a:ext cx="8724899" cy="614236"/>
          </a:xfrm>
        </p:spPr>
        <p:txBody>
          <a:bodyPr>
            <a:normAutofit/>
          </a:bodyPr>
          <a:lstStyle/>
          <a:p>
            <a:pPr algn="r"/>
            <a:r>
              <a:rPr lang="en-US" sz="3200" dirty="0">
                <a:latin typeface="Calibri Light" panose="020F0302020204030204" pitchFamily="34" charset="0"/>
                <a:ea typeface="Calibri Light" panose="020F0302020204030204" pitchFamily="34" charset="0"/>
                <a:cs typeface="Calibri Light" panose="020F0302020204030204" pitchFamily="34" charset="0"/>
              </a:rPr>
              <a:t>Functional Requirements </a:t>
            </a:r>
            <a:r>
              <a:rPr lang="en-US" dirty="0"/>
              <a:t>Assessment</a:t>
            </a:r>
            <a:endParaRPr lang="en-US" sz="3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Content Placeholder 4">
            <a:extLst>
              <a:ext uri="{FF2B5EF4-FFF2-40B4-BE49-F238E27FC236}">
                <a16:creationId xmlns:a16="http://schemas.microsoft.com/office/drawing/2014/main" id="{7C93003A-8FC5-0C0E-C63C-07D760348794}"/>
              </a:ext>
            </a:extLst>
          </p:cNvPr>
          <p:cNvSpPr>
            <a:spLocks noGrp="1"/>
          </p:cNvSpPr>
          <p:nvPr>
            <p:ph sz="half" idx="1"/>
          </p:nvPr>
        </p:nvSpPr>
        <p:spPr>
          <a:xfrm>
            <a:off x="1026032" y="1078022"/>
            <a:ext cx="4993768" cy="2444821"/>
          </a:xfrm>
        </p:spPr>
        <p:txBody>
          <a:bodyPr/>
          <a:lstStyle/>
          <a:p>
            <a:pPr marL="0" indent="0" algn="ctr">
              <a:buNone/>
            </a:pPr>
            <a:r>
              <a:rPr lang="en-US" sz="1800" dirty="0">
                <a:latin typeface="Calibri"/>
                <a:cs typeface="Calibri"/>
              </a:rPr>
              <a:t>    </a:t>
            </a:r>
            <a:r>
              <a:rPr lang="en-US" sz="1200" dirty="0">
                <a:latin typeface="Calibri"/>
                <a:cs typeface="Calibri"/>
              </a:rPr>
              <a:t>            </a:t>
            </a:r>
            <a:r>
              <a:rPr lang="en-US" sz="1400" dirty="0">
                <a:latin typeface="Calibri"/>
                <a:cs typeface="Calibri"/>
              </a:rPr>
              <a:t>Airspace Management Assessment:</a:t>
            </a:r>
          </a:p>
          <a:p>
            <a:endParaRPr lang="en-US" sz="1400" dirty="0">
              <a:latin typeface="Calibri"/>
              <a:cs typeface="Calibri"/>
            </a:endParaRPr>
          </a:p>
          <a:p>
            <a:r>
              <a:rPr lang="en-US" sz="1400" dirty="0">
                <a:latin typeface="Calibri"/>
                <a:cs typeface="Calibri"/>
              </a:rPr>
              <a:t>Not applicable</a:t>
            </a:r>
          </a:p>
          <a:p>
            <a:pPr marL="0" indent="0" algn="ctr">
              <a:buNone/>
            </a:pP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Slide Number Placeholder 9">
            <a:extLst>
              <a:ext uri="{FF2B5EF4-FFF2-40B4-BE49-F238E27FC236}">
                <a16:creationId xmlns:a16="http://schemas.microsoft.com/office/drawing/2014/main" id="{6032EEB1-7441-C228-3F17-267245A5D1C9}"/>
              </a:ext>
            </a:extLst>
          </p:cNvPr>
          <p:cNvSpPr>
            <a:spLocks noGrp="1"/>
          </p:cNvSpPr>
          <p:nvPr>
            <p:ph type="sldNum" sz="quarter" idx="12"/>
          </p:nvPr>
        </p:nvSpPr>
        <p:spPr/>
        <p:txBody>
          <a:bodyPr/>
          <a:lstStyle/>
          <a:p>
            <a:fld id="{683BFD01-D97D-47BB-8E39-D4B87178CFC1}" type="slidenum">
              <a:rPr lang="en-US" smtClean="0"/>
              <a:t>7</a:t>
            </a:fld>
            <a:endParaRPr lang="en-US"/>
          </a:p>
        </p:txBody>
      </p:sp>
      <p:cxnSp>
        <p:nvCxnSpPr>
          <p:cNvPr id="2" name="Straight Connector 1">
            <a:extLst>
              <a:ext uri="{FF2B5EF4-FFF2-40B4-BE49-F238E27FC236}">
                <a16:creationId xmlns:a16="http://schemas.microsoft.com/office/drawing/2014/main" id="{EC5FA6E1-6EC8-9C9D-98FF-B92C566CD76B}"/>
              </a:ext>
            </a:extLst>
          </p:cNvPr>
          <p:cNvCxnSpPr>
            <a:cxnSpLocks/>
          </p:cNvCxnSpPr>
          <p:nvPr/>
        </p:nvCxnSpPr>
        <p:spPr>
          <a:xfrm>
            <a:off x="6096000" y="1154194"/>
            <a:ext cx="35432" cy="5005973"/>
          </a:xfrm>
          <a:prstGeom prst="line">
            <a:avLst/>
          </a:prstGeom>
          <a:ln/>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A74632B1-AD76-EBB6-8C54-6F6A94098542}"/>
              </a:ext>
            </a:extLst>
          </p:cNvPr>
          <p:cNvCxnSpPr>
            <a:cxnSpLocks/>
          </p:cNvCxnSpPr>
          <p:nvPr/>
        </p:nvCxnSpPr>
        <p:spPr>
          <a:xfrm>
            <a:off x="990600" y="3621500"/>
            <a:ext cx="10363200" cy="0"/>
          </a:xfrm>
          <a:prstGeom prst="line">
            <a:avLst/>
          </a:prstGeom>
          <a:ln/>
        </p:spPr>
        <p:style>
          <a:lnRef idx="2">
            <a:schemeClr val="dk1"/>
          </a:lnRef>
          <a:fillRef idx="0">
            <a:schemeClr val="dk1"/>
          </a:fillRef>
          <a:effectRef idx="1">
            <a:schemeClr val="dk1"/>
          </a:effectRef>
          <a:fontRef idx="minor">
            <a:schemeClr val="tx1"/>
          </a:fontRef>
        </p:style>
      </p:cxnSp>
      <p:sp>
        <p:nvSpPr>
          <p:cNvPr id="16" name="Content Placeholder 4">
            <a:extLst>
              <a:ext uri="{FF2B5EF4-FFF2-40B4-BE49-F238E27FC236}">
                <a16:creationId xmlns:a16="http://schemas.microsoft.com/office/drawing/2014/main" id="{8C59539C-8CD0-297E-A25F-92DA6DE437F3}"/>
              </a:ext>
            </a:extLst>
          </p:cNvPr>
          <p:cNvSpPr txBox="1">
            <a:spLocks/>
          </p:cNvSpPr>
          <p:nvPr/>
        </p:nvSpPr>
        <p:spPr>
          <a:xfrm>
            <a:off x="6207632" y="1082786"/>
            <a:ext cx="5181600" cy="24400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95"/>
              </a:spcBef>
              <a:buNone/>
              <a:tabLst>
                <a:tab pos="243840" algn="l"/>
              </a:tabLst>
            </a:pPr>
            <a:r>
              <a:rPr lang="en-US" sz="1400" dirty="0">
                <a:latin typeface="Calibri"/>
                <a:cs typeface="Calibri"/>
              </a:rPr>
              <a:t>Airfield Operations</a:t>
            </a:r>
            <a:r>
              <a:rPr lang="en-US" sz="1400" spc="-35" dirty="0">
                <a:latin typeface="Calibri"/>
                <a:cs typeface="Calibri"/>
              </a:rPr>
              <a:t> </a:t>
            </a:r>
            <a:r>
              <a:rPr lang="en-US" sz="1400" spc="-10" dirty="0">
                <a:latin typeface="Calibri"/>
                <a:cs typeface="Calibri"/>
              </a:rPr>
              <a:t>Assessment:</a:t>
            </a:r>
            <a:endParaRPr lang="en-US" sz="1400" dirty="0">
              <a:latin typeface="Calibri"/>
              <a:cs typeface="Calibri"/>
            </a:endParaRPr>
          </a:p>
          <a:p>
            <a:r>
              <a:rPr lang="en-US" sz="1400" spc="-10" dirty="0">
                <a:latin typeface="Calibri"/>
                <a:cs typeface="Calibri"/>
              </a:rPr>
              <a:t>Not applicable</a:t>
            </a:r>
          </a:p>
          <a:p>
            <a:endParaRPr lang="en-US" sz="1400" dirty="0">
              <a:latin typeface="Calibri"/>
              <a:cs typeface="Calibri"/>
            </a:endParaRPr>
          </a:p>
          <a:p>
            <a:pPr marL="0" indent="0" algn="ctr">
              <a:buFont typeface="Arial" panose="020B0604020202020204" pitchFamily="34" charset="0"/>
              <a:buNone/>
            </a:pPr>
            <a:endParaRPr lang="en-US" dirty="0"/>
          </a:p>
        </p:txBody>
      </p:sp>
      <p:sp>
        <p:nvSpPr>
          <p:cNvPr id="17" name="Content Placeholder 4">
            <a:extLst>
              <a:ext uri="{FF2B5EF4-FFF2-40B4-BE49-F238E27FC236}">
                <a16:creationId xmlns:a16="http://schemas.microsoft.com/office/drawing/2014/main" id="{B906DBAB-8015-5BB8-71D5-32CE818DA699}"/>
              </a:ext>
            </a:extLst>
          </p:cNvPr>
          <p:cNvSpPr txBox="1">
            <a:spLocks/>
          </p:cNvSpPr>
          <p:nvPr/>
        </p:nvSpPr>
        <p:spPr>
          <a:xfrm>
            <a:off x="838200" y="3720110"/>
            <a:ext cx="5181600" cy="236869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500" spc="-10" dirty="0">
                <a:latin typeface="Calibri"/>
                <a:cs typeface="Calibri"/>
              </a:rPr>
              <a:t>Training Range/Facility &amp; Simulator Assessment :</a:t>
            </a:r>
            <a:br>
              <a:rPr lang="en-US" sz="1400" spc="-10" dirty="0">
                <a:latin typeface="Calibri"/>
                <a:cs typeface="Calibri"/>
              </a:rPr>
            </a:br>
            <a:endParaRPr lang="en-US" sz="1200" i="1" spc="-10" dirty="0">
              <a:latin typeface="Calibri"/>
              <a:cs typeface="Calibri"/>
            </a:endParaRPr>
          </a:p>
          <a:p>
            <a:pPr marL="0" indent="0">
              <a:buFont typeface="Arial" panose="020B0604020202020204" pitchFamily="34" charset="0"/>
              <a:buNone/>
            </a:pPr>
            <a:r>
              <a:rPr lang="en-US" sz="1500" spc="-10" dirty="0">
                <a:latin typeface="Calibri"/>
                <a:cs typeface="Calibri"/>
              </a:rPr>
              <a:t>Applied Instruction Facility</a:t>
            </a:r>
          </a:p>
          <a:p>
            <a:r>
              <a:rPr lang="en-US" sz="1500" dirty="0">
                <a:latin typeface="Calibri"/>
                <a:cs typeface="Calibri"/>
              </a:rPr>
              <a:t>SURG CO B Requirement: 1,776 SF</a:t>
            </a:r>
          </a:p>
          <a:p>
            <a:r>
              <a:rPr lang="en-US" sz="1500" dirty="0">
                <a:latin typeface="Calibri"/>
                <a:cs typeface="Calibri"/>
              </a:rPr>
              <a:t>3D MED BN (current facilities) – (existing requirement):</a:t>
            </a:r>
          </a:p>
          <a:p>
            <a:pPr marL="457200" lvl="1" indent="0">
              <a:buNone/>
            </a:pPr>
            <a:r>
              <a:rPr lang="en-US" sz="1500" dirty="0">
                <a:latin typeface="Calibri"/>
                <a:cs typeface="Calibri"/>
              </a:rPr>
              <a:t>(3,139 SF) – (2,815 SF) = </a:t>
            </a:r>
            <a:r>
              <a:rPr lang="en-US" sz="1500" dirty="0">
                <a:highlight>
                  <a:srgbClr val="00FF00"/>
                </a:highlight>
                <a:latin typeface="Calibri"/>
                <a:cs typeface="Calibri"/>
              </a:rPr>
              <a:t>324 SF </a:t>
            </a:r>
            <a:r>
              <a:rPr lang="en-US" sz="1500" dirty="0">
                <a:latin typeface="Calibri"/>
                <a:cs typeface="Calibri"/>
                <a:sym typeface="Wingdings" panose="05000000000000000000" pitchFamily="2" charset="2"/>
              </a:rPr>
              <a:t>Area Surplus </a:t>
            </a:r>
            <a:endParaRPr lang="en-US" sz="1500" dirty="0">
              <a:latin typeface="Calibri"/>
              <a:cs typeface="Calibri"/>
            </a:endParaRPr>
          </a:p>
          <a:p>
            <a:pPr marL="0" indent="0" algn="ctr">
              <a:buNone/>
            </a:pPr>
            <a:r>
              <a:rPr lang="en-US" sz="1500" b="1" dirty="0">
                <a:latin typeface="Calibri"/>
                <a:cs typeface="Calibri"/>
              </a:rPr>
              <a:t>3D MED BN has a small surplus of classroom space. Surg Co B can be feasibly co-located in existing 3D MED BN spaces but likely to have some operational impacts. NOTE: existing training space is not optimized due to building deficiencies.</a:t>
            </a:r>
            <a:endParaRPr lang="en-US" sz="1500" dirty="0"/>
          </a:p>
        </p:txBody>
      </p:sp>
      <p:sp>
        <p:nvSpPr>
          <p:cNvPr id="18" name="Content Placeholder 4">
            <a:extLst>
              <a:ext uri="{FF2B5EF4-FFF2-40B4-BE49-F238E27FC236}">
                <a16:creationId xmlns:a16="http://schemas.microsoft.com/office/drawing/2014/main" id="{1C130446-D3FB-B97C-00D6-2BB1976240F6}"/>
              </a:ext>
            </a:extLst>
          </p:cNvPr>
          <p:cNvSpPr txBox="1">
            <a:spLocks/>
          </p:cNvSpPr>
          <p:nvPr/>
        </p:nvSpPr>
        <p:spPr>
          <a:xfrm>
            <a:off x="6228016" y="3720110"/>
            <a:ext cx="5181600" cy="23686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spc="-10" dirty="0">
                <a:latin typeface="Calibri"/>
                <a:cs typeface="Calibri"/>
              </a:rPr>
              <a:t>Fuel Assessments:</a:t>
            </a:r>
            <a:br>
              <a:rPr lang="en-US" sz="1400" spc="-10" dirty="0">
                <a:latin typeface="Calibri"/>
                <a:cs typeface="Calibri"/>
              </a:rPr>
            </a:br>
            <a:r>
              <a:rPr lang="en-US" sz="1200" i="1" spc="-10" dirty="0">
                <a:latin typeface="Calibri"/>
                <a:cs typeface="Calibri"/>
              </a:rPr>
              <a:t>(Define vehicle, generator, aircraft, or other fuel requirements)</a:t>
            </a:r>
          </a:p>
          <a:p>
            <a:r>
              <a:rPr lang="en-US" sz="1400" spc="-10" dirty="0">
                <a:latin typeface="Calibri"/>
                <a:cs typeface="Calibri"/>
              </a:rPr>
              <a:t>Insert Here</a:t>
            </a:r>
          </a:p>
          <a:p>
            <a:endParaRPr lang="en-US" sz="1400" dirty="0">
              <a:latin typeface="Calibri"/>
              <a:cs typeface="Calibri"/>
            </a:endParaRPr>
          </a:p>
          <a:p>
            <a:pPr marL="0" indent="0" algn="ctr">
              <a:buFont typeface="Arial" panose="020B0604020202020204" pitchFamily="34" charset="0"/>
              <a:buNone/>
            </a:pPr>
            <a:endParaRPr lang="en-US" dirty="0"/>
          </a:p>
        </p:txBody>
      </p:sp>
      <p:sp>
        <p:nvSpPr>
          <p:cNvPr id="7" name="object 6">
            <a:extLst>
              <a:ext uri="{FF2B5EF4-FFF2-40B4-BE49-F238E27FC236}">
                <a16:creationId xmlns:a16="http://schemas.microsoft.com/office/drawing/2014/main" id="{50A28840-87A4-F79F-40BA-E3DF4D713852}"/>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8" name="object 5">
            <a:extLst>
              <a:ext uri="{FF2B5EF4-FFF2-40B4-BE49-F238E27FC236}">
                <a16:creationId xmlns:a16="http://schemas.microsoft.com/office/drawing/2014/main" id="{43576D6C-2E35-35ED-C9D9-89460CD66C60}"/>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3440740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65E488-D228-5928-76FE-D0B400D8E83F}"/>
              </a:ext>
            </a:extLst>
          </p:cNvPr>
          <p:cNvSpPr>
            <a:spLocks noGrp="1"/>
          </p:cNvSpPr>
          <p:nvPr>
            <p:ph type="title"/>
          </p:nvPr>
        </p:nvSpPr>
        <p:spPr>
          <a:xfrm>
            <a:off x="2412492" y="365126"/>
            <a:ext cx="8724899" cy="614236"/>
          </a:xfrm>
        </p:spPr>
        <p:txBody>
          <a:bodyPr>
            <a:normAutofit/>
          </a:bodyPr>
          <a:lstStyle/>
          <a:p>
            <a:pPr algn="r"/>
            <a:r>
              <a:rPr lang="en-US" sz="3200" dirty="0">
                <a:latin typeface="Calibri Light" panose="020F0302020204030204" pitchFamily="34" charset="0"/>
                <a:ea typeface="Calibri Light" panose="020F0302020204030204" pitchFamily="34" charset="0"/>
                <a:cs typeface="Calibri Light" panose="020F0302020204030204" pitchFamily="34" charset="0"/>
              </a:rPr>
              <a:t>Functional Requirements </a:t>
            </a:r>
            <a:r>
              <a:rPr lang="en-US" dirty="0"/>
              <a:t>Assessment</a:t>
            </a:r>
            <a:endParaRPr lang="en-US" sz="3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Content Placeholder 4">
            <a:extLst>
              <a:ext uri="{FF2B5EF4-FFF2-40B4-BE49-F238E27FC236}">
                <a16:creationId xmlns:a16="http://schemas.microsoft.com/office/drawing/2014/main" id="{7C93003A-8FC5-0C0E-C63C-07D760348794}"/>
              </a:ext>
            </a:extLst>
          </p:cNvPr>
          <p:cNvSpPr>
            <a:spLocks noGrp="1"/>
          </p:cNvSpPr>
          <p:nvPr>
            <p:ph sz="half" idx="1"/>
          </p:nvPr>
        </p:nvSpPr>
        <p:spPr>
          <a:xfrm>
            <a:off x="1026032" y="1078022"/>
            <a:ext cx="4993768" cy="2444821"/>
          </a:xfrm>
        </p:spPr>
        <p:txBody>
          <a:bodyPr/>
          <a:lstStyle/>
          <a:p>
            <a:pPr marL="0" indent="0" algn="ctr">
              <a:buNone/>
            </a:pPr>
            <a:r>
              <a:rPr lang="en-US" sz="1800" dirty="0">
                <a:latin typeface="Calibri"/>
                <a:cs typeface="Calibri"/>
              </a:rPr>
              <a:t>    </a:t>
            </a:r>
            <a:r>
              <a:rPr lang="en-US" sz="1200" dirty="0">
                <a:latin typeface="Calibri"/>
                <a:cs typeface="Calibri"/>
              </a:rPr>
              <a:t>            </a:t>
            </a:r>
            <a:r>
              <a:rPr lang="en-US" sz="1400" dirty="0">
                <a:latin typeface="Calibri"/>
                <a:cs typeface="Calibri"/>
              </a:rPr>
              <a:t>MCCS &amp; Quality of Life </a:t>
            </a:r>
            <a:r>
              <a:rPr lang="en-US" sz="1400" spc="-10" dirty="0">
                <a:latin typeface="Calibri"/>
                <a:cs typeface="Calibri"/>
              </a:rPr>
              <a:t>Assessment</a:t>
            </a:r>
            <a:r>
              <a:rPr lang="en-US" sz="1400" dirty="0">
                <a:latin typeface="Calibri"/>
                <a:cs typeface="Calibri"/>
              </a:rPr>
              <a:t>:</a:t>
            </a:r>
            <a:br>
              <a:rPr lang="en-US" sz="1400" dirty="0">
                <a:latin typeface="Calibri"/>
                <a:cs typeface="Calibri"/>
              </a:rPr>
            </a:br>
            <a:r>
              <a:rPr lang="en-US" sz="1200" i="1" dirty="0">
                <a:latin typeface="Calibri"/>
                <a:cs typeface="Calibri"/>
              </a:rPr>
              <a:t>               (Define access to CDC, schools, exchanges, </a:t>
            </a:r>
            <a:r>
              <a:rPr lang="en-US" sz="1200" i="1" dirty="0" err="1">
                <a:latin typeface="Calibri"/>
                <a:cs typeface="Calibri"/>
              </a:rPr>
              <a:t>etc</a:t>
            </a:r>
            <a:r>
              <a:rPr lang="en-US" sz="1200" i="1" dirty="0">
                <a:latin typeface="Calibri"/>
                <a:cs typeface="Calibri"/>
              </a:rPr>
              <a:t>)</a:t>
            </a:r>
            <a:endParaRPr lang="en-US" sz="1400" dirty="0">
              <a:latin typeface="Calibri"/>
              <a:cs typeface="Calibri"/>
            </a:endParaRPr>
          </a:p>
          <a:p>
            <a:r>
              <a:rPr lang="en-US" sz="1400" dirty="0">
                <a:latin typeface="Calibri"/>
                <a:cs typeface="Calibri"/>
              </a:rPr>
              <a:t>Insert Here</a:t>
            </a:r>
          </a:p>
          <a:p>
            <a:pPr marL="0" indent="0" algn="ctr">
              <a:buNone/>
            </a:pP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Slide Number Placeholder 9">
            <a:extLst>
              <a:ext uri="{FF2B5EF4-FFF2-40B4-BE49-F238E27FC236}">
                <a16:creationId xmlns:a16="http://schemas.microsoft.com/office/drawing/2014/main" id="{6032EEB1-7441-C228-3F17-267245A5D1C9}"/>
              </a:ext>
            </a:extLst>
          </p:cNvPr>
          <p:cNvSpPr>
            <a:spLocks noGrp="1"/>
          </p:cNvSpPr>
          <p:nvPr>
            <p:ph type="sldNum" sz="quarter" idx="12"/>
          </p:nvPr>
        </p:nvSpPr>
        <p:spPr/>
        <p:txBody>
          <a:bodyPr/>
          <a:lstStyle/>
          <a:p>
            <a:fld id="{683BFD01-D97D-47BB-8E39-D4B87178CFC1}" type="slidenum">
              <a:rPr lang="en-US" smtClean="0"/>
              <a:t>8</a:t>
            </a:fld>
            <a:endParaRPr lang="en-US"/>
          </a:p>
        </p:txBody>
      </p:sp>
      <p:cxnSp>
        <p:nvCxnSpPr>
          <p:cNvPr id="2" name="Straight Connector 1">
            <a:extLst>
              <a:ext uri="{FF2B5EF4-FFF2-40B4-BE49-F238E27FC236}">
                <a16:creationId xmlns:a16="http://schemas.microsoft.com/office/drawing/2014/main" id="{EC5FA6E1-6EC8-9C9D-98FF-B92C566CD76B}"/>
              </a:ext>
            </a:extLst>
          </p:cNvPr>
          <p:cNvCxnSpPr>
            <a:cxnSpLocks/>
          </p:cNvCxnSpPr>
          <p:nvPr/>
        </p:nvCxnSpPr>
        <p:spPr>
          <a:xfrm>
            <a:off x="6096000" y="1154194"/>
            <a:ext cx="35432" cy="5005973"/>
          </a:xfrm>
          <a:prstGeom prst="line">
            <a:avLst/>
          </a:prstGeom>
          <a:ln/>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A74632B1-AD76-EBB6-8C54-6F6A94098542}"/>
              </a:ext>
            </a:extLst>
          </p:cNvPr>
          <p:cNvCxnSpPr>
            <a:cxnSpLocks/>
          </p:cNvCxnSpPr>
          <p:nvPr/>
        </p:nvCxnSpPr>
        <p:spPr>
          <a:xfrm>
            <a:off x="990600" y="3621500"/>
            <a:ext cx="10363200" cy="0"/>
          </a:xfrm>
          <a:prstGeom prst="line">
            <a:avLst/>
          </a:prstGeom>
          <a:ln/>
        </p:spPr>
        <p:style>
          <a:lnRef idx="2">
            <a:schemeClr val="dk1"/>
          </a:lnRef>
          <a:fillRef idx="0">
            <a:schemeClr val="dk1"/>
          </a:fillRef>
          <a:effectRef idx="1">
            <a:schemeClr val="dk1"/>
          </a:effectRef>
          <a:fontRef idx="minor">
            <a:schemeClr val="tx1"/>
          </a:fontRef>
        </p:style>
      </p:cxnSp>
      <p:sp>
        <p:nvSpPr>
          <p:cNvPr id="16" name="Content Placeholder 4">
            <a:extLst>
              <a:ext uri="{FF2B5EF4-FFF2-40B4-BE49-F238E27FC236}">
                <a16:creationId xmlns:a16="http://schemas.microsoft.com/office/drawing/2014/main" id="{8C59539C-8CD0-297E-A25F-92DA6DE437F3}"/>
              </a:ext>
            </a:extLst>
          </p:cNvPr>
          <p:cNvSpPr txBox="1">
            <a:spLocks/>
          </p:cNvSpPr>
          <p:nvPr/>
        </p:nvSpPr>
        <p:spPr>
          <a:xfrm>
            <a:off x="6207632" y="1082786"/>
            <a:ext cx="5181600" cy="24400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95"/>
              </a:spcBef>
              <a:buNone/>
              <a:tabLst>
                <a:tab pos="243840" algn="l"/>
              </a:tabLst>
            </a:pPr>
            <a:r>
              <a:rPr lang="en-US" sz="1400" dirty="0">
                <a:latin typeface="Calibri"/>
                <a:cs typeface="Calibri"/>
              </a:rPr>
              <a:t>Medical Care Support </a:t>
            </a:r>
            <a:r>
              <a:rPr lang="en-US" sz="1400" spc="-10" dirty="0">
                <a:latin typeface="Calibri"/>
                <a:cs typeface="Calibri"/>
              </a:rPr>
              <a:t>Assessment </a:t>
            </a:r>
            <a:r>
              <a:rPr lang="en-US" sz="1400" dirty="0">
                <a:latin typeface="Calibri"/>
                <a:cs typeface="Calibri"/>
              </a:rPr>
              <a:t>:</a:t>
            </a:r>
            <a:br>
              <a:rPr lang="en-US" sz="1400" dirty="0">
                <a:latin typeface="Calibri"/>
                <a:cs typeface="Calibri"/>
              </a:rPr>
            </a:br>
            <a:r>
              <a:rPr lang="en-US" sz="1200" i="1" dirty="0">
                <a:latin typeface="Calibri"/>
                <a:cs typeface="Calibri"/>
              </a:rPr>
              <a:t>(Define specialized medical needs or requirements for uniform and </a:t>
            </a:r>
            <a:r>
              <a:rPr lang="en-US" sz="1200" i="1" dirty="0" err="1">
                <a:latin typeface="Calibri"/>
                <a:cs typeface="Calibri"/>
              </a:rPr>
              <a:t>dependants</a:t>
            </a:r>
            <a:r>
              <a:rPr lang="en-US" sz="1200" i="1" dirty="0">
                <a:latin typeface="Calibri"/>
                <a:cs typeface="Calibri"/>
              </a:rPr>
              <a:t>)</a:t>
            </a:r>
          </a:p>
          <a:p>
            <a:r>
              <a:rPr lang="en-US" sz="1400" spc="-10" dirty="0">
                <a:latin typeface="Calibri"/>
                <a:cs typeface="Calibri"/>
              </a:rPr>
              <a:t>Insert Here</a:t>
            </a:r>
          </a:p>
          <a:p>
            <a:endParaRPr lang="en-US" sz="1400" dirty="0">
              <a:latin typeface="Calibri"/>
              <a:cs typeface="Calibri"/>
            </a:endParaRPr>
          </a:p>
          <a:p>
            <a:pPr marL="0" indent="0" algn="ctr">
              <a:buFont typeface="Arial" panose="020B0604020202020204" pitchFamily="34" charset="0"/>
              <a:buNone/>
            </a:pPr>
            <a:endParaRPr lang="en-US" dirty="0"/>
          </a:p>
        </p:txBody>
      </p:sp>
      <p:sp>
        <p:nvSpPr>
          <p:cNvPr id="17" name="Content Placeholder 4">
            <a:extLst>
              <a:ext uri="{FF2B5EF4-FFF2-40B4-BE49-F238E27FC236}">
                <a16:creationId xmlns:a16="http://schemas.microsoft.com/office/drawing/2014/main" id="{B906DBAB-8015-5BB8-71D5-32CE818DA699}"/>
              </a:ext>
            </a:extLst>
          </p:cNvPr>
          <p:cNvSpPr txBox="1">
            <a:spLocks/>
          </p:cNvSpPr>
          <p:nvPr/>
        </p:nvSpPr>
        <p:spPr>
          <a:xfrm>
            <a:off x="838200" y="3720110"/>
            <a:ext cx="5181600" cy="23686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spc="-10" dirty="0">
                <a:latin typeface="Calibri"/>
                <a:cs typeface="Calibri"/>
              </a:rPr>
              <a:t>Fire &amp; Emergency Services Assessment :</a:t>
            </a:r>
            <a:br>
              <a:rPr lang="en-US" sz="1400" spc="-10" dirty="0">
                <a:latin typeface="Calibri"/>
                <a:cs typeface="Calibri"/>
              </a:rPr>
            </a:br>
            <a:r>
              <a:rPr lang="en-US" sz="1200" i="1" spc="-10" dirty="0">
                <a:latin typeface="Calibri"/>
                <a:cs typeface="Calibri"/>
              </a:rPr>
              <a:t>(Define special FES requirements for airfield operation or installation)</a:t>
            </a:r>
            <a:endParaRPr lang="en-US" sz="1100" spc="-10" dirty="0">
              <a:latin typeface="Calibri"/>
              <a:cs typeface="Calibri"/>
            </a:endParaRPr>
          </a:p>
          <a:p>
            <a:r>
              <a:rPr lang="en-US" sz="1400" spc="-10" dirty="0">
                <a:latin typeface="Calibri"/>
                <a:cs typeface="Calibri"/>
              </a:rPr>
              <a:t>Insert Here</a:t>
            </a:r>
          </a:p>
          <a:p>
            <a:endParaRPr lang="en-US" sz="1400" dirty="0">
              <a:latin typeface="Calibri"/>
              <a:cs typeface="Calibri"/>
            </a:endParaRPr>
          </a:p>
          <a:p>
            <a:pPr marL="0" indent="0" algn="ctr">
              <a:buFont typeface="Arial" panose="020B0604020202020204" pitchFamily="34" charset="0"/>
              <a:buNone/>
            </a:pPr>
            <a:endParaRPr lang="en-US" dirty="0"/>
          </a:p>
        </p:txBody>
      </p:sp>
      <p:sp>
        <p:nvSpPr>
          <p:cNvPr id="18" name="Content Placeholder 4">
            <a:extLst>
              <a:ext uri="{FF2B5EF4-FFF2-40B4-BE49-F238E27FC236}">
                <a16:creationId xmlns:a16="http://schemas.microsoft.com/office/drawing/2014/main" id="{1C130446-D3FB-B97C-00D6-2BB1976240F6}"/>
              </a:ext>
            </a:extLst>
          </p:cNvPr>
          <p:cNvSpPr txBox="1">
            <a:spLocks/>
          </p:cNvSpPr>
          <p:nvPr/>
        </p:nvSpPr>
        <p:spPr>
          <a:xfrm>
            <a:off x="6228016" y="3720110"/>
            <a:ext cx="5181600" cy="23686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spc="-10" dirty="0">
                <a:latin typeface="Calibri"/>
                <a:cs typeface="Calibri"/>
              </a:rPr>
              <a:t>Food Service Assessment :</a:t>
            </a:r>
            <a:br>
              <a:rPr lang="en-US" sz="1400" spc="-10" dirty="0">
                <a:latin typeface="Calibri"/>
                <a:cs typeface="Calibri"/>
              </a:rPr>
            </a:br>
            <a:r>
              <a:rPr lang="en-US" sz="1100" i="1" spc="-10" dirty="0">
                <a:latin typeface="Calibri"/>
                <a:cs typeface="Calibri"/>
              </a:rPr>
              <a:t>(Define food service  such as mid-rats, normal </a:t>
            </a:r>
            <a:r>
              <a:rPr lang="en-US" sz="1100" i="1" spc="-10" dirty="0" err="1">
                <a:latin typeface="Calibri"/>
                <a:cs typeface="Calibri"/>
              </a:rPr>
              <a:t>chowhall</a:t>
            </a:r>
            <a:r>
              <a:rPr lang="en-US" sz="1100" i="1" spc="-10" dirty="0">
                <a:latin typeface="Calibri"/>
                <a:cs typeface="Calibri"/>
              </a:rPr>
              <a:t> operations, field requirement</a:t>
            </a:r>
            <a:r>
              <a:rPr lang="en-US" sz="1200" spc="-10" dirty="0">
                <a:latin typeface="Calibri"/>
                <a:cs typeface="Calibri"/>
              </a:rPr>
              <a:t>s)</a:t>
            </a:r>
            <a:endParaRPr lang="en-US" sz="1400" spc="-10" dirty="0">
              <a:latin typeface="Calibri"/>
              <a:cs typeface="Calibri"/>
            </a:endParaRPr>
          </a:p>
          <a:p>
            <a:r>
              <a:rPr lang="en-US" sz="1400" spc="-10" dirty="0">
                <a:latin typeface="Calibri"/>
                <a:cs typeface="Calibri"/>
              </a:rPr>
              <a:t>Insert Here</a:t>
            </a:r>
          </a:p>
          <a:p>
            <a:endParaRPr lang="en-US" sz="1400" dirty="0">
              <a:latin typeface="Calibri"/>
              <a:cs typeface="Calibri"/>
            </a:endParaRPr>
          </a:p>
          <a:p>
            <a:pPr marL="0" indent="0" algn="ctr">
              <a:buFont typeface="Arial" panose="020B0604020202020204" pitchFamily="34" charset="0"/>
              <a:buNone/>
            </a:pPr>
            <a:endParaRPr lang="en-US" dirty="0"/>
          </a:p>
        </p:txBody>
      </p:sp>
      <p:sp>
        <p:nvSpPr>
          <p:cNvPr id="7" name="object 6">
            <a:extLst>
              <a:ext uri="{FF2B5EF4-FFF2-40B4-BE49-F238E27FC236}">
                <a16:creationId xmlns:a16="http://schemas.microsoft.com/office/drawing/2014/main" id="{377E9089-FE8D-332C-5A90-5D6393844B57}"/>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8" name="object 5">
            <a:extLst>
              <a:ext uri="{FF2B5EF4-FFF2-40B4-BE49-F238E27FC236}">
                <a16:creationId xmlns:a16="http://schemas.microsoft.com/office/drawing/2014/main" id="{60C275FE-7920-4C0A-8263-8632493EE947}"/>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1363845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65E488-D228-5928-76FE-D0B400D8E83F}"/>
              </a:ext>
            </a:extLst>
          </p:cNvPr>
          <p:cNvSpPr>
            <a:spLocks noGrp="1"/>
          </p:cNvSpPr>
          <p:nvPr>
            <p:ph type="title"/>
          </p:nvPr>
        </p:nvSpPr>
        <p:spPr>
          <a:xfrm>
            <a:off x="2412492" y="365126"/>
            <a:ext cx="8724899" cy="614236"/>
          </a:xfrm>
        </p:spPr>
        <p:txBody>
          <a:bodyPr>
            <a:normAutofit/>
          </a:bodyPr>
          <a:lstStyle/>
          <a:p>
            <a:pPr algn="r"/>
            <a:r>
              <a:rPr lang="en-US" sz="3200" dirty="0">
                <a:latin typeface="Calibri Light" panose="020F0302020204030204" pitchFamily="34" charset="0"/>
                <a:ea typeface="Calibri Light" panose="020F0302020204030204" pitchFamily="34" charset="0"/>
                <a:cs typeface="Calibri Light" panose="020F0302020204030204" pitchFamily="34" charset="0"/>
              </a:rPr>
              <a:t>Functional Requirements </a:t>
            </a:r>
            <a:r>
              <a:rPr lang="en-US" dirty="0"/>
              <a:t>Assessment</a:t>
            </a:r>
            <a:endParaRPr lang="en-US" sz="3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Content Placeholder 4">
            <a:extLst>
              <a:ext uri="{FF2B5EF4-FFF2-40B4-BE49-F238E27FC236}">
                <a16:creationId xmlns:a16="http://schemas.microsoft.com/office/drawing/2014/main" id="{7C93003A-8FC5-0C0E-C63C-07D760348794}"/>
              </a:ext>
            </a:extLst>
          </p:cNvPr>
          <p:cNvSpPr>
            <a:spLocks noGrp="1"/>
          </p:cNvSpPr>
          <p:nvPr>
            <p:ph sz="half" idx="1"/>
          </p:nvPr>
        </p:nvSpPr>
        <p:spPr>
          <a:xfrm>
            <a:off x="1026032" y="1078022"/>
            <a:ext cx="4993768" cy="2444821"/>
          </a:xfrm>
        </p:spPr>
        <p:txBody>
          <a:bodyPr/>
          <a:lstStyle/>
          <a:p>
            <a:pPr marL="0" indent="0" algn="ctr">
              <a:buNone/>
            </a:pPr>
            <a:r>
              <a:rPr lang="en-US" sz="1800" dirty="0">
                <a:latin typeface="Calibri"/>
                <a:cs typeface="Calibri"/>
              </a:rPr>
              <a:t>    </a:t>
            </a:r>
            <a:r>
              <a:rPr lang="en-US" sz="1200" dirty="0">
                <a:latin typeface="Calibri"/>
                <a:cs typeface="Calibri"/>
              </a:rPr>
              <a:t>            </a:t>
            </a:r>
            <a:r>
              <a:rPr lang="en-US" sz="1400" dirty="0">
                <a:latin typeface="Calibri"/>
                <a:cs typeface="Calibri"/>
              </a:rPr>
              <a:t>Contracting </a:t>
            </a:r>
            <a:r>
              <a:rPr lang="en-US" sz="1400" spc="-10" dirty="0">
                <a:latin typeface="Calibri"/>
                <a:cs typeface="Calibri"/>
              </a:rPr>
              <a:t>Assessment </a:t>
            </a:r>
            <a:r>
              <a:rPr lang="en-US" sz="1400" dirty="0">
                <a:latin typeface="Calibri"/>
                <a:cs typeface="Calibri"/>
              </a:rPr>
              <a:t>:</a:t>
            </a:r>
            <a:br>
              <a:rPr lang="en-US" sz="1400" dirty="0">
                <a:latin typeface="Calibri"/>
                <a:cs typeface="Calibri"/>
              </a:rPr>
            </a:br>
            <a:r>
              <a:rPr lang="en-US" sz="1200" i="1" dirty="0">
                <a:latin typeface="Calibri"/>
                <a:cs typeface="Calibri"/>
              </a:rPr>
              <a:t>             (Define specialized contracting support from installation)</a:t>
            </a:r>
            <a:endParaRPr lang="en-US" sz="1400" i="1" dirty="0">
              <a:latin typeface="Calibri"/>
              <a:cs typeface="Calibri"/>
            </a:endParaRPr>
          </a:p>
          <a:p>
            <a:r>
              <a:rPr lang="en-US" sz="1400" dirty="0">
                <a:latin typeface="Calibri"/>
                <a:cs typeface="Calibri"/>
              </a:rPr>
              <a:t>Insert Here</a:t>
            </a:r>
          </a:p>
          <a:p>
            <a:pPr marL="0" indent="0" algn="ctr">
              <a:buNone/>
            </a:pP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Slide Number Placeholder 9">
            <a:extLst>
              <a:ext uri="{FF2B5EF4-FFF2-40B4-BE49-F238E27FC236}">
                <a16:creationId xmlns:a16="http://schemas.microsoft.com/office/drawing/2014/main" id="{6032EEB1-7441-C228-3F17-267245A5D1C9}"/>
              </a:ext>
            </a:extLst>
          </p:cNvPr>
          <p:cNvSpPr>
            <a:spLocks noGrp="1"/>
          </p:cNvSpPr>
          <p:nvPr>
            <p:ph type="sldNum" sz="quarter" idx="12"/>
          </p:nvPr>
        </p:nvSpPr>
        <p:spPr/>
        <p:txBody>
          <a:bodyPr/>
          <a:lstStyle/>
          <a:p>
            <a:fld id="{683BFD01-D97D-47BB-8E39-D4B87178CFC1}" type="slidenum">
              <a:rPr lang="en-US" smtClean="0"/>
              <a:t>9</a:t>
            </a:fld>
            <a:endParaRPr lang="en-US"/>
          </a:p>
        </p:txBody>
      </p:sp>
      <p:cxnSp>
        <p:nvCxnSpPr>
          <p:cNvPr id="2" name="Straight Connector 1">
            <a:extLst>
              <a:ext uri="{FF2B5EF4-FFF2-40B4-BE49-F238E27FC236}">
                <a16:creationId xmlns:a16="http://schemas.microsoft.com/office/drawing/2014/main" id="{EC5FA6E1-6EC8-9C9D-98FF-B92C566CD76B}"/>
              </a:ext>
            </a:extLst>
          </p:cNvPr>
          <p:cNvCxnSpPr>
            <a:cxnSpLocks/>
          </p:cNvCxnSpPr>
          <p:nvPr/>
        </p:nvCxnSpPr>
        <p:spPr>
          <a:xfrm>
            <a:off x="6096000" y="1154194"/>
            <a:ext cx="35432" cy="5005973"/>
          </a:xfrm>
          <a:prstGeom prst="line">
            <a:avLst/>
          </a:prstGeom>
          <a:ln/>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A74632B1-AD76-EBB6-8C54-6F6A94098542}"/>
              </a:ext>
            </a:extLst>
          </p:cNvPr>
          <p:cNvCxnSpPr>
            <a:cxnSpLocks/>
          </p:cNvCxnSpPr>
          <p:nvPr/>
        </p:nvCxnSpPr>
        <p:spPr>
          <a:xfrm>
            <a:off x="990600" y="3621500"/>
            <a:ext cx="10363200" cy="0"/>
          </a:xfrm>
          <a:prstGeom prst="line">
            <a:avLst/>
          </a:prstGeom>
          <a:ln/>
        </p:spPr>
        <p:style>
          <a:lnRef idx="2">
            <a:schemeClr val="dk1"/>
          </a:lnRef>
          <a:fillRef idx="0">
            <a:schemeClr val="dk1"/>
          </a:fillRef>
          <a:effectRef idx="1">
            <a:schemeClr val="dk1"/>
          </a:effectRef>
          <a:fontRef idx="minor">
            <a:schemeClr val="tx1"/>
          </a:fontRef>
        </p:style>
      </p:cxnSp>
      <p:sp>
        <p:nvSpPr>
          <p:cNvPr id="16" name="Content Placeholder 4">
            <a:extLst>
              <a:ext uri="{FF2B5EF4-FFF2-40B4-BE49-F238E27FC236}">
                <a16:creationId xmlns:a16="http://schemas.microsoft.com/office/drawing/2014/main" id="{8C59539C-8CD0-297E-A25F-92DA6DE437F3}"/>
              </a:ext>
            </a:extLst>
          </p:cNvPr>
          <p:cNvSpPr txBox="1">
            <a:spLocks/>
          </p:cNvSpPr>
          <p:nvPr/>
        </p:nvSpPr>
        <p:spPr>
          <a:xfrm>
            <a:off x="6207632" y="1082786"/>
            <a:ext cx="5181600" cy="244005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95"/>
              </a:spcBef>
              <a:buNone/>
              <a:tabLst>
                <a:tab pos="243840" algn="l"/>
              </a:tabLst>
            </a:pPr>
            <a:r>
              <a:rPr lang="en-US" sz="1400" dirty="0">
                <a:latin typeface="Calibri"/>
                <a:cs typeface="Calibri"/>
              </a:rPr>
              <a:t>Supply </a:t>
            </a:r>
            <a:r>
              <a:rPr lang="en-US" sz="1400" spc="-10" dirty="0">
                <a:latin typeface="Calibri"/>
                <a:cs typeface="Calibri"/>
              </a:rPr>
              <a:t>Assessment </a:t>
            </a:r>
            <a:r>
              <a:rPr lang="en-US" sz="1400" dirty="0">
                <a:latin typeface="Calibri"/>
                <a:cs typeface="Calibri"/>
              </a:rPr>
              <a:t>:</a:t>
            </a:r>
            <a:br>
              <a:rPr lang="en-US" sz="1400" dirty="0">
                <a:latin typeface="Calibri"/>
                <a:cs typeface="Calibri"/>
              </a:rPr>
            </a:br>
            <a:endParaRPr lang="en-US" sz="1400" i="1" dirty="0">
              <a:latin typeface="Calibri"/>
              <a:cs typeface="Calibri"/>
            </a:endParaRPr>
          </a:p>
          <a:p>
            <a:pPr marL="0" indent="0">
              <a:buFont typeface="Arial" panose="020B0604020202020204" pitchFamily="34" charset="0"/>
              <a:buNone/>
            </a:pPr>
            <a:r>
              <a:rPr lang="en-US" sz="1400" spc="-10" dirty="0">
                <a:latin typeface="Calibri"/>
                <a:cs typeface="Calibri"/>
              </a:rPr>
              <a:t>Storage / Warehouse Facilities</a:t>
            </a:r>
          </a:p>
          <a:p>
            <a:r>
              <a:rPr lang="en-US" sz="1400" dirty="0">
                <a:latin typeface="Calibri"/>
                <a:cs typeface="Calibri"/>
              </a:rPr>
              <a:t>SURG CO B Requirement: 800 SF (Camp Foster only)</a:t>
            </a:r>
          </a:p>
          <a:p>
            <a:r>
              <a:rPr lang="en-US" sz="1400" dirty="0">
                <a:latin typeface="Calibri"/>
                <a:cs typeface="Calibri"/>
              </a:rPr>
              <a:t>3D MED BN equipment/materials supply storage is primarily supported by other 3D MLG units (</a:t>
            </a:r>
            <a:r>
              <a:rPr lang="en-US" sz="1400" dirty="0" err="1">
                <a:latin typeface="Calibri"/>
                <a:cs typeface="Calibri"/>
              </a:rPr>
              <a:t>eg</a:t>
            </a:r>
            <a:r>
              <a:rPr lang="en-US" sz="1400" dirty="0">
                <a:latin typeface="Calibri"/>
                <a:cs typeface="Calibri"/>
              </a:rPr>
              <a:t> MEDLOG Kinser). Limited storage space is exclusively utilized aboard Camp Foster currently.</a:t>
            </a:r>
            <a:r>
              <a:rPr lang="en-US" sz="1400" dirty="0">
                <a:latin typeface="Calibri"/>
                <a:cs typeface="Calibri"/>
                <a:sym typeface="Wingdings" panose="05000000000000000000" pitchFamily="2" charset="2"/>
              </a:rPr>
              <a:t> </a:t>
            </a:r>
            <a:endParaRPr lang="en-US" sz="1400" dirty="0">
              <a:latin typeface="Calibri"/>
              <a:cs typeface="Calibri"/>
            </a:endParaRPr>
          </a:p>
          <a:p>
            <a:pPr marL="0" indent="0" algn="ctr">
              <a:buNone/>
            </a:pPr>
            <a:r>
              <a:rPr lang="en-US" sz="1400" b="1" dirty="0">
                <a:latin typeface="Calibri"/>
                <a:cs typeface="Calibri"/>
              </a:rPr>
              <a:t>3D MED BN / 3D MLG has a surplus of storage space available. SURG CO B can be adequately co-located in existing 3D MED BN and/or 3D MLG facilities.</a:t>
            </a:r>
            <a:endParaRPr lang="en-US" sz="1400" dirty="0"/>
          </a:p>
        </p:txBody>
      </p:sp>
      <p:sp>
        <p:nvSpPr>
          <p:cNvPr id="17" name="Content Placeholder 4">
            <a:extLst>
              <a:ext uri="{FF2B5EF4-FFF2-40B4-BE49-F238E27FC236}">
                <a16:creationId xmlns:a16="http://schemas.microsoft.com/office/drawing/2014/main" id="{B906DBAB-8015-5BB8-71D5-32CE818DA699}"/>
              </a:ext>
            </a:extLst>
          </p:cNvPr>
          <p:cNvSpPr txBox="1">
            <a:spLocks/>
          </p:cNvSpPr>
          <p:nvPr/>
        </p:nvSpPr>
        <p:spPr>
          <a:xfrm>
            <a:off x="838200" y="3720110"/>
            <a:ext cx="5181600" cy="23686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spc="-10" dirty="0">
                <a:latin typeface="Calibri"/>
                <a:cs typeface="Calibri"/>
              </a:rPr>
              <a:t>Communications and Telephone Assessment:</a:t>
            </a:r>
            <a:br>
              <a:rPr lang="en-US" sz="1400" spc="-10" dirty="0">
                <a:latin typeface="Calibri"/>
                <a:cs typeface="Calibri"/>
              </a:rPr>
            </a:br>
            <a:r>
              <a:rPr lang="en-US" sz="1400" spc="-10" dirty="0">
                <a:latin typeface="Calibri"/>
                <a:cs typeface="Calibri"/>
              </a:rPr>
              <a:t> </a:t>
            </a:r>
            <a:r>
              <a:rPr lang="en-US" sz="1200" i="1" spc="-10" dirty="0">
                <a:latin typeface="Calibri"/>
                <a:cs typeface="Calibri"/>
              </a:rPr>
              <a:t>(Define communications or other frequency spectrum impacts/requirements):</a:t>
            </a:r>
            <a:endParaRPr lang="en-US" sz="1400" i="1" spc="-10" dirty="0">
              <a:latin typeface="Calibri"/>
              <a:cs typeface="Calibri"/>
            </a:endParaRPr>
          </a:p>
          <a:p>
            <a:r>
              <a:rPr lang="en-US" sz="1400" spc="-10" dirty="0">
                <a:latin typeface="Calibri"/>
                <a:cs typeface="Calibri"/>
              </a:rPr>
              <a:t>Insert Here</a:t>
            </a:r>
          </a:p>
          <a:p>
            <a:endParaRPr lang="en-US" sz="1400" dirty="0">
              <a:latin typeface="Calibri"/>
              <a:cs typeface="Calibri"/>
            </a:endParaRPr>
          </a:p>
          <a:p>
            <a:pPr marL="0" indent="0" algn="ctr">
              <a:buFont typeface="Arial" panose="020B0604020202020204" pitchFamily="34" charset="0"/>
              <a:buNone/>
            </a:pPr>
            <a:endParaRPr lang="en-US" dirty="0"/>
          </a:p>
        </p:txBody>
      </p:sp>
      <p:sp>
        <p:nvSpPr>
          <p:cNvPr id="18" name="Content Placeholder 4">
            <a:extLst>
              <a:ext uri="{FF2B5EF4-FFF2-40B4-BE49-F238E27FC236}">
                <a16:creationId xmlns:a16="http://schemas.microsoft.com/office/drawing/2014/main" id="{1C130446-D3FB-B97C-00D6-2BB1976240F6}"/>
              </a:ext>
            </a:extLst>
          </p:cNvPr>
          <p:cNvSpPr txBox="1">
            <a:spLocks/>
          </p:cNvSpPr>
          <p:nvPr/>
        </p:nvSpPr>
        <p:spPr>
          <a:xfrm>
            <a:off x="6228016" y="3720110"/>
            <a:ext cx="5181600" cy="23686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spc="-10" dirty="0">
                <a:latin typeface="Calibri"/>
                <a:cs typeface="Calibri"/>
              </a:rPr>
              <a:t>Port/Pier Assessment :</a:t>
            </a:r>
            <a:br>
              <a:rPr lang="en-US" sz="1400" spc="-10" dirty="0">
                <a:latin typeface="Calibri"/>
                <a:cs typeface="Calibri"/>
              </a:rPr>
            </a:br>
            <a:r>
              <a:rPr lang="en-US" sz="1200" i="1" spc="-10" dirty="0">
                <a:latin typeface="Calibri"/>
                <a:cs typeface="Calibri"/>
              </a:rPr>
              <a:t>(Define port/pier  or other water access requirements)</a:t>
            </a:r>
          </a:p>
          <a:p>
            <a:r>
              <a:rPr lang="en-US" sz="1400" spc="-10" dirty="0">
                <a:latin typeface="Calibri"/>
                <a:cs typeface="Calibri"/>
              </a:rPr>
              <a:t>Insert Here</a:t>
            </a:r>
          </a:p>
          <a:p>
            <a:endParaRPr lang="en-US" sz="1400" dirty="0">
              <a:latin typeface="Calibri"/>
              <a:cs typeface="Calibri"/>
            </a:endParaRPr>
          </a:p>
          <a:p>
            <a:pPr marL="0" indent="0" algn="ctr">
              <a:buFont typeface="Arial" panose="020B0604020202020204" pitchFamily="34" charset="0"/>
              <a:buNone/>
            </a:pPr>
            <a:endParaRPr lang="en-US" dirty="0"/>
          </a:p>
        </p:txBody>
      </p:sp>
      <p:sp>
        <p:nvSpPr>
          <p:cNvPr id="7" name="object 6">
            <a:extLst>
              <a:ext uri="{FF2B5EF4-FFF2-40B4-BE49-F238E27FC236}">
                <a16:creationId xmlns:a16="http://schemas.microsoft.com/office/drawing/2014/main" id="{9CBD122C-57B9-282C-34FA-3ED0E4E2974D}"/>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8" name="object 5">
            <a:extLst>
              <a:ext uri="{FF2B5EF4-FFF2-40B4-BE49-F238E27FC236}">
                <a16:creationId xmlns:a16="http://schemas.microsoft.com/office/drawing/2014/main" id="{6173AEC6-6DF6-2A0E-DFB9-12625A097C71}"/>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127711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65E488-D228-5928-76FE-D0B400D8E83F}"/>
              </a:ext>
            </a:extLst>
          </p:cNvPr>
          <p:cNvSpPr>
            <a:spLocks noGrp="1"/>
          </p:cNvSpPr>
          <p:nvPr>
            <p:ph type="title"/>
          </p:nvPr>
        </p:nvSpPr>
        <p:spPr>
          <a:xfrm>
            <a:off x="2412492" y="365126"/>
            <a:ext cx="8724899" cy="614236"/>
          </a:xfrm>
        </p:spPr>
        <p:txBody>
          <a:bodyPr>
            <a:normAutofit/>
          </a:bodyPr>
          <a:lstStyle/>
          <a:p>
            <a:pPr algn="r"/>
            <a:r>
              <a:rPr lang="en-US" sz="3200" dirty="0">
                <a:latin typeface="Calibri Light" panose="020F0302020204030204" pitchFamily="34" charset="0"/>
                <a:ea typeface="Calibri Light" panose="020F0302020204030204" pitchFamily="34" charset="0"/>
                <a:cs typeface="Calibri Light" panose="020F0302020204030204" pitchFamily="34" charset="0"/>
              </a:rPr>
              <a:t>Courses of Action Assessment</a:t>
            </a:r>
          </a:p>
        </p:txBody>
      </p:sp>
      <p:sp>
        <p:nvSpPr>
          <p:cNvPr id="5" name="Content Placeholder 4">
            <a:extLst>
              <a:ext uri="{FF2B5EF4-FFF2-40B4-BE49-F238E27FC236}">
                <a16:creationId xmlns:a16="http://schemas.microsoft.com/office/drawing/2014/main" id="{7C93003A-8FC5-0C0E-C63C-07D760348794}"/>
              </a:ext>
            </a:extLst>
          </p:cNvPr>
          <p:cNvSpPr>
            <a:spLocks noGrp="1"/>
          </p:cNvSpPr>
          <p:nvPr>
            <p:ph sz="half" idx="1"/>
          </p:nvPr>
        </p:nvSpPr>
        <p:spPr>
          <a:xfrm>
            <a:off x="1026032" y="1078022"/>
            <a:ext cx="4993768" cy="2444821"/>
          </a:xfrm>
        </p:spPr>
        <p:txBody>
          <a:bodyPr>
            <a:normAutofit lnSpcReduction="10000"/>
          </a:bodyPr>
          <a:lstStyle/>
          <a:p>
            <a:pPr marL="0" indent="0" algn="ctr">
              <a:buNone/>
            </a:pPr>
            <a:r>
              <a:rPr lang="en-US" sz="1200" dirty="0">
                <a:latin typeface="Calibri"/>
                <a:cs typeface="Calibri"/>
              </a:rPr>
              <a:t>  </a:t>
            </a:r>
            <a:r>
              <a:rPr lang="en-US" sz="1400" dirty="0">
                <a:highlight>
                  <a:srgbClr val="FFFF00"/>
                </a:highlight>
                <a:latin typeface="Calibri"/>
                <a:cs typeface="Calibri"/>
              </a:rPr>
              <a:t>COA 1:</a:t>
            </a:r>
          </a:p>
          <a:p>
            <a:pPr marL="0" indent="0" algn="ctr">
              <a:buNone/>
            </a:pPr>
            <a:r>
              <a:rPr lang="en-US" sz="1400" dirty="0">
                <a:highlight>
                  <a:srgbClr val="FFFF00"/>
                </a:highlight>
                <a:latin typeface="Calibri"/>
                <a:cs typeface="Calibri"/>
              </a:rPr>
              <a:t>(GF Installation Recommended)</a:t>
            </a:r>
            <a:br>
              <a:rPr lang="en-US" sz="1400" spc="-10" dirty="0">
                <a:highlight>
                  <a:srgbClr val="FFFF00"/>
                </a:highlight>
                <a:latin typeface="Calibri"/>
                <a:cs typeface="Calibri"/>
              </a:rPr>
            </a:br>
            <a:r>
              <a:rPr lang="en-US" sz="1400" dirty="0">
                <a:latin typeface="Calibri"/>
                <a:cs typeface="Calibri"/>
              </a:rPr>
              <a:t>Work Facilities (short-range solution, 0 to 5-years)</a:t>
            </a:r>
          </a:p>
          <a:p>
            <a:r>
              <a:rPr lang="en-US" sz="1400" dirty="0">
                <a:latin typeface="Calibri"/>
                <a:cs typeface="Calibri"/>
              </a:rPr>
              <a:t>SURG CO B functions are co-located in existing 3D MED BN and/or 3D MLG facilities aboard Camp Foster. MCB Butler provides limited support via facility turn-over(s) and re-assignment(s).</a:t>
            </a:r>
          </a:p>
          <a:p>
            <a:r>
              <a:rPr lang="en-US" sz="1400" dirty="0">
                <a:latin typeface="Calibri"/>
                <a:cs typeface="Calibri"/>
              </a:rPr>
              <a:t>Recommend unit procured equipment (ARMAG) to mitigate armory shortfall.</a:t>
            </a:r>
          </a:p>
          <a:p>
            <a:r>
              <a:rPr lang="en-US" sz="1400" dirty="0">
                <a:latin typeface="Calibri"/>
                <a:cs typeface="Calibri"/>
              </a:rPr>
              <a:t>Beyond 5-years, risk increases significantly due to DPRI POR</a:t>
            </a:r>
          </a:p>
        </p:txBody>
      </p:sp>
      <p:sp>
        <p:nvSpPr>
          <p:cNvPr id="10" name="Slide Number Placeholder 9">
            <a:extLst>
              <a:ext uri="{FF2B5EF4-FFF2-40B4-BE49-F238E27FC236}">
                <a16:creationId xmlns:a16="http://schemas.microsoft.com/office/drawing/2014/main" id="{6032EEB1-7441-C228-3F17-267245A5D1C9}"/>
              </a:ext>
            </a:extLst>
          </p:cNvPr>
          <p:cNvSpPr>
            <a:spLocks noGrp="1"/>
          </p:cNvSpPr>
          <p:nvPr>
            <p:ph type="sldNum" sz="quarter" idx="12"/>
          </p:nvPr>
        </p:nvSpPr>
        <p:spPr/>
        <p:txBody>
          <a:bodyPr/>
          <a:lstStyle/>
          <a:p>
            <a:fld id="{683BFD01-D97D-47BB-8E39-D4B87178CFC1}" type="slidenum">
              <a:rPr lang="en-US" smtClean="0"/>
              <a:t>10</a:t>
            </a:fld>
            <a:endParaRPr lang="en-US"/>
          </a:p>
        </p:txBody>
      </p:sp>
      <p:cxnSp>
        <p:nvCxnSpPr>
          <p:cNvPr id="2" name="Straight Connector 1">
            <a:extLst>
              <a:ext uri="{FF2B5EF4-FFF2-40B4-BE49-F238E27FC236}">
                <a16:creationId xmlns:a16="http://schemas.microsoft.com/office/drawing/2014/main" id="{EC5FA6E1-6EC8-9C9D-98FF-B92C566CD76B}"/>
              </a:ext>
            </a:extLst>
          </p:cNvPr>
          <p:cNvCxnSpPr>
            <a:cxnSpLocks/>
          </p:cNvCxnSpPr>
          <p:nvPr/>
        </p:nvCxnSpPr>
        <p:spPr>
          <a:xfrm>
            <a:off x="6096000" y="1154194"/>
            <a:ext cx="35432" cy="5005973"/>
          </a:xfrm>
          <a:prstGeom prst="line">
            <a:avLst/>
          </a:prstGeom>
          <a:ln/>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A74632B1-AD76-EBB6-8C54-6F6A94098542}"/>
              </a:ext>
            </a:extLst>
          </p:cNvPr>
          <p:cNvCxnSpPr>
            <a:cxnSpLocks/>
          </p:cNvCxnSpPr>
          <p:nvPr/>
        </p:nvCxnSpPr>
        <p:spPr>
          <a:xfrm>
            <a:off x="990600" y="3621500"/>
            <a:ext cx="10363200" cy="0"/>
          </a:xfrm>
          <a:prstGeom prst="line">
            <a:avLst/>
          </a:prstGeom>
          <a:ln/>
        </p:spPr>
        <p:style>
          <a:lnRef idx="2">
            <a:schemeClr val="dk1"/>
          </a:lnRef>
          <a:fillRef idx="0">
            <a:schemeClr val="dk1"/>
          </a:fillRef>
          <a:effectRef idx="1">
            <a:schemeClr val="dk1"/>
          </a:effectRef>
          <a:fontRef idx="minor">
            <a:schemeClr val="tx1"/>
          </a:fontRef>
        </p:style>
      </p:cxnSp>
      <p:sp>
        <p:nvSpPr>
          <p:cNvPr id="16" name="Content Placeholder 4">
            <a:extLst>
              <a:ext uri="{FF2B5EF4-FFF2-40B4-BE49-F238E27FC236}">
                <a16:creationId xmlns:a16="http://schemas.microsoft.com/office/drawing/2014/main" id="{8C59539C-8CD0-297E-A25F-92DA6DE437F3}"/>
              </a:ext>
            </a:extLst>
          </p:cNvPr>
          <p:cNvSpPr txBox="1">
            <a:spLocks/>
          </p:cNvSpPr>
          <p:nvPr/>
        </p:nvSpPr>
        <p:spPr>
          <a:xfrm>
            <a:off x="6207632" y="1082786"/>
            <a:ext cx="5181600" cy="24400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latin typeface="Calibri"/>
                <a:cs typeface="Calibri"/>
              </a:rPr>
              <a:t>COA 2</a:t>
            </a:r>
            <a:r>
              <a:rPr lang="en-US" sz="1400" spc="-10" dirty="0">
                <a:latin typeface="Calibri"/>
                <a:cs typeface="Calibri"/>
              </a:rPr>
              <a:t>:</a:t>
            </a:r>
          </a:p>
          <a:p>
            <a:pPr marL="0" indent="0" algn="ctr">
              <a:spcBef>
                <a:spcPts val="0"/>
              </a:spcBef>
              <a:buNone/>
            </a:pPr>
            <a:endParaRPr lang="en-US" sz="1400" spc="-10" dirty="0">
              <a:latin typeface="Calibri"/>
              <a:cs typeface="Calibri"/>
            </a:endParaRPr>
          </a:p>
          <a:p>
            <a:pPr marL="0" indent="0">
              <a:buNone/>
            </a:pPr>
            <a:r>
              <a:rPr lang="en-US" sz="1400" dirty="0">
                <a:latin typeface="Calibri"/>
                <a:cs typeface="Calibri"/>
              </a:rPr>
              <a:t>Work Facilities (mid-range solution, 10 to 15-years)</a:t>
            </a:r>
          </a:p>
          <a:p>
            <a:r>
              <a:rPr lang="en-US" sz="1400" dirty="0">
                <a:latin typeface="Calibri"/>
                <a:cs typeface="Calibri"/>
              </a:rPr>
              <a:t>SURG CO B &amp; 3d MED BN functions relocate due to DPRI POR. Potential to use vacated 3D MLG facilities aboard Camp Foster. Will require supporting project(s) starting in FY27 to convert facilities to 3d MED BN requirements. </a:t>
            </a:r>
          </a:p>
          <a:p>
            <a:pPr lvl="1">
              <a:buFont typeface="Courier New" panose="02070309020205020404" pitchFamily="49" charset="0"/>
              <a:buChar char="o"/>
            </a:pPr>
            <a:r>
              <a:rPr lang="en-US" sz="1000" dirty="0">
                <a:latin typeface="Calibri"/>
                <a:cs typeface="Calibri"/>
              </a:rPr>
              <a:t>FY27 M2 Conversion for Instructional Facility</a:t>
            </a:r>
          </a:p>
          <a:p>
            <a:pPr lvl="1">
              <a:buFont typeface="Courier New" panose="02070309020205020404" pitchFamily="49" charset="0"/>
              <a:buChar char="o"/>
            </a:pPr>
            <a:r>
              <a:rPr lang="en-US" sz="1000" dirty="0">
                <a:latin typeface="Calibri"/>
                <a:cs typeface="Calibri"/>
              </a:rPr>
              <a:t>FY27 M2 Expansion of Armory OR phased ARMAG unit procurement</a:t>
            </a:r>
          </a:p>
          <a:p>
            <a:pPr lvl="1">
              <a:buFont typeface="Courier New" panose="02070309020205020404" pitchFamily="49" charset="0"/>
              <a:buChar char="o"/>
            </a:pPr>
            <a:r>
              <a:rPr lang="en-US" sz="1000" dirty="0">
                <a:latin typeface="Calibri"/>
                <a:cs typeface="Calibri"/>
              </a:rPr>
              <a:t>FY28 M2 Conversion of Warehouse to Climate Controlled Warehouse</a:t>
            </a:r>
            <a:endParaRPr lang="en-US" sz="1400" dirty="0">
              <a:latin typeface="Calibri"/>
              <a:cs typeface="Calibri"/>
            </a:endParaRPr>
          </a:p>
        </p:txBody>
      </p:sp>
      <p:sp>
        <p:nvSpPr>
          <p:cNvPr id="17" name="Content Placeholder 4">
            <a:extLst>
              <a:ext uri="{FF2B5EF4-FFF2-40B4-BE49-F238E27FC236}">
                <a16:creationId xmlns:a16="http://schemas.microsoft.com/office/drawing/2014/main" id="{B906DBAB-8015-5BB8-71D5-32CE818DA699}"/>
              </a:ext>
            </a:extLst>
          </p:cNvPr>
          <p:cNvSpPr txBox="1">
            <a:spLocks/>
          </p:cNvSpPr>
          <p:nvPr/>
        </p:nvSpPr>
        <p:spPr>
          <a:xfrm>
            <a:off x="838200" y="3720110"/>
            <a:ext cx="5181600" cy="23686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latin typeface="Calibri"/>
                <a:cs typeface="Calibri"/>
              </a:rPr>
              <a:t>COA 3</a:t>
            </a:r>
            <a:r>
              <a:rPr lang="en-US" sz="1400" spc="-10" dirty="0">
                <a:latin typeface="Calibri"/>
                <a:cs typeface="Calibri"/>
              </a:rPr>
              <a:t>:</a:t>
            </a:r>
          </a:p>
          <a:p>
            <a:pPr marL="0" indent="0" algn="ctr">
              <a:buNone/>
            </a:pPr>
            <a:endParaRPr lang="en-US" sz="1400" spc="-10" dirty="0">
              <a:latin typeface="Calibri"/>
              <a:cs typeface="Calibri"/>
            </a:endParaRPr>
          </a:p>
          <a:p>
            <a:pPr marL="0" indent="0">
              <a:buNone/>
            </a:pPr>
            <a:r>
              <a:rPr lang="en-US" sz="1400" dirty="0">
                <a:latin typeface="Calibri"/>
                <a:cs typeface="Calibri"/>
              </a:rPr>
              <a:t>Work Facilities (long-range solution, post 2048 OKICON)</a:t>
            </a:r>
          </a:p>
          <a:p>
            <a:r>
              <a:rPr lang="en-US" sz="1400" dirty="0">
                <a:latin typeface="Calibri"/>
                <a:cs typeface="Calibri"/>
              </a:rPr>
              <a:t>SURG CO B &amp; 3d MED BN functions relocate off-island per DPRI POR </a:t>
            </a:r>
            <a:r>
              <a:rPr lang="en-US" sz="1400" b="1" dirty="0">
                <a:latin typeface="Calibri"/>
                <a:cs typeface="Calibri"/>
              </a:rPr>
              <a:t>OR</a:t>
            </a:r>
            <a:r>
              <a:rPr lang="en-US" sz="1400" dirty="0">
                <a:latin typeface="Calibri"/>
                <a:cs typeface="Calibri"/>
              </a:rPr>
              <a:t> relocate to identified new development areas  (KASA-1, CTA or NTA), requiring significant MILCON investment, as  identified during Pacific Posture OPTs.</a:t>
            </a:r>
          </a:p>
        </p:txBody>
      </p:sp>
      <p:sp>
        <p:nvSpPr>
          <p:cNvPr id="7" name="object 6">
            <a:extLst>
              <a:ext uri="{FF2B5EF4-FFF2-40B4-BE49-F238E27FC236}">
                <a16:creationId xmlns:a16="http://schemas.microsoft.com/office/drawing/2014/main" id="{BEA9F380-8B4D-CE58-9B27-EC69F759C899}"/>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8" name="object 5">
            <a:extLst>
              <a:ext uri="{FF2B5EF4-FFF2-40B4-BE49-F238E27FC236}">
                <a16:creationId xmlns:a16="http://schemas.microsoft.com/office/drawing/2014/main" id="{D89AF4B5-0EAB-2AC4-A5E2-7F70D18E7782}"/>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832450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9E3302-CF3B-2440-7001-8E28446D44D9}"/>
              </a:ext>
            </a:extLst>
          </p:cNvPr>
          <p:cNvSpPr/>
          <p:nvPr/>
        </p:nvSpPr>
        <p:spPr>
          <a:xfrm>
            <a:off x="606392" y="279133"/>
            <a:ext cx="1694046" cy="14437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5" name="Title 4">
            <a:extLst>
              <a:ext uri="{FF2B5EF4-FFF2-40B4-BE49-F238E27FC236}">
                <a16:creationId xmlns:a16="http://schemas.microsoft.com/office/drawing/2014/main" id="{15C2A34D-18F1-B923-6D77-9C4523453E72}"/>
              </a:ext>
            </a:extLst>
          </p:cNvPr>
          <p:cNvSpPr>
            <a:spLocks noGrp="1"/>
          </p:cNvSpPr>
          <p:nvPr>
            <p:ph type="title"/>
          </p:nvPr>
        </p:nvSpPr>
        <p:spPr/>
        <p:txBody>
          <a:bodyPr/>
          <a:lstStyle/>
          <a:p>
            <a:r>
              <a:rPr lang="en-US" dirty="0"/>
              <a:t>COA Summary of Findings</a:t>
            </a:r>
          </a:p>
        </p:txBody>
      </p:sp>
      <p:sp>
        <p:nvSpPr>
          <p:cNvPr id="4" name="Slide Number Placeholder 3">
            <a:extLst>
              <a:ext uri="{FF2B5EF4-FFF2-40B4-BE49-F238E27FC236}">
                <a16:creationId xmlns:a16="http://schemas.microsoft.com/office/drawing/2014/main" id="{4BD191D3-79EF-7613-4404-1B07B400A7FC}"/>
              </a:ext>
            </a:extLst>
          </p:cNvPr>
          <p:cNvSpPr>
            <a:spLocks noGrp="1"/>
          </p:cNvSpPr>
          <p:nvPr>
            <p:ph type="sldNum" sz="quarter" idx="12"/>
          </p:nvPr>
        </p:nvSpPr>
        <p:spPr/>
        <p:txBody>
          <a:bodyPr/>
          <a:lstStyle/>
          <a:p>
            <a:fld id="{683BFD01-D97D-47BB-8E39-D4B87178CFC1}" type="slidenum">
              <a:rPr lang="en-US" smtClean="0"/>
              <a:t>11</a:t>
            </a:fld>
            <a:endParaRPr lang="en-US"/>
          </a:p>
        </p:txBody>
      </p:sp>
      <p:graphicFrame>
        <p:nvGraphicFramePr>
          <p:cNvPr id="6" name="object 2">
            <a:extLst>
              <a:ext uri="{FF2B5EF4-FFF2-40B4-BE49-F238E27FC236}">
                <a16:creationId xmlns:a16="http://schemas.microsoft.com/office/drawing/2014/main" id="{EE2258AB-BB34-D990-26D4-B023AFB732A5}"/>
              </a:ext>
            </a:extLst>
          </p:cNvPr>
          <p:cNvGraphicFramePr>
            <a:graphicFrameLocks noGrp="1"/>
          </p:cNvGraphicFramePr>
          <p:nvPr>
            <p:extLst>
              <p:ext uri="{D42A27DB-BD31-4B8C-83A1-F6EECF244321}">
                <p14:modId xmlns:p14="http://schemas.microsoft.com/office/powerpoint/2010/main" val="3989482035"/>
              </p:ext>
            </p:extLst>
          </p:nvPr>
        </p:nvGraphicFramePr>
        <p:xfrm>
          <a:off x="497066" y="1116545"/>
          <a:ext cx="11348184" cy="5021994"/>
        </p:xfrm>
        <a:graphic>
          <a:graphicData uri="http://schemas.openxmlformats.org/drawingml/2006/table">
            <a:tbl>
              <a:tblPr firstRow="1" bandRow="1">
                <a:tableStyleId>{2D5ABB26-0587-4C30-8999-92F81FD0307C}</a:tableStyleId>
              </a:tblPr>
              <a:tblGrid>
                <a:gridCol w="1305544">
                  <a:extLst>
                    <a:ext uri="{9D8B030D-6E8A-4147-A177-3AD203B41FA5}">
                      <a16:colId xmlns:a16="http://schemas.microsoft.com/office/drawing/2014/main" val="20000"/>
                    </a:ext>
                  </a:extLst>
                </a:gridCol>
                <a:gridCol w="2172986">
                  <a:extLst>
                    <a:ext uri="{9D8B030D-6E8A-4147-A177-3AD203B41FA5}">
                      <a16:colId xmlns:a16="http://schemas.microsoft.com/office/drawing/2014/main" val="20001"/>
                    </a:ext>
                  </a:extLst>
                </a:gridCol>
                <a:gridCol w="1141084">
                  <a:extLst>
                    <a:ext uri="{9D8B030D-6E8A-4147-A177-3AD203B41FA5}">
                      <a16:colId xmlns:a16="http://schemas.microsoft.com/office/drawing/2014/main" val="20002"/>
                    </a:ext>
                  </a:extLst>
                </a:gridCol>
                <a:gridCol w="1205117">
                  <a:extLst>
                    <a:ext uri="{9D8B030D-6E8A-4147-A177-3AD203B41FA5}">
                      <a16:colId xmlns:a16="http://schemas.microsoft.com/office/drawing/2014/main" val="20003"/>
                    </a:ext>
                  </a:extLst>
                </a:gridCol>
                <a:gridCol w="1506396">
                  <a:extLst>
                    <a:ext uri="{9D8B030D-6E8A-4147-A177-3AD203B41FA5}">
                      <a16:colId xmlns:a16="http://schemas.microsoft.com/office/drawing/2014/main" val="20005"/>
                    </a:ext>
                  </a:extLst>
                </a:gridCol>
                <a:gridCol w="1506396">
                  <a:extLst>
                    <a:ext uri="{9D8B030D-6E8A-4147-A177-3AD203B41FA5}">
                      <a16:colId xmlns:a16="http://schemas.microsoft.com/office/drawing/2014/main" val="2449968057"/>
                    </a:ext>
                  </a:extLst>
                </a:gridCol>
                <a:gridCol w="2510661">
                  <a:extLst>
                    <a:ext uri="{9D8B030D-6E8A-4147-A177-3AD203B41FA5}">
                      <a16:colId xmlns:a16="http://schemas.microsoft.com/office/drawing/2014/main" val="20004"/>
                    </a:ext>
                  </a:extLst>
                </a:gridCol>
              </a:tblGrid>
              <a:tr h="655691">
                <a:tc gridSpan="2">
                  <a:txBody>
                    <a:bodyPr/>
                    <a:lstStyle/>
                    <a:p>
                      <a:pPr algn="ctr">
                        <a:lnSpc>
                          <a:spcPct val="100000"/>
                        </a:lnSpc>
                      </a:pPr>
                      <a:r>
                        <a:rPr sz="1000" b="1" spc="-5" baseline="0" dirty="0">
                          <a:solidFill>
                            <a:srgbClr val="FFFFFF"/>
                          </a:solidFill>
                          <a:latin typeface="+mn-lt"/>
                          <a:cs typeface="Arial"/>
                        </a:rPr>
                        <a:t>Criteria</a:t>
                      </a:r>
                      <a:endParaRPr sz="1000" b="1" baseline="0" dirty="0">
                        <a:latin typeface="+mn-lt"/>
                        <a:cs typeface="Arial"/>
                      </a:endParaRPr>
                    </a:p>
                  </a:txBody>
                  <a:tcPr marL="0" marR="0" marT="68580" marB="68580" anchor="ctr">
                    <a:lnL w="12700">
                      <a:solidFill>
                        <a:srgbClr val="000000"/>
                      </a:solidFill>
                      <a:prstDash val="solid"/>
                    </a:lnL>
                    <a:lnR w="12700">
                      <a:solidFill>
                        <a:srgbClr val="000000"/>
                      </a:solidFill>
                      <a:prstDash val="solid"/>
                    </a:lnR>
                    <a:lnT w="57911">
                      <a:solidFill>
                        <a:srgbClr val="0C2D83"/>
                      </a:solidFill>
                      <a:prstDash val="solid"/>
                    </a:lnT>
                    <a:lnB w="12700">
                      <a:solidFill>
                        <a:srgbClr val="000000"/>
                      </a:solidFill>
                      <a:prstDash val="solid"/>
                    </a:lnB>
                    <a:solidFill>
                      <a:schemeClr val="bg1">
                        <a:lumMod val="50000"/>
                      </a:schemeClr>
                    </a:solidFill>
                  </a:tcPr>
                </a:tc>
                <a:tc hMerge="1">
                  <a:txBody>
                    <a:bodyPr/>
                    <a:lstStyle/>
                    <a:p>
                      <a:endParaRPr/>
                    </a:p>
                  </a:txBody>
                  <a:tcPr marL="0" marR="0" marT="0" marB="0"/>
                </a:tc>
                <a:tc>
                  <a:txBody>
                    <a:bodyPr/>
                    <a:lstStyle/>
                    <a:p>
                      <a:pPr marL="119063" marR="182245" indent="0" algn="ctr">
                        <a:lnSpc>
                          <a:spcPts val="1260"/>
                        </a:lnSpc>
                        <a:spcBef>
                          <a:spcPts val="35"/>
                        </a:spcBef>
                      </a:pPr>
                      <a:r>
                        <a:rPr lang="en-US" sz="1000" b="1" baseline="0" dirty="0">
                          <a:solidFill>
                            <a:srgbClr val="FFFFFF"/>
                          </a:solidFill>
                          <a:latin typeface="+mn-lt"/>
                          <a:cs typeface="Arial"/>
                        </a:rPr>
                        <a:t>COA 1</a:t>
                      </a:r>
                    </a:p>
                  </a:txBody>
                  <a:tcPr marL="0" marR="0" marT="68580" marB="68580" anchor="ctr">
                    <a:lnL w="12700">
                      <a:solidFill>
                        <a:srgbClr val="000000"/>
                      </a:solidFill>
                      <a:prstDash val="solid"/>
                    </a:lnL>
                    <a:lnR w="12700">
                      <a:solidFill>
                        <a:srgbClr val="000000"/>
                      </a:solidFill>
                      <a:prstDash val="solid"/>
                    </a:lnR>
                    <a:lnT w="57911">
                      <a:solidFill>
                        <a:srgbClr val="0C2D83"/>
                      </a:solidFill>
                      <a:prstDash val="solid"/>
                    </a:lnT>
                    <a:lnB w="12700">
                      <a:solidFill>
                        <a:srgbClr val="000000"/>
                      </a:solidFill>
                      <a:prstDash val="solid"/>
                    </a:lnB>
                    <a:solidFill>
                      <a:schemeClr val="bg1">
                        <a:lumMod val="50000"/>
                      </a:schemeClr>
                    </a:solidFill>
                  </a:tcPr>
                </a:tc>
                <a:tc>
                  <a:txBody>
                    <a:bodyPr/>
                    <a:lstStyle/>
                    <a:p>
                      <a:pPr marL="119063" marR="256540" indent="0" algn="ctr">
                        <a:lnSpc>
                          <a:spcPts val="1260"/>
                        </a:lnSpc>
                        <a:spcBef>
                          <a:spcPts val="35"/>
                        </a:spcBef>
                      </a:pPr>
                      <a:r>
                        <a:rPr lang="en-US" sz="1000" b="1" spc="-10" baseline="0" dirty="0">
                          <a:solidFill>
                            <a:srgbClr val="FFFFFF"/>
                          </a:solidFill>
                          <a:latin typeface="+mn-lt"/>
                          <a:cs typeface="Arial"/>
                        </a:rPr>
                        <a:t>COA 2</a:t>
                      </a:r>
                    </a:p>
                  </a:txBody>
                  <a:tcPr marL="0" marR="0" marT="68580" marB="68580" anchor="ctr">
                    <a:lnL w="12700">
                      <a:solidFill>
                        <a:srgbClr val="000000"/>
                      </a:solidFill>
                      <a:prstDash val="solid"/>
                    </a:lnL>
                    <a:lnR w="12700">
                      <a:solidFill>
                        <a:srgbClr val="000000"/>
                      </a:solidFill>
                      <a:prstDash val="solid"/>
                    </a:lnR>
                    <a:lnT w="57911">
                      <a:solidFill>
                        <a:srgbClr val="0C2D83"/>
                      </a:solidFill>
                      <a:prstDash val="solid"/>
                    </a:lnT>
                    <a:lnB w="12700">
                      <a:solidFill>
                        <a:srgbClr val="000000"/>
                      </a:solidFill>
                      <a:prstDash val="solid"/>
                    </a:lnB>
                    <a:solidFill>
                      <a:schemeClr val="bg1">
                        <a:lumMod val="50000"/>
                      </a:schemeClr>
                    </a:solidFill>
                  </a:tcPr>
                </a:tc>
                <a:tc>
                  <a:txBody>
                    <a:bodyPr/>
                    <a:lstStyle/>
                    <a:p>
                      <a:pPr marL="119063" marR="256540" lvl="0" indent="0" algn="ctr" defTabSz="914400" rtl="0" eaLnBrk="1" fontAlgn="auto" latinLnBrk="0" hangingPunct="1">
                        <a:lnSpc>
                          <a:spcPts val="1260"/>
                        </a:lnSpc>
                        <a:spcBef>
                          <a:spcPts val="35"/>
                        </a:spcBef>
                        <a:spcAft>
                          <a:spcPts val="0"/>
                        </a:spcAft>
                        <a:buClrTx/>
                        <a:buSzTx/>
                        <a:buFontTx/>
                        <a:buNone/>
                        <a:tabLst/>
                        <a:defRPr/>
                      </a:pPr>
                      <a:r>
                        <a:rPr lang="en-US" sz="1000" b="1" spc="-10" baseline="0" dirty="0">
                          <a:solidFill>
                            <a:srgbClr val="FFFFFF"/>
                          </a:solidFill>
                          <a:latin typeface="+mn-lt"/>
                          <a:cs typeface="+mn-cs"/>
                        </a:rPr>
                        <a:t>COA 3</a:t>
                      </a: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57911">
                      <a:solidFill>
                        <a:srgbClr val="0C2D83"/>
                      </a:solidFill>
                      <a:prstDash val="solid"/>
                    </a:lnT>
                    <a:lnB w="12700" cap="flat" cmpd="sng" algn="ctr">
                      <a:solidFill>
                        <a:srgbClr val="000000"/>
                      </a:solidFill>
                      <a:prstDash val="solid"/>
                      <a:round/>
                      <a:headEnd type="none" w="med" len="med"/>
                      <a:tailEnd type="none" w="med" len="med"/>
                    </a:lnB>
                    <a:solidFill>
                      <a:schemeClr val="bg1">
                        <a:lumMod val="50000"/>
                      </a:schemeClr>
                    </a:solidFill>
                  </a:tcPr>
                </a:tc>
                <a:tc>
                  <a:txBody>
                    <a:bodyPr/>
                    <a:lstStyle/>
                    <a:p>
                      <a:pPr marL="119063" marR="256540" lvl="0" indent="0" algn="ctr" defTabSz="914400" rtl="0" eaLnBrk="1" fontAlgn="auto" latinLnBrk="0" hangingPunct="1">
                        <a:lnSpc>
                          <a:spcPts val="1260"/>
                        </a:lnSpc>
                        <a:spcBef>
                          <a:spcPts val="35"/>
                        </a:spcBef>
                        <a:spcAft>
                          <a:spcPts val="0"/>
                        </a:spcAft>
                        <a:buClrTx/>
                        <a:buSzTx/>
                        <a:buFontTx/>
                        <a:buNone/>
                        <a:tabLst/>
                        <a:defRPr/>
                      </a:pPr>
                      <a:r>
                        <a:rPr lang="en-US" sz="1000" b="1" spc="-10" baseline="0" dirty="0">
                          <a:solidFill>
                            <a:srgbClr val="FFFFFF"/>
                          </a:solidFill>
                          <a:latin typeface="+mn-lt"/>
                          <a:cs typeface="+mn-cs"/>
                        </a:rPr>
                        <a:t>COA 4</a:t>
                      </a: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57911">
                      <a:solidFill>
                        <a:srgbClr val="0C2D83"/>
                      </a:solidFill>
                      <a:prstDash val="solid"/>
                    </a:lnT>
                    <a:lnB w="12700" cap="flat" cmpd="sng" algn="ctr">
                      <a:solidFill>
                        <a:srgbClr val="000000"/>
                      </a:solidFill>
                      <a:prstDash val="solid"/>
                      <a:round/>
                      <a:headEnd type="none" w="med" len="med"/>
                      <a:tailEnd type="none" w="med" len="med"/>
                    </a:lnB>
                    <a:solidFill>
                      <a:schemeClr val="bg1">
                        <a:lumMod val="50000"/>
                      </a:schemeClr>
                    </a:solidFill>
                  </a:tcPr>
                </a:tc>
                <a:tc>
                  <a:txBody>
                    <a:bodyPr/>
                    <a:lstStyle/>
                    <a:p>
                      <a:pPr marL="119063" indent="0" algn="ctr">
                        <a:lnSpc>
                          <a:spcPts val="1250"/>
                        </a:lnSpc>
                      </a:pPr>
                      <a:r>
                        <a:rPr sz="1000" b="1" spc="-5" baseline="0" dirty="0">
                          <a:solidFill>
                            <a:srgbClr val="FFFFFF"/>
                          </a:solidFill>
                          <a:latin typeface="+mn-lt"/>
                          <a:cs typeface="Arial"/>
                        </a:rPr>
                        <a:t>Observations</a:t>
                      </a:r>
                      <a:endParaRPr sz="1000" b="1" baseline="0" dirty="0">
                        <a:latin typeface="+mn-lt"/>
                        <a:cs typeface="Arial"/>
                      </a:endParaRPr>
                    </a:p>
                  </a:txBody>
                  <a:tcPr marL="0" marR="0" marT="68580" marB="68580" anchor="ctr">
                    <a:lnL w="12700">
                      <a:solidFill>
                        <a:srgbClr val="000000"/>
                      </a:solidFill>
                      <a:prstDash val="solid"/>
                    </a:lnL>
                    <a:lnR w="12700">
                      <a:solidFill>
                        <a:srgbClr val="000000"/>
                      </a:solidFill>
                      <a:prstDash val="solid"/>
                    </a:lnR>
                    <a:lnT w="57911">
                      <a:solidFill>
                        <a:srgbClr val="0C2D83"/>
                      </a:solidFill>
                      <a:prstDash val="solid"/>
                    </a:lnT>
                    <a:lnB w="12700">
                      <a:solidFill>
                        <a:srgbClr val="000000"/>
                      </a:solidFill>
                      <a:prstDash val="solid"/>
                    </a:lnB>
                    <a:solidFill>
                      <a:schemeClr val="bg1">
                        <a:lumMod val="50000"/>
                      </a:schemeClr>
                    </a:solidFill>
                  </a:tcPr>
                </a:tc>
                <a:extLst>
                  <a:ext uri="{0D108BD9-81ED-4DB2-BD59-A6C34878D82A}">
                    <a16:rowId xmlns:a16="http://schemas.microsoft.com/office/drawing/2014/main" val="10000"/>
                  </a:ext>
                </a:extLst>
              </a:tr>
              <a:tr h="289178">
                <a:tc>
                  <a:txBody>
                    <a:bodyPr/>
                    <a:lstStyle/>
                    <a:p>
                      <a:pPr algn="ctr">
                        <a:lnSpc>
                          <a:spcPct val="100000"/>
                        </a:lnSpc>
                      </a:pPr>
                      <a:r>
                        <a:rPr lang="en-US" sz="1000" b="1" baseline="0" dirty="0">
                          <a:solidFill>
                            <a:srgbClr val="FF0000"/>
                          </a:solidFill>
                          <a:latin typeface="+mn-lt"/>
                          <a:cs typeface="Arial"/>
                        </a:rPr>
                        <a:t>General Assessment</a:t>
                      </a:r>
                      <a:endParaRPr sz="1000" b="1" baseline="0" dirty="0">
                        <a:solidFill>
                          <a:srgbClr val="FF0000"/>
                        </a:solidFill>
                        <a:latin typeface="+mn-lt"/>
                        <a:cs typeface="Arial"/>
                      </a:endParaRPr>
                    </a:p>
                  </a:txBody>
                  <a:tcPr marL="0" marR="0" marT="68580" marB="6858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115888" lvl="2" indent="0">
                        <a:buClr>
                          <a:schemeClr val="tx1"/>
                        </a:buClr>
                        <a:buSzPct val="80000"/>
                        <a:buFontTx/>
                        <a:buNone/>
                        <a:defRPr/>
                      </a:pPr>
                      <a:endParaRPr lang="en-US" sz="1000" dirty="0">
                        <a:solidFill>
                          <a:srgbClr val="000000"/>
                        </a:solidFil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187325" marR="182245" indent="1905" algn="ctr">
                        <a:lnSpc>
                          <a:spcPts val="1260"/>
                        </a:lnSpc>
                        <a:spcBef>
                          <a:spcPts val="35"/>
                        </a:spcBef>
                      </a:pPr>
                      <a:r>
                        <a:rPr lang="en-US" sz="1000" b="1" baseline="0" dirty="0">
                          <a:latin typeface="+mn-lt"/>
                          <a:cs typeface="Arial"/>
                        </a:rPr>
                        <a:t>Y</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263525" marR="256540" algn="ctr">
                        <a:lnSpc>
                          <a:spcPts val="1260"/>
                        </a:lnSpc>
                        <a:spcBef>
                          <a:spcPts val="35"/>
                        </a:spcBef>
                      </a:pPr>
                      <a:r>
                        <a:rPr lang="en-US" sz="1000" b="1" baseline="0" dirty="0">
                          <a:latin typeface="+mn-lt"/>
                          <a:cs typeface="Arial"/>
                        </a:rPr>
                        <a:t>O</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263525" marR="256540" algn="ctr">
                        <a:lnSpc>
                          <a:spcPts val="1260"/>
                        </a:lnSpc>
                        <a:spcBef>
                          <a:spcPts val="35"/>
                        </a:spcBef>
                      </a:pPr>
                      <a:r>
                        <a:rPr lang="en-US" sz="1000" b="1" baseline="0" dirty="0">
                          <a:latin typeface="+mn-lt"/>
                          <a:cs typeface="Arial"/>
                        </a:rPr>
                        <a:t>R</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263525" marR="256540" algn="ctr">
                        <a:lnSpc>
                          <a:spcPts val="1260"/>
                        </a:lnSpc>
                        <a:spcBef>
                          <a:spcPts val="35"/>
                        </a:spcBef>
                      </a:pPr>
                      <a:r>
                        <a:rPr lang="en-US" sz="1000" b="1" baseline="0" dirty="0">
                          <a:latin typeface="+mn-lt"/>
                          <a:cs typeface="Arial"/>
                        </a:rPr>
                        <a:t>-</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12713" indent="0" algn="ctr">
                        <a:lnSpc>
                          <a:spcPts val="1250"/>
                        </a:lnSpc>
                      </a:pP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13694353"/>
                  </a:ext>
                </a:extLst>
              </a:tr>
              <a:tr h="426504">
                <a:tc rowSpan="4">
                  <a:txBody>
                    <a:bodyPr/>
                    <a:lstStyle/>
                    <a:p>
                      <a:pPr marL="2540" algn="ctr">
                        <a:lnSpc>
                          <a:spcPct val="100000"/>
                        </a:lnSpc>
                        <a:spcBef>
                          <a:spcPts val="990"/>
                        </a:spcBef>
                      </a:pPr>
                      <a:r>
                        <a:rPr sz="1000" b="1" baseline="0" dirty="0">
                          <a:solidFill>
                            <a:srgbClr val="FF0000"/>
                          </a:solidFill>
                          <a:latin typeface="+mn-lt"/>
                          <a:cs typeface="Arial"/>
                        </a:rPr>
                        <a:t>Capacity</a:t>
                      </a:r>
                    </a:p>
                  </a:txBody>
                  <a:tcPr marL="0" marR="0" marT="68580" marB="6858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115888" indent="0" algn="l">
                        <a:lnSpc>
                          <a:spcPct val="100000"/>
                        </a:lnSpc>
                        <a:spcBef>
                          <a:spcPts val="705"/>
                        </a:spcBef>
                      </a:pPr>
                      <a:r>
                        <a:rPr lang="en-US" sz="1000" b="0" baseline="0" dirty="0">
                          <a:latin typeface="+mn-lt"/>
                          <a:cs typeface="Arial"/>
                        </a:rPr>
                        <a:t>Billeting requirements to include: UH for 71 permanent party </a:t>
                      </a:r>
                      <a:r>
                        <a:rPr lang="en-US" sz="1000" b="0" baseline="0" dirty="0" err="1">
                          <a:latin typeface="+mn-lt"/>
                          <a:cs typeface="Arial"/>
                        </a:rPr>
                        <a:t>pn</a:t>
                      </a:r>
                      <a:endParaRPr sz="1000" b="0"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no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no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000" b="1" baseline="0" dirty="0">
                          <a:latin typeface="+mn-lt"/>
                          <a:cs typeface="Arial"/>
                        </a:rPr>
                        <a:t>-</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5563" indent="0" algn="ctr"/>
                      <a:r>
                        <a:rPr lang="en-US" sz="1000" b="1" baseline="0" dirty="0">
                          <a:latin typeface="+mn-lt"/>
                          <a:cs typeface="Arial"/>
                        </a:rPr>
                        <a:t>(61) Enlisted / (10) Officer calculated unaccompanied housing requirement.</a:t>
                      </a: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solidFill>
                      <a:schemeClr val="bg1"/>
                    </a:solidFill>
                  </a:tcPr>
                </a:tc>
                <a:extLst>
                  <a:ext uri="{0D108BD9-81ED-4DB2-BD59-A6C34878D82A}">
                    <a16:rowId xmlns:a16="http://schemas.microsoft.com/office/drawing/2014/main" val="10004"/>
                  </a:ext>
                </a:extLst>
              </a:tr>
              <a:tr h="1586019">
                <a:tc vMerge="1">
                  <a:txBody>
                    <a:bodyPr/>
                    <a:lstStyle/>
                    <a:p>
                      <a:endParaRPr lang="en-US"/>
                    </a:p>
                  </a:txBody>
                  <a:tcPr/>
                </a:tc>
                <a:tc>
                  <a:txBody>
                    <a:bodyPr/>
                    <a:lstStyle/>
                    <a:p>
                      <a:pPr marL="115888" indent="0" algn="l">
                        <a:lnSpc>
                          <a:spcPct val="100000"/>
                        </a:lnSpc>
                        <a:spcBef>
                          <a:spcPts val="705"/>
                        </a:spcBef>
                      </a:pPr>
                      <a:r>
                        <a:rPr lang="en-US" sz="1000" b="0" baseline="0" dirty="0">
                          <a:latin typeface="+mn-lt"/>
                          <a:cs typeface="Arial"/>
                        </a:rPr>
                        <a:t>Work Facility Requirements to include:</a:t>
                      </a:r>
                    </a:p>
                    <a:p>
                      <a:pPr marL="287338" indent="-171450" algn="l">
                        <a:lnSpc>
                          <a:spcPct val="100000"/>
                        </a:lnSpc>
                        <a:spcBef>
                          <a:spcPts val="0"/>
                        </a:spcBef>
                        <a:buFont typeface="Arial" panose="020B0604020202020204" pitchFamily="34" charset="0"/>
                        <a:buChar char="•"/>
                      </a:pPr>
                      <a:r>
                        <a:rPr lang="en-US" sz="1000" b="0" baseline="0" dirty="0">
                          <a:latin typeface="+mn-lt"/>
                          <a:cs typeface="Arial"/>
                        </a:rPr>
                        <a:t>944 SF Armory</a:t>
                      </a:r>
                    </a:p>
                    <a:p>
                      <a:pPr marL="287338" indent="-171450" algn="l">
                        <a:lnSpc>
                          <a:spcPct val="100000"/>
                        </a:lnSpc>
                        <a:spcBef>
                          <a:spcPts val="0"/>
                        </a:spcBef>
                        <a:buFont typeface="Arial" panose="020B0604020202020204" pitchFamily="34" charset="0"/>
                        <a:buChar char="•"/>
                      </a:pPr>
                      <a:r>
                        <a:rPr lang="en-US" sz="1000" b="0" baseline="0" dirty="0">
                          <a:latin typeface="+mn-lt"/>
                          <a:cs typeface="Arial"/>
                        </a:rPr>
                        <a:t>4,063 SF HQs / Admin </a:t>
                      </a:r>
                    </a:p>
                    <a:p>
                      <a:pPr marL="287338" indent="-171450" algn="l">
                        <a:lnSpc>
                          <a:spcPct val="100000"/>
                        </a:lnSpc>
                        <a:spcBef>
                          <a:spcPts val="0"/>
                        </a:spcBef>
                        <a:buFont typeface="Arial" panose="020B0604020202020204" pitchFamily="34" charset="0"/>
                        <a:buChar char="•"/>
                      </a:pPr>
                      <a:r>
                        <a:rPr lang="en-US" sz="1000" b="0" baseline="0" dirty="0">
                          <a:latin typeface="+mn-lt"/>
                          <a:cs typeface="Arial"/>
                        </a:rPr>
                        <a:t>2,848 SF Veh </a:t>
                      </a:r>
                      <a:r>
                        <a:rPr lang="en-US" sz="1000" b="0" baseline="0" dirty="0" err="1">
                          <a:latin typeface="+mn-lt"/>
                          <a:cs typeface="Arial"/>
                        </a:rPr>
                        <a:t>Maint</a:t>
                      </a:r>
                      <a:r>
                        <a:rPr lang="en-US" sz="1000" b="0" baseline="0" dirty="0">
                          <a:latin typeface="+mn-lt"/>
                          <a:cs typeface="Arial"/>
                        </a:rPr>
                        <a:t> Shop</a:t>
                      </a:r>
                    </a:p>
                    <a:p>
                      <a:pPr marL="287338" indent="-171450" algn="l">
                        <a:lnSpc>
                          <a:spcPct val="100000"/>
                        </a:lnSpc>
                        <a:spcBef>
                          <a:spcPts val="0"/>
                        </a:spcBef>
                        <a:buFont typeface="Arial" panose="020B0604020202020204" pitchFamily="34" charset="0"/>
                        <a:buChar char="•"/>
                      </a:pPr>
                      <a:r>
                        <a:rPr lang="en-US" sz="1000" b="0" baseline="0" dirty="0">
                          <a:latin typeface="+mn-lt"/>
                          <a:cs typeface="+mn-cs"/>
                        </a:rPr>
                        <a:t>1,811 SY Vehicle lot</a:t>
                      </a:r>
                    </a:p>
                    <a:p>
                      <a:pPr marL="287338" indent="-171450" algn="l">
                        <a:lnSpc>
                          <a:spcPct val="100000"/>
                        </a:lnSpc>
                        <a:spcBef>
                          <a:spcPts val="0"/>
                        </a:spcBef>
                        <a:buFont typeface="Arial" panose="020B0604020202020204" pitchFamily="34" charset="0"/>
                        <a:buChar char="•"/>
                      </a:pPr>
                      <a:r>
                        <a:rPr lang="en-US" sz="1000" b="0" baseline="0" dirty="0">
                          <a:latin typeface="+mn-lt"/>
                          <a:cs typeface="+mn-cs"/>
                        </a:rPr>
                        <a:t>1,776 SF Training / Instruction</a:t>
                      </a:r>
                    </a:p>
                    <a:p>
                      <a:pPr marL="287338" indent="-171450" algn="l">
                        <a:lnSpc>
                          <a:spcPct val="100000"/>
                        </a:lnSpc>
                        <a:spcBef>
                          <a:spcPts val="0"/>
                        </a:spcBef>
                        <a:buFont typeface="Arial" panose="020B0604020202020204" pitchFamily="34" charset="0"/>
                        <a:buChar char="•"/>
                      </a:pPr>
                      <a:r>
                        <a:rPr lang="en-US" sz="1000" b="0" baseline="0" dirty="0">
                          <a:latin typeface="+mn-lt"/>
                          <a:cs typeface="+mn-cs"/>
                        </a:rPr>
                        <a:t>800 SF Storage / Warehouse</a:t>
                      </a: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263525" marR="256540" algn="ctr" defTabSz="914400" rtl="0" eaLnBrk="1" latinLnBrk="0" hangingPunct="1">
                        <a:lnSpc>
                          <a:spcPts val="1260"/>
                        </a:lnSpc>
                        <a:spcBef>
                          <a:spcPts val="35"/>
                        </a:spcBef>
                      </a:pPr>
                      <a:r>
                        <a:rPr lang="en-US" sz="1000" b="1" kern="1200" baseline="0" dirty="0">
                          <a:solidFill>
                            <a:schemeClr val="tx1"/>
                          </a:solidFill>
                          <a:latin typeface="+mn-lt"/>
                          <a:ea typeface="+mn-ea"/>
                          <a:cs typeface="Arial"/>
                        </a:rPr>
                        <a:t>Y</a:t>
                      </a:r>
                      <a:endParaRPr sz="1000" b="1" kern="1200" baseline="0" dirty="0">
                        <a:solidFill>
                          <a:schemeClr val="tx1"/>
                        </a:solidFill>
                        <a:latin typeface="+mn-lt"/>
                        <a:ea typeface="+mn-ea"/>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solidFill>
                      <a:srgbClr val="FFFF00"/>
                    </a:solidFill>
                  </a:tcPr>
                </a:tc>
                <a:tc>
                  <a:txBody>
                    <a:bodyPr/>
                    <a:lstStyle/>
                    <a:p>
                      <a:pPr algn="ctr"/>
                      <a:r>
                        <a:rPr lang="en-US" sz="1000" b="1" baseline="0" dirty="0">
                          <a:latin typeface="+mn-lt"/>
                          <a:cs typeface="Arial"/>
                        </a:rPr>
                        <a:t>O</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solidFill>
                      <a:srgbClr val="FFC000"/>
                    </a:solidFill>
                  </a:tcPr>
                </a:tc>
                <a:tc>
                  <a:txBody>
                    <a:bodyPr/>
                    <a:lstStyle/>
                    <a:p>
                      <a:pPr algn="ctr"/>
                      <a:r>
                        <a:rPr lang="en-US" sz="1000" b="1" baseline="0" dirty="0">
                          <a:latin typeface="+mn-lt"/>
                          <a:cs typeface="Arial"/>
                        </a:rPr>
                        <a:t>R</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r>
                        <a:rPr lang="en-US" sz="1000" b="1" baseline="0" dirty="0">
                          <a:latin typeface="+mn-lt"/>
                          <a:cs typeface="Arial"/>
                        </a:rPr>
                        <a:t>-</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5563" indent="0" algn="ctr"/>
                      <a:r>
                        <a:rPr lang="en-US" sz="1000" b="1" baseline="0" dirty="0">
                          <a:latin typeface="+mn-lt"/>
                          <a:cs typeface="Arial"/>
                        </a:rPr>
                        <a:t>COA 1 only provides a short-term, immediate solution. Mid- to long-range plans (COA 2 and COA 3) are not viable currently under DPRI POR. Requires prioritization and additional funding.</a:t>
                      </a: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solidFill>
                      <a:schemeClr val="bg1"/>
                    </a:solidFill>
                  </a:tcPr>
                </a:tc>
                <a:extLst>
                  <a:ext uri="{0D108BD9-81ED-4DB2-BD59-A6C34878D82A}">
                    <a16:rowId xmlns:a16="http://schemas.microsoft.com/office/drawing/2014/main" val="2853443049"/>
                  </a:ext>
                </a:extLst>
              </a:tr>
              <a:tr h="279434">
                <a:tc vMerge="1">
                  <a:txBody>
                    <a:bodyPr/>
                    <a:lstStyle/>
                    <a:p>
                      <a:endParaRPr lang="en-US"/>
                    </a:p>
                  </a:txBody>
                  <a:tcPr/>
                </a:tc>
                <a:tc>
                  <a:txBody>
                    <a:bodyPr/>
                    <a:lstStyle/>
                    <a:p>
                      <a:pPr marL="115888" indent="0" algn="l">
                        <a:lnSpc>
                          <a:spcPct val="100000"/>
                        </a:lnSpc>
                        <a:spcBef>
                          <a:spcPts val="705"/>
                        </a:spcBef>
                      </a:pPr>
                      <a:r>
                        <a:rPr lang="en-US" sz="1000" b="0" baseline="0" dirty="0">
                          <a:latin typeface="+mn-lt"/>
                          <a:cs typeface="+mn-cs"/>
                        </a:rPr>
                        <a:t>Access to utility distribution</a:t>
                      </a: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1000" b="1" baseline="0" dirty="0">
                          <a:latin typeface="+mn-lt"/>
                          <a:cs typeface="Arial"/>
                        </a:rPr>
                        <a:t>Y</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solidFill>
                      <a:srgbClr val="FFFF00"/>
                    </a:solidFill>
                  </a:tcPr>
                </a:tc>
                <a:tc>
                  <a:txBody>
                    <a:bodyPr/>
                    <a:lstStyle/>
                    <a:p>
                      <a:pPr algn="ctr"/>
                      <a:r>
                        <a:rPr lang="en-US" sz="1000" b="1" baseline="0" dirty="0">
                          <a:latin typeface="+mn-lt"/>
                          <a:cs typeface="Arial"/>
                        </a:rPr>
                        <a:t>Y</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solidFill>
                      <a:srgbClr val="FFFF00"/>
                    </a:solidFill>
                  </a:tcPr>
                </a:tc>
                <a:tc>
                  <a:txBody>
                    <a:bodyPr/>
                    <a:lstStyle/>
                    <a:p>
                      <a:pPr algn="ctr"/>
                      <a:r>
                        <a:rPr lang="en-US" sz="1000" b="1" baseline="0" dirty="0">
                          <a:latin typeface="+mn-lt"/>
                          <a:cs typeface="Arial"/>
                        </a:rPr>
                        <a:t>R</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r>
                        <a:rPr lang="en-US" sz="1000" b="1" baseline="0" dirty="0">
                          <a:latin typeface="+mn-lt"/>
                          <a:cs typeface="Arial"/>
                        </a:rPr>
                        <a:t>-</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5563" indent="0" algn="ctr"/>
                      <a:endParaRPr lang="en-US"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solidFill>
                      <a:schemeClr val="bg1"/>
                    </a:solidFill>
                  </a:tcPr>
                </a:tc>
                <a:extLst>
                  <a:ext uri="{0D108BD9-81ED-4DB2-BD59-A6C34878D82A}">
                    <a16:rowId xmlns:a16="http://schemas.microsoft.com/office/drawing/2014/main" val="3083513404"/>
                  </a:ext>
                </a:extLst>
              </a:tr>
              <a:tr h="279434">
                <a:tc vMerge="1">
                  <a:txBody>
                    <a:bodyPr/>
                    <a:lstStyle/>
                    <a:p>
                      <a:endParaRPr lang="en-US"/>
                    </a:p>
                  </a:txBody>
                  <a:tcPr/>
                </a:tc>
                <a:tc>
                  <a:txBody>
                    <a:bodyPr/>
                    <a:lstStyle/>
                    <a:p>
                      <a:pPr marL="115888" lvl="2" indent="0">
                        <a:buClr>
                          <a:schemeClr val="tx1"/>
                        </a:buClr>
                        <a:buSzPct val="80000"/>
                        <a:buFontTx/>
                        <a:buNone/>
                        <a:defRPr/>
                      </a:pPr>
                      <a:r>
                        <a:rPr lang="en-US" sz="1000" dirty="0">
                          <a:solidFill>
                            <a:srgbClr val="000000"/>
                          </a:solidFill>
                        </a:rPr>
                        <a:t>Access to comm infrastructure</a:t>
                      </a: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000" b="1" baseline="0" dirty="0">
                          <a:latin typeface="+mn-lt"/>
                          <a:cs typeface="Arial"/>
                        </a:rPr>
                        <a:t>-</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55563" indent="0" algn="ctr"/>
                      <a:endParaRPr lang="en-US"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9434">
                <a:tc>
                  <a:txBody>
                    <a:bodyPr/>
                    <a:lstStyle/>
                    <a:p>
                      <a:pPr algn="ctr">
                        <a:lnSpc>
                          <a:spcPct val="100000"/>
                        </a:lnSpc>
                      </a:pPr>
                      <a:r>
                        <a:rPr sz="1000" b="1" baseline="0" dirty="0">
                          <a:solidFill>
                            <a:srgbClr val="FF0000"/>
                          </a:solidFill>
                          <a:latin typeface="+mn-lt"/>
                          <a:cs typeface="Arial"/>
                        </a:rPr>
                        <a:t>Environmental</a:t>
                      </a:r>
                    </a:p>
                  </a:txBody>
                  <a:tcPr marL="0" marR="0" marT="68580" marB="6858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115888" marR="175260" indent="0" algn="l">
                        <a:lnSpc>
                          <a:spcPct val="100000"/>
                        </a:lnSpc>
                        <a:spcBef>
                          <a:spcPts val="280"/>
                        </a:spcBef>
                      </a:pPr>
                      <a:r>
                        <a:rPr lang="en-US" sz="1000" b="0" baseline="0" dirty="0">
                          <a:latin typeface="+mn-lt"/>
                          <a:cs typeface="+mn-cs"/>
                        </a:rPr>
                        <a:t>Concerns/Issues</a:t>
                      </a: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sz="1000" b="1" baseline="0" dirty="0">
                        <a:solidFill>
                          <a:srgbClr val="006600"/>
                        </a:solidFill>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sz="1000" b="1" baseline="0" dirty="0">
                        <a:solidFill>
                          <a:srgbClr val="006600"/>
                        </a:solidFill>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000" b="1" baseline="0" dirty="0">
                          <a:solidFill>
                            <a:srgbClr val="006600"/>
                          </a:solidFill>
                          <a:latin typeface="+mn-lt"/>
                          <a:cs typeface="Arial"/>
                        </a:rPr>
                        <a:t>-</a:t>
                      </a:r>
                      <a:endParaRPr sz="1000" b="1" baseline="0" dirty="0">
                        <a:solidFill>
                          <a:srgbClr val="006600"/>
                        </a:solidFill>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5090" marR="125095" indent="-635" algn="ctr">
                        <a:lnSpc>
                          <a:spcPct val="100000"/>
                        </a:lnSpc>
                        <a:spcBef>
                          <a:spcPts val="285"/>
                        </a:spcBef>
                      </a:pP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573574">
                <a:tc rowSpan="3">
                  <a:txBody>
                    <a:bodyPr/>
                    <a:lstStyle/>
                    <a:p>
                      <a:pPr algn="ctr">
                        <a:lnSpc>
                          <a:spcPct val="100000"/>
                        </a:lnSpc>
                      </a:pPr>
                      <a:r>
                        <a:rPr sz="1000" b="1" baseline="0" dirty="0">
                          <a:solidFill>
                            <a:srgbClr val="FF0000"/>
                          </a:solidFill>
                          <a:latin typeface="+mn-lt"/>
                          <a:cs typeface="Arial"/>
                        </a:rPr>
                        <a:t>Costs</a:t>
                      </a:r>
                    </a:p>
                  </a:txBody>
                  <a:tcPr marL="0" marR="0" marT="68580" marB="6858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115888" indent="0" algn="l">
                        <a:lnSpc>
                          <a:spcPct val="100000"/>
                        </a:lnSpc>
                        <a:spcBef>
                          <a:spcPts val="5"/>
                        </a:spcBef>
                      </a:pPr>
                      <a:r>
                        <a:rPr lang="en-US" sz="1000" b="0" baseline="0" dirty="0">
                          <a:latin typeface="+mn-lt"/>
                          <a:cs typeface="Arial"/>
                        </a:rPr>
                        <a:t>One-Time Facility upgrades/construction (USMC- funded)</a:t>
                      </a:r>
                      <a:endParaRPr sz="1000" b="0"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800" b="1" baseline="0" dirty="0">
                          <a:latin typeface="+mn-lt"/>
                          <a:cs typeface="Arial"/>
                        </a:rPr>
                        <a:t>$10K (ARMAG site prep &amp; utilities hookup)</a:t>
                      </a:r>
                      <a:endParaRPr sz="8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r>
                        <a:rPr lang="en-US" sz="1000" b="1" baseline="0" dirty="0">
                          <a:latin typeface="+mn-lt"/>
                          <a:cs typeface="Arial"/>
                        </a:rPr>
                        <a:t>$25.2M</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r>
                        <a:rPr lang="en-US" sz="1000" b="1" baseline="0" dirty="0">
                          <a:latin typeface="+mn-lt"/>
                          <a:cs typeface="Arial"/>
                        </a:rPr>
                        <a:t>$100M</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r>
                        <a:rPr lang="en-US" sz="1000" b="1" baseline="0" dirty="0">
                          <a:latin typeface="+mn-lt"/>
                          <a:cs typeface="Arial"/>
                        </a:rPr>
                        <a:t>-</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5090" marR="144145" algn="ctr">
                        <a:lnSpc>
                          <a:spcPct val="100000"/>
                        </a:lnSpc>
                        <a:spcBef>
                          <a:spcPts val="285"/>
                        </a:spcBef>
                      </a:pP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79434">
                <a:tc vMerge="1">
                  <a:txBody>
                    <a:bodyPr/>
                    <a:lstStyle/>
                    <a:p>
                      <a:endParaRPr/>
                    </a:p>
                  </a:txBody>
                  <a:tcPr marL="0" marR="0" marT="0" marB="0">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115888" indent="0" algn="l">
                        <a:lnSpc>
                          <a:spcPct val="100000"/>
                        </a:lnSpc>
                        <a:spcBef>
                          <a:spcPts val="730"/>
                        </a:spcBef>
                      </a:pPr>
                      <a:r>
                        <a:rPr lang="en-US" sz="1000" b="0" baseline="0" dirty="0">
                          <a:latin typeface="+mn-lt"/>
                          <a:cs typeface="Arial"/>
                        </a:rPr>
                        <a:t>Sustainment  (per ISA)</a:t>
                      </a:r>
                      <a:endParaRPr sz="1000" b="0"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000" b="1" baseline="0" dirty="0">
                          <a:latin typeface="+mn-lt"/>
                          <a:cs typeface="Arial"/>
                        </a:rPr>
                        <a:t>-</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5090" algn="ctr">
                        <a:lnSpc>
                          <a:spcPct val="100000"/>
                        </a:lnSpc>
                        <a:spcBef>
                          <a:spcPts val="285"/>
                        </a:spcBef>
                      </a:pPr>
                      <a:endParaRPr sz="1000" b="1" spc="0"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79434">
                <a:tc vMerge="1">
                  <a:txBody>
                    <a:bodyPr/>
                    <a:lstStyle/>
                    <a:p>
                      <a:pPr algn="ctr">
                        <a:lnSpc>
                          <a:spcPct val="100000"/>
                        </a:lnSpc>
                      </a:pPr>
                      <a:endParaRPr sz="1000" b="1" baseline="0" dirty="0">
                        <a:latin typeface="+mn-lt"/>
                        <a:cs typeface="Arial"/>
                      </a:endParaRPr>
                    </a:p>
                  </a:txBody>
                  <a:tcPr marL="0" marR="0" marT="68580" marB="6858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115888" indent="0" algn="l">
                        <a:lnSpc>
                          <a:spcPct val="100000"/>
                        </a:lnSpc>
                        <a:spcBef>
                          <a:spcPts val="730"/>
                        </a:spcBef>
                      </a:pPr>
                      <a:r>
                        <a:rPr lang="en-US" sz="1000" b="0" baseline="0" dirty="0">
                          <a:latin typeface="+mn-lt"/>
                          <a:cs typeface="Arial"/>
                        </a:rPr>
                        <a:t>BOS (per ISA)</a:t>
                      </a:r>
                      <a:endParaRPr sz="1000" b="0"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solidFill>
                      <a:schemeClr val="bg1"/>
                    </a:solid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no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noFill/>
                  </a:tcPr>
                </a:tc>
                <a:tc>
                  <a:txBody>
                    <a:bodyPr/>
                    <a:lstStyle/>
                    <a:p>
                      <a:pPr algn="ct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000" b="1" baseline="0" dirty="0">
                          <a:latin typeface="+mn-lt"/>
                          <a:cs typeface="Arial"/>
                        </a:rPr>
                        <a:t>-</a:t>
                      </a:r>
                      <a:endParaRPr sz="1000" b="1"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85090" algn="ctr">
                        <a:lnSpc>
                          <a:spcPct val="100000"/>
                        </a:lnSpc>
                        <a:spcBef>
                          <a:spcPts val="285"/>
                        </a:spcBef>
                      </a:pPr>
                      <a:endParaRPr sz="1000" b="1" spc="0" baseline="0" dirty="0">
                        <a:latin typeface="+mn-lt"/>
                        <a:cs typeface="Arial"/>
                      </a:endParaRPr>
                    </a:p>
                  </a:txBody>
                  <a:tcPr marL="0" marR="0" marT="68580" marB="6858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solidFill>
                      <a:schemeClr val="bg1"/>
                    </a:solidFill>
                  </a:tcPr>
                </a:tc>
                <a:extLst>
                  <a:ext uri="{0D108BD9-81ED-4DB2-BD59-A6C34878D82A}">
                    <a16:rowId xmlns:a16="http://schemas.microsoft.com/office/drawing/2014/main" val="10012"/>
                  </a:ext>
                </a:extLst>
              </a:tr>
            </a:tbl>
          </a:graphicData>
        </a:graphic>
      </p:graphicFrame>
      <p:sp>
        <p:nvSpPr>
          <p:cNvPr id="8" name="TextBox 7">
            <a:extLst>
              <a:ext uri="{FF2B5EF4-FFF2-40B4-BE49-F238E27FC236}">
                <a16:creationId xmlns:a16="http://schemas.microsoft.com/office/drawing/2014/main" id="{09F25BA4-C463-43B3-3C99-7BA77348F352}"/>
              </a:ext>
            </a:extLst>
          </p:cNvPr>
          <p:cNvSpPr txBox="1"/>
          <p:nvPr/>
        </p:nvSpPr>
        <p:spPr>
          <a:xfrm>
            <a:off x="131544" y="6239604"/>
            <a:ext cx="11627318" cy="584775"/>
          </a:xfrm>
          <a:prstGeom prst="rect">
            <a:avLst/>
          </a:prstGeom>
          <a:noFill/>
        </p:spPr>
        <p:txBody>
          <a:bodyPr wrap="square">
            <a:spAutoFit/>
          </a:bodyPr>
          <a:lstStyle/>
          <a:p>
            <a:r>
              <a:rPr lang="en-US" sz="800" b="1" dirty="0"/>
              <a:t>RED</a:t>
            </a:r>
            <a:r>
              <a:rPr lang="en-US" sz="800" dirty="0"/>
              <a:t> – Unsupportable (High Risk) Breaks US law, statute, etc. Cannot be accomplished with any amount of resources (time, money, personnel, etc.) </a:t>
            </a:r>
            <a:br>
              <a:rPr lang="en-US" sz="800" dirty="0"/>
            </a:br>
            <a:r>
              <a:rPr lang="en-US" sz="800" b="1" dirty="0"/>
              <a:t>ORANGE</a:t>
            </a:r>
            <a:r>
              <a:rPr lang="en-US" sz="800" dirty="0"/>
              <a:t> –  Insufficient (Significant Risk) Existing or programmed resources are insufficient to support the initiative Cannot be achieved without significant modifications and/or additional programmed resources. </a:t>
            </a:r>
          </a:p>
          <a:p>
            <a:r>
              <a:rPr lang="en-US" sz="800" b="1" dirty="0"/>
              <a:t>YELLOW – </a:t>
            </a:r>
            <a:r>
              <a:rPr lang="en-US" sz="800" dirty="0"/>
              <a:t>Executable (Moderate Risk) Can be accomplished but may require mitigation steps and solutions/resources be identified.</a:t>
            </a:r>
          </a:p>
          <a:p>
            <a:r>
              <a:rPr lang="en-US" sz="800" b="1" dirty="0"/>
              <a:t>GREEN</a:t>
            </a:r>
            <a:r>
              <a:rPr lang="en-US" sz="800" dirty="0"/>
              <a:t> – Supportable (Low Risk)  Achievable; no foreseeable obstacles exist that will preclude planned implementation. </a:t>
            </a:r>
          </a:p>
        </p:txBody>
      </p:sp>
      <p:sp>
        <p:nvSpPr>
          <p:cNvPr id="2" name="object 5">
            <a:extLst>
              <a:ext uri="{FF2B5EF4-FFF2-40B4-BE49-F238E27FC236}">
                <a16:creationId xmlns:a16="http://schemas.microsoft.com/office/drawing/2014/main" id="{2E23899B-6DFB-A97D-BEAA-9A8B47FFD1A5}"/>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1265885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D71559-AA38-3194-78F1-230A12CB59B0}"/>
              </a:ext>
            </a:extLst>
          </p:cNvPr>
          <p:cNvSpPr/>
          <p:nvPr/>
        </p:nvSpPr>
        <p:spPr>
          <a:xfrm>
            <a:off x="606392" y="279133"/>
            <a:ext cx="1694046" cy="14437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2" name="Title 1">
            <a:extLst>
              <a:ext uri="{FF2B5EF4-FFF2-40B4-BE49-F238E27FC236}">
                <a16:creationId xmlns:a16="http://schemas.microsoft.com/office/drawing/2014/main" id="{B29CED94-8066-6489-7D0F-6B0012020B2E}"/>
              </a:ext>
            </a:extLst>
          </p:cNvPr>
          <p:cNvSpPr>
            <a:spLocks noGrp="1"/>
          </p:cNvSpPr>
          <p:nvPr>
            <p:ph type="title"/>
          </p:nvPr>
        </p:nvSpPr>
        <p:spPr/>
        <p:txBody>
          <a:bodyPr/>
          <a:lstStyle/>
          <a:p>
            <a:r>
              <a:rPr lang="en-US" dirty="0"/>
              <a:t>COA 1 Installation DOTMLPF/C</a:t>
            </a:r>
          </a:p>
        </p:txBody>
      </p:sp>
      <p:sp>
        <p:nvSpPr>
          <p:cNvPr id="3" name="Slide Number Placeholder 2">
            <a:extLst>
              <a:ext uri="{FF2B5EF4-FFF2-40B4-BE49-F238E27FC236}">
                <a16:creationId xmlns:a16="http://schemas.microsoft.com/office/drawing/2014/main" id="{3A8B7E22-B428-07DA-99FF-5992DFB35A72}"/>
              </a:ext>
            </a:extLst>
          </p:cNvPr>
          <p:cNvSpPr>
            <a:spLocks noGrp="1"/>
          </p:cNvSpPr>
          <p:nvPr>
            <p:ph type="sldNum" sz="quarter" idx="12"/>
          </p:nvPr>
        </p:nvSpPr>
        <p:spPr/>
        <p:txBody>
          <a:bodyPr/>
          <a:lstStyle/>
          <a:p>
            <a:fld id="{683BFD01-D97D-47BB-8E39-D4B87178CFC1}" type="slidenum">
              <a:rPr lang="en-US" smtClean="0"/>
              <a:t>12</a:t>
            </a:fld>
            <a:endParaRPr lang="en-US"/>
          </a:p>
        </p:txBody>
      </p:sp>
      <p:graphicFrame>
        <p:nvGraphicFramePr>
          <p:cNvPr id="4" name="Content Placeholder 6">
            <a:extLst>
              <a:ext uri="{FF2B5EF4-FFF2-40B4-BE49-F238E27FC236}">
                <a16:creationId xmlns:a16="http://schemas.microsoft.com/office/drawing/2014/main" id="{DFE14FD4-6B2D-41A6-7551-A08EF890D72E}"/>
              </a:ext>
            </a:extLst>
          </p:cNvPr>
          <p:cNvGraphicFramePr>
            <a:graphicFrameLocks/>
          </p:cNvGraphicFramePr>
          <p:nvPr>
            <p:extLst>
              <p:ext uri="{D42A27DB-BD31-4B8C-83A1-F6EECF244321}">
                <p14:modId xmlns:p14="http://schemas.microsoft.com/office/powerpoint/2010/main" val="3590188579"/>
              </p:ext>
            </p:extLst>
          </p:nvPr>
        </p:nvGraphicFramePr>
        <p:xfrm>
          <a:off x="370682" y="1178166"/>
          <a:ext cx="11450636" cy="4501667"/>
        </p:xfrm>
        <a:graphic>
          <a:graphicData uri="http://schemas.openxmlformats.org/drawingml/2006/table">
            <a:tbl>
              <a:tblPr firstRow="1" bandRow="1">
                <a:tableStyleId>{5C22544A-7EE6-4342-B048-85BDC9FD1C3A}</a:tableStyleId>
              </a:tblPr>
              <a:tblGrid>
                <a:gridCol w="1295218">
                  <a:extLst>
                    <a:ext uri="{9D8B030D-6E8A-4147-A177-3AD203B41FA5}">
                      <a16:colId xmlns:a16="http://schemas.microsoft.com/office/drawing/2014/main" val="20000"/>
                    </a:ext>
                  </a:extLst>
                </a:gridCol>
                <a:gridCol w="1064871">
                  <a:extLst>
                    <a:ext uri="{9D8B030D-6E8A-4147-A177-3AD203B41FA5}">
                      <a16:colId xmlns:a16="http://schemas.microsoft.com/office/drawing/2014/main" val="20001"/>
                    </a:ext>
                  </a:extLst>
                </a:gridCol>
                <a:gridCol w="7037407">
                  <a:extLst>
                    <a:ext uri="{9D8B030D-6E8A-4147-A177-3AD203B41FA5}">
                      <a16:colId xmlns:a16="http://schemas.microsoft.com/office/drawing/2014/main" val="20002"/>
                    </a:ext>
                  </a:extLst>
                </a:gridCol>
                <a:gridCol w="2053140">
                  <a:extLst>
                    <a:ext uri="{9D8B030D-6E8A-4147-A177-3AD203B41FA5}">
                      <a16:colId xmlns:a16="http://schemas.microsoft.com/office/drawing/2014/main" val="20003"/>
                    </a:ext>
                  </a:extLst>
                </a:gridCol>
              </a:tblGrid>
              <a:tr h="465690">
                <a:tc>
                  <a:txBody>
                    <a:bodyPr/>
                    <a:lstStyle/>
                    <a:p>
                      <a:r>
                        <a:rPr lang="en-US" sz="1050" u="sng" dirty="0">
                          <a:solidFill>
                            <a:schemeClr val="tx1"/>
                          </a:solidFill>
                        </a:rPr>
                        <a:t>Pillar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r>
                        <a:rPr lang="en-US" sz="1050" u="sng" dirty="0">
                          <a:solidFill>
                            <a:schemeClr val="tx1"/>
                          </a:solidFill>
                        </a:rPr>
                        <a:t>Impact Assessment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r>
                        <a:rPr lang="en-US" sz="1050" u="sng" dirty="0">
                          <a:solidFill>
                            <a:schemeClr val="tx1"/>
                          </a:solidFill>
                        </a:rPr>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pPr marL="0" algn="l" defTabSz="914400" rtl="0" eaLnBrk="1" latinLnBrk="0" hangingPunct="1"/>
                      <a:r>
                        <a:rPr lang="en-US" sz="1050" b="1" u="sng" kern="1200" dirty="0">
                          <a:solidFill>
                            <a:schemeClr val="tx1"/>
                          </a:solidFill>
                          <a:latin typeface="+mn-lt"/>
                          <a:ea typeface="+mn-ea"/>
                          <a:cs typeface="+mn-cs"/>
                        </a:rPr>
                        <a:t>Notes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10000"/>
                  </a:ext>
                </a:extLst>
              </a:tr>
              <a:tr h="419696">
                <a:tc>
                  <a:txBody>
                    <a:bodyPr/>
                    <a:lstStyle/>
                    <a:p>
                      <a:r>
                        <a:rPr lang="en-US" sz="1000" dirty="0"/>
                        <a:t>Doctrine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19696">
                <a:tc>
                  <a:txBody>
                    <a:bodyPr/>
                    <a:lstStyle/>
                    <a:p>
                      <a:r>
                        <a:rPr lang="en-US" sz="1000" dirty="0"/>
                        <a:t>Organization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19696">
                <a:tc>
                  <a:txBody>
                    <a:bodyPr/>
                    <a:lstStyle/>
                    <a:p>
                      <a:r>
                        <a:rPr lang="en-US" sz="1000" dirty="0"/>
                        <a:t>Training/ Education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19696">
                <a:tc>
                  <a:txBody>
                    <a:bodyPr/>
                    <a:lstStyle/>
                    <a:p>
                      <a:r>
                        <a:rPr lang="en-US" sz="1000" dirty="0"/>
                        <a:t>Material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00" dirty="0"/>
                        <a:t>Require 6 new phones, computers, workstations..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“M” – New material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19696">
                <a:tc>
                  <a:txBody>
                    <a:bodyPr/>
                    <a:lstStyle/>
                    <a:p>
                      <a:r>
                        <a:rPr lang="en-US" sz="1000" dirty="0"/>
                        <a:t>Material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“m” – Existing</a:t>
                      </a:r>
                      <a:r>
                        <a:rPr lang="en-US" sz="1000" baseline="0" dirty="0"/>
                        <a:t> material</a:t>
                      </a:r>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620919">
                <a:tc>
                  <a:txBody>
                    <a:bodyPr/>
                    <a:lstStyle/>
                    <a:p>
                      <a:r>
                        <a:rPr lang="en-US" sz="1000" dirty="0"/>
                        <a:t>Leadership and Communications Synchronization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00" dirty="0"/>
                        <a:t>Requires</a:t>
                      </a:r>
                      <a:r>
                        <a:rPr lang="en-US" sz="1000" baseline="0" dirty="0"/>
                        <a:t> phone lines and NIPR network capabilities to be installed and activated. There is a 2 month backlog in getting lines run and services activated.</a:t>
                      </a:r>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48441">
                <a:tc>
                  <a:txBody>
                    <a:bodyPr/>
                    <a:lstStyle/>
                    <a:p>
                      <a:r>
                        <a:rPr lang="en-US" sz="1000" dirty="0"/>
                        <a:t>Personnel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No issues.</a:t>
                      </a:r>
                    </a:p>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48441">
                <a:tc>
                  <a:txBody>
                    <a:bodyPr/>
                    <a:lstStyle/>
                    <a:p>
                      <a:r>
                        <a:rPr lang="en-US" sz="1000" dirty="0"/>
                        <a:t>Facilities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Minimal GF support required for facility turnover and re-assignment procedures. No impact to existing maintenance POR (FSRM).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Administrative support for facility assignment procedures.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19696">
                <a:tc>
                  <a:txBody>
                    <a:bodyPr/>
                    <a:lstStyle/>
                    <a:p>
                      <a:r>
                        <a:rPr lang="en-US" sz="1000" dirty="0"/>
                        <a:t>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Funding provided by HQMC DC xxx for all costs.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5" name="TextBox 4">
            <a:extLst>
              <a:ext uri="{FF2B5EF4-FFF2-40B4-BE49-F238E27FC236}">
                <a16:creationId xmlns:a16="http://schemas.microsoft.com/office/drawing/2014/main" id="{E6C6BF9D-7A09-5A41-A234-47225AC020DF}"/>
              </a:ext>
            </a:extLst>
          </p:cNvPr>
          <p:cNvSpPr txBox="1"/>
          <p:nvPr/>
        </p:nvSpPr>
        <p:spPr>
          <a:xfrm>
            <a:off x="131544" y="6239604"/>
            <a:ext cx="11627318" cy="584775"/>
          </a:xfrm>
          <a:prstGeom prst="rect">
            <a:avLst/>
          </a:prstGeom>
          <a:noFill/>
        </p:spPr>
        <p:txBody>
          <a:bodyPr wrap="square">
            <a:spAutoFit/>
          </a:bodyPr>
          <a:lstStyle/>
          <a:p>
            <a:r>
              <a:rPr lang="en-US" sz="800" b="1" dirty="0"/>
              <a:t>RED</a:t>
            </a:r>
            <a:r>
              <a:rPr lang="en-US" sz="800" dirty="0"/>
              <a:t> – Unsupportable (High Risk) Breaks US law, statute, etc. Cannot be accomplished with any amount of resources (time, money, personnel, etc.) </a:t>
            </a:r>
            <a:br>
              <a:rPr lang="en-US" sz="800" dirty="0"/>
            </a:br>
            <a:r>
              <a:rPr lang="en-US" sz="800" b="1" dirty="0"/>
              <a:t>ORANGE</a:t>
            </a:r>
            <a:r>
              <a:rPr lang="en-US" sz="800" dirty="0"/>
              <a:t> –  Insufficient (Significant Risk) Existing or programmed resources are insufficient to support the initiative Cannot be achieved without significant modifications and/or additional programmed resources. </a:t>
            </a:r>
          </a:p>
          <a:p>
            <a:r>
              <a:rPr lang="en-US" sz="800" b="1" dirty="0"/>
              <a:t>YELLOW – </a:t>
            </a:r>
            <a:r>
              <a:rPr lang="en-US" sz="800" dirty="0"/>
              <a:t>Executable (Moderate Risk) Can be accomplished but may require mitigation steps and solutions/resources be identified.</a:t>
            </a:r>
          </a:p>
          <a:p>
            <a:r>
              <a:rPr lang="en-US" sz="800" b="1" dirty="0"/>
              <a:t>GREEN</a:t>
            </a:r>
            <a:r>
              <a:rPr lang="en-US" sz="800" dirty="0"/>
              <a:t> – Supportable (Low Risk)  Achievable; no foreseeable obstacles exist that will preclude planned implementation. </a:t>
            </a:r>
          </a:p>
        </p:txBody>
      </p:sp>
      <p:sp>
        <p:nvSpPr>
          <p:cNvPr id="6" name="object 5">
            <a:extLst>
              <a:ext uri="{FF2B5EF4-FFF2-40B4-BE49-F238E27FC236}">
                <a16:creationId xmlns:a16="http://schemas.microsoft.com/office/drawing/2014/main" id="{3839A273-9351-D34D-51DB-CCC76303A906}"/>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2990752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13855D9-7F19-7000-4DA9-A5E232CBFCAC}"/>
              </a:ext>
            </a:extLst>
          </p:cNvPr>
          <p:cNvSpPr/>
          <p:nvPr/>
        </p:nvSpPr>
        <p:spPr>
          <a:xfrm>
            <a:off x="606392" y="279133"/>
            <a:ext cx="1694046" cy="14437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2" name="Title 1">
            <a:extLst>
              <a:ext uri="{FF2B5EF4-FFF2-40B4-BE49-F238E27FC236}">
                <a16:creationId xmlns:a16="http://schemas.microsoft.com/office/drawing/2014/main" id="{B29CED94-8066-6489-7D0F-6B0012020B2E}"/>
              </a:ext>
            </a:extLst>
          </p:cNvPr>
          <p:cNvSpPr>
            <a:spLocks noGrp="1"/>
          </p:cNvSpPr>
          <p:nvPr>
            <p:ph type="title"/>
          </p:nvPr>
        </p:nvSpPr>
        <p:spPr/>
        <p:txBody>
          <a:bodyPr/>
          <a:lstStyle/>
          <a:p>
            <a:r>
              <a:rPr lang="en-US" dirty="0"/>
              <a:t>COA 2 Installation DOTMLPF/C</a:t>
            </a:r>
          </a:p>
        </p:txBody>
      </p:sp>
      <p:sp>
        <p:nvSpPr>
          <p:cNvPr id="3" name="Slide Number Placeholder 2">
            <a:extLst>
              <a:ext uri="{FF2B5EF4-FFF2-40B4-BE49-F238E27FC236}">
                <a16:creationId xmlns:a16="http://schemas.microsoft.com/office/drawing/2014/main" id="{3A8B7E22-B428-07DA-99FF-5992DFB35A72}"/>
              </a:ext>
            </a:extLst>
          </p:cNvPr>
          <p:cNvSpPr>
            <a:spLocks noGrp="1"/>
          </p:cNvSpPr>
          <p:nvPr>
            <p:ph type="sldNum" sz="quarter" idx="12"/>
          </p:nvPr>
        </p:nvSpPr>
        <p:spPr/>
        <p:txBody>
          <a:bodyPr/>
          <a:lstStyle/>
          <a:p>
            <a:fld id="{683BFD01-D97D-47BB-8E39-D4B87178CFC1}" type="slidenum">
              <a:rPr lang="en-US" smtClean="0"/>
              <a:t>13</a:t>
            </a:fld>
            <a:endParaRPr lang="en-US"/>
          </a:p>
        </p:txBody>
      </p:sp>
      <p:graphicFrame>
        <p:nvGraphicFramePr>
          <p:cNvPr id="4" name="Content Placeholder 6">
            <a:extLst>
              <a:ext uri="{FF2B5EF4-FFF2-40B4-BE49-F238E27FC236}">
                <a16:creationId xmlns:a16="http://schemas.microsoft.com/office/drawing/2014/main" id="{DFE14FD4-6B2D-41A6-7551-A08EF890D72E}"/>
              </a:ext>
            </a:extLst>
          </p:cNvPr>
          <p:cNvGraphicFramePr>
            <a:graphicFrameLocks/>
          </p:cNvGraphicFramePr>
          <p:nvPr>
            <p:extLst>
              <p:ext uri="{D42A27DB-BD31-4B8C-83A1-F6EECF244321}">
                <p14:modId xmlns:p14="http://schemas.microsoft.com/office/powerpoint/2010/main" val="3303848783"/>
              </p:ext>
            </p:extLst>
          </p:nvPr>
        </p:nvGraphicFramePr>
        <p:xfrm>
          <a:off x="370682" y="1178166"/>
          <a:ext cx="11450636" cy="4501667"/>
        </p:xfrm>
        <a:graphic>
          <a:graphicData uri="http://schemas.openxmlformats.org/drawingml/2006/table">
            <a:tbl>
              <a:tblPr firstRow="1" bandRow="1">
                <a:tableStyleId>{5C22544A-7EE6-4342-B048-85BDC9FD1C3A}</a:tableStyleId>
              </a:tblPr>
              <a:tblGrid>
                <a:gridCol w="1295218">
                  <a:extLst>
                    <a:ext uri="{9D8B030D-6E8A-4147-A177-3AD203B41FA5}">
                      <a16:colId xmlns:a16="http://schemas.microsoft.com/office/drawing/2014/main" val="20000"/>
                    </a:ext>
                  </a:extLst>
                </a:gridCol>
                <a:gridCol w="1064871">
                  <a:extLst>
                    <a:ext uri="{9D8B030D-6E8A-4147-A177-3AD203B41FA5}">
                      <a16:colId xmlns:a16="http://schemas.microsoft.com/office/drawing/2014/main" val="20001"/>
                    </a:ext>
                  </a:extLst>
                </a:gridCol>
                <a:gridCol w="7037407">
                  <a:extLst>
                    <a:ext uri="{9D8B030D-6E8A-4147-A177-3AD203B41FA5}">
                      <a16:colId xmlns:a16="http://schemas.microsoft.com/office/drawing/2014/main" val="20002"/>
                    </a:ext>
                  </a:extLst>
                </a:gridCol>
                <a:gridCol w="2053140">
                  <a:extLst>
                    <a:ext uri="{9D8B030D-6E8A-4147-A177-3AD203B41FA5}">
                      <a16:colId xmlns:a16="http://schemas.microsoft.com/office/drawing/2014/main" val="20003"/>
                    </a:ext>
                  </a:extLst>
                </a:gridCol>
              </a:tblGrid>
              <a:tr h="465690">
                <a:tc>
                  <a:txBody>
                    <a:bodyPr/>
                    <a:lstStyle/>
                    <a:p>
                      <a:r>
                        <a:rPr lang="en-US" sz="1050" u="sng" dirty="0">
                          <a:solidFill>
                            <a:schemeClr val="tx1"/>
                          </a:solidFill>
                        </a:rPr>
                        <a:t>Pillar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r>
                        <a:rPr lang="en-US" sz="1050" u="sng" dirty="0">
                          <a:solidFill>
                            <a:schemeClr val="tx1"/>
                          </a:solidFill>
                        </a:rPr>
                        <a:t>Impact Assessment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r>
                        <a:rPr lang="en-US" sz="1050" u="sng" dirty="0">
                          <a:solidFill>
                            <a:schemeClr val="tx1"/>
                          </a:solidFill>
                        </a:rPr>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pPr marL="0" algn="l" defTabSz="914400" rtl="0" eaLnBrk="1" latinLnBrk="0" hangingPunct="1"/>
                      <a:r>
                        <a:rPr lang="en-US" sz="1050" b="1" u="sng" kern="1200" dirty="0">
                          <a:solidFill>
                            <a:schemeClr val="tx1"/>
                          </a:solidFill>
                          <a:latin typeface="+mn-lt"/>
                          <a:ea typeface="+mn-ea"/>
                          <a:cs typeface="+mn-cs"/>
                        </a:rPr>
                        <a:t>Notes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10000"/>
                  </a:ext>
                </a:extLst>
              </a:tr>
              <a:tr h="419696">
                <a:tc>
                  <a:txBody>
                    <a:bodyPr/>
                    <a:lstStyle/>
                    <a:p>
                      <a:r>
                        <a:rPr lang="en-US" sz="1000" dirty="0"/>
                        <a:t>Doctrine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19696">
                <a:tc>
                  <a:txBody>
                    <a:bodyPr/>
                    <a:lstStyle/>
                    <a:p>
                      <a:r>
                        <a:rPr lang="en-US" sz="1000" dirty="0"/>
                        <a:t>Organization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19696">
                <a:tc>
                  <a:txBody>
                    <a:bodyPr/>
                    <a:lstStyle/>
                    <a:p>
                      <a:r>
                        <a:rPr lang="en-US" sz="1000" dirty="0"/>
                        <a:t>Training/ Education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19696">
                <a:tc>
                  <a:txBody>
                    <a:bodyPr/>
                    <a:lstStyle/>
                    <a:p>
                      <a:r>
                        <a:rPr lang="en-US" sz="1000" dirty="0"/>
                        <a:t>Material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00" dirty="0"/>
                        <a:t>Require 6 new phones, computers, workstations..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“M” – New material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19696">
                <a:tc>
                  <a:txBody>
                    <a:bodyPr/>
                    <a:lstStyle/>
                    <a:p>
                      <a:r>
                        <a:rPr lang="en-US" sz="1000" dirty="0"/>
                        <a:t>Material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“m” – Existing</a:t>
                      </a:r>
                      <a:r>
                        <a:rPr lang="en-US" sz="1000" baseline="0" dirty="0"/>
                        <a:t> material</a:t>
                      </a:r>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620919">
                <a:tc>
                  <a:txBody>
                    <a:bodyPr/>
                    <a:lstStyle/>
                    <a:p>
                      <a:r>
                        <a:rPr lang="en-US" sz="1000" dirty="0"/>
                        <a:t>Leadership and Communications Synchronization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00" dirty="0"/>
                        <a:t>Requires</a:t>
                      </a:r>
                      <a:r>
                        <a:rPr lang="en-US" sz="1000" baseline="0" dirty="0"/>
                        <a:t> phone lines and NIPR network capabilities to be installed and activated. There is a 2 month backlog in getting lines run and services activated.</a:t>
                      </a:r>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48441">
                <a:tc>
                  <a:txBody>
                    <a:bodyPr/>
                    <a:lstStyle/>
                    <a:p>
                      <a:r>
                        <a:rPr lang="en-US" sz="1000" dirty="0"/>
                        <a:t>Personnel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No issues.</a:t>
                      </a:r>
                    </a:p>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48441">
                <a:tc>
                  <a:txBody>
                    <a:bodyPr/>
                    <a:lstStyle/>
                    <a:p>
                      <a:r>
                        <a:rPr lang="en-US" sz="1000" dirty="0"/>
                        <a:t>Facilities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000" dirty="0"/>
                        <a:t>Surg Co B, 3d MED BN and bulk of 3d MLG not accounted for under DPRI POR. Requires significant M2R2 level FSRM investments into any remaining, unassigned facilities not yet demolished under DPRI POR.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19696">
                <a:tc>
                  <a:txBody>
                    <a:bodyPr/>
                    <a:lstStyle/>
                    <a:p>
                      <a:r>
                        <a:rPr lang="en-US" sz="1000" dirty="0"/>
                        <a:t>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Funding provided by HQMC DC xxx for all costs.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5" name="TextBox 4">
            <a:extLst>
              <a:ext uri="{FF2B5EF4-FFF2-40B4-BE49-F238E27FC236}">
                <a16:creationId xmlns:a16="http://schemas.microsoft.com/office/drawing/2014/main" id="{E6C6BF9D-7A09-5A41-A234-47225AC020DF}"/>
              </a:ext>
            </a:extLst>
          </p:cNvPr>
          <p:cNvSpPr txBox="1"/>
          <p:nvPr/>
        </p:nvSpPr>
        <p:spPr>
          <a:xfrm>
            <a:off x="131544" y="6239604"/>
            <a:ext cx="11627318" cy="584775"/>
          </a:xfrm>
          <a:prstGeom prst="rect">
            <a:avLst/>
          </a:prstGeom>
          <a:noFill/>
        </p:spPr>
        <p:txBody>
          <a:bodyPr wrap="square">
            <a:spAutoFit/>
          </a:bodyPr>
          <a:lstStyle/>
          <a:p>
            <a:r>
              <a:rPr lang="en-US" sz="800" b="1" dirty="0"/>
              <a:t>RED</a:t>
            </a:r>
            <a:r>
              <a:rPr lang="en-US" sz="800" dirty="0"/>
              <a:t> – Unsupportable (High Risk) Breaks US law, statute, etc. Cannot be accomplished with any amount of resources (time, money, personnel, etc.) </a:t>
            </a:r>
            <a:br>
              <a:rPr lang="en-US" sz="800" dirty="0"/>
            </a:br>
            <a:r>
              <a:rPr lang="en-US" sz="800" b="1" dirty="0"/>
              <a:t>ORANGE</a:t>
            </a:r>
            <a:r>
              <a:rPr lang="en-US" sz="800" dirty="0"/>
              <a:t> –  Insufficient (Significant Risk) Existing or programmed resources are insufficient to support the initiative Cannot be achieved without significant modifications and/or additional programmed resources. </a:t>
            </a:r>
          </a:p>
          <a:p>
            <a:r>
              <a:rPr lang="en-US" sz="800" b="1" dirty="0"/>
              <a:t>YELLOW – </a:t>
            </a:r>
            <a:r>
              <a:rPr lang="en-US" sz="800" dirty="0"/>
              <a:t>Executable (Moderate Risk) Can be accomplished but may require mitigation steps and solutions/resources be identified.</a:t>
            </a:r>
          </a:p>
          <a:p>
            <a:r>
              <a:rPr lang="en-US" sz="800" b="1" dirty="0"/>
              <a:t>GREEN</a:t>
            </a:r>
            <a:r>
              <a:rPr lang="en-US" sz="800" dirty="0"/>
              <a:t> – Supportable (Low Risk)  Achievable; no foreseeable obstacles exist that will preclude planned implementation. </a:t>
            </a:r>
          </a:p>
        </p:txBody>
      </p:sp>
      <p:sp>
        <p:nvSpPr>
          <p:cNvPr id="6" name="object 5">
            <a:extLst>
              <a:ext uri="{FF2B5EF4-FFF2-40B4-BE49-F238E27FC236}">
                <a16:creationId xmlns:a16="http://schemas.microsoft.com/office/drawing/2014/main" id="{C553A8BA-903E-8E67-F6AE-CD30BA4CCD4C}"/>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2246549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11403A-4A42-B67C-F2EB-C5170DA088CB}"/>
              </a:ext>
            </a:extLst>
          </p:cNvPr>
          <p:cNvSpPr/>
          <p:nvPr/>
        </p:nvSpPr>
        <p:spPr>
          <a:xfrm>
            <a:off x="606392" y="279133"/>
            <a:ext cx="1694046" cy="14437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2" name="Title 1">
            <a:extLst>
              <a:ext uri="{FF2B5EF4-FFF2-40B4-BE49-F238E27FC236}">
                <a16:creationId xmlns:a16="http://schemas.microsoft.com/office/drawing/2014/main" id="{B29CED94-8066-6489-7D0F-6B0012020B2E}"/>
              </a:ext>
            </a:extLst>
          </p:cNvPr>
          <p:cNvSpPr>
            <a:spLocks noGrp="1"/>
          </p:cNvSpPr>
          <p:nvPr>
            <p:ph type="title"/>
          </p:nvPr>
        </p:nvSpPr>
        <p:spPr/>
        <p:txBody>
          <a:bodyPr/>
          <a:lstStyle/>
          <a:p>
            <a:r>
              <a:rPr lang="en-US" dirty="0"/>
              <a:t>COA 3 Installation DOTMLPF/C</a:t>
            </a:r>
          </a:p>
        </p:txBody>
      </p:sp>
      <p:sp>
        <p:nvSpPr>
          <p:cNvPr id="3" name="Slide Number Placeholder 2">
            <a:extLst>
              <a:ext uri="{FF2B5EF4-FFF2-40B4-BE49-F238E27FC236}">
                <a16:creationId xmlns:a16="http://schemas.microsoft.com/office/drawing/2014/main" id="{3A8B7E22-B428-07DA-99FF-5992DFB35A72}"/>
              </a:ext>
            </a:extLst>
          </p:cNvPr>
          <p:cNvSpPr>
            <a:spLocks noGrp="1"/>
          </p:cNvSpPr>
          <p:nvPr>
            <p:ph type="sldNum" sz="quarter" idx="12"/>
          </p:nvPr>
        </p:nvSpPr>
        <p:spPr/>
        <p:txBody>
          <a:bodyPr/>
          <a:lstStyle/>
          <a:p>
            <a:fld id="{683BFD01-D97D-47BB-8E39-D4B87178CFC1}" type="slidenum">
              <a:rPr lang="en-US" smtClean="0"/>
              <a:t>14</a:t>
            </a:fld>
            <a:endParaRPr lang="en-US"/>
          </a:p>
        </p:txBody>
      </p:sp>
      <p:graphicFrame>
        <p:nvGraphicFramePr>
          <p:cNvPr id="4" name="Content Placeholder 6">
            <a:extLst>
              <a:ext uri="{FF2B5EF4-FFF2-40B4-BE49-F238E27FC236}">
                <a16:creationId xmlns:a16="http://schemas.microsoft.com/office/drawing/2014/main" id="{DFE14FD4-6B2D-41A6-7551-A08EF890D72E}"/>
              </a:ext>
            </a:extLst>
          </p:cNvPr>
          <p:cNvGraphicFramePr>
            <a:graphicFrameLocks/>
          </p:cNvGraphicFramePr>
          <p:nvPr>
            <p:extLst>
              <p:ext uri="{D42A27DB-BD31-4B8C-83A1-F6EECF244321}">
                <p14:modId xmlns:p14="http://schemas.microsoft.com/office/powerpoint/2010/main" val="2999197709"/>
              </p:ext>
            </p:extLst>
          </p:nvPr>
        </p:nvGraphicFramePr>
        <p:xfrm>
          <a:off x="370682" y="1178166"/>
          <a:ext cx="11450636" cy="4601866"/>
        </p:xfrm>
        <a:graphic>
          <a:graphicData uri="http://schemas.openxmlformats.org/drawingml/2006/table">
            <a:tbl>
              <a:tblPr firstRow="1" bandRow="1">
                <a:tableStyleId>{5C22544A-7EE6-4342-B048-85BDC9FD1C3A}</a:tableStyleId>
              </a:tblPr>
              <a:tblGrid>
                <a:gridCol w="1295218">
                  <a:extLst>
                    <a:ext uri="{9D8B030D-6E8A-4147-A177-3AD203B41FA5}">
                      <a16:colId xmlns:a16="http://schemas.microsoft.com/office/drawing/2014/main" val="20000"/>
                    </a:ext>
                  </a:extLst>
                </a:gridCol>
                <a:gridCol w="1064871">
                  <a:extLst>
                    <a:ext uri="{9D8B030D-6E8A-4147-A177-3AD203B41FA5}">
                      <a16:colId xmlns:a16="http://schemas.microsoft.com/office/drawing/2014/main" val="20001"/>
                    </a:ext>
                  </a:extLst>
                </a:gridCol>
                <a:gridCol w="7037407">
                  <a:extLst>
                    <a:ext uri="{9D8B030D-6E8A-4147-A177-3AD203B41FA5}">
                      <a16:colId xmlns:a16="http://schemas.microsoft.com/office/drawing/2014/main" val="20002"/>
                    </a:ext>
                  </a:extLst>
                </a:gridCol>
                <a:gridCol w="2053140">
                  <a:extLst>
                    <a:ext uri="{9D8B030D-6E8A-4147-A177-3AD203B41FA5}">
                      <a16:colId xmlns:a16="http://schemas.microsoft.com/office/drawing/2014/main" val="20003"/>
                    </a:ext>
                  </a:extLst>
                </a:gridCol>
              </a:tblGrid>
              <a:tr h="465690">
                <a:tc>
                  <a:txBody>
                    <a:bodyPr/>
                    <a:lstStyle/>
                    <a:p>
                      <a:r>
                        <a:rPr lang="en-US" sz="1050" u="sng" dirty="0">
                          <a:solidFill>
                            <a:schemeClr val="tx1"/>
                          </a:solidFill>
                        </a:rPr>
                        <a:t>Pillar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r>
                        <a:rPr lang="en-US" sz="1050" u="sng" dirty="0">
                          <a:solidFill>
                            <a:schemeClr val="tx1"/>
                          </a:solidFill>
                        </a:rPr>
                        <a:t>Impact Assessment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r>
                        <a:rPr lang="en-US" sz="1050" u="sng" dirty="0">
                          <a:solidFill>
                            <a:schemeClr val="tx1"/>
                          </a:solidFill>
                        </a:rPr>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pPr marL="0" algn="l" defTabSz="914400" rtl="0" eaLnBrk="1" latinLnBrk="0" hangingPunct="1"/>
                      <a:r>
                        <a:rPr lang="en-US" sz="1050" b="1" u="sng" kern="1200" dirty="0">
                          <a:solidFill>
                            <a:schemeClr val="tx1"/>
                          </a:solidFill>
                          <a:latin typeface="+mn-lt"/>
                          <a:ea typeface="+mn-ea"/>
                          <a:cs typeface="+mn-cs"/>
                        </a:rPr>
                        <a:t>Notes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10000"/>
                  </a:ext>
                </a:extLst>
              </a:tr>
              <a:tr h="419696">
                <a:tc>
                  <a:txBody>
                    <a:bodyPr/>
                    <a:lstStyle/>
                    <a:p>
                      <a:r>
                        <a:rPr lang="en-US" sz="1000" dirty="0"/>
                        <a:t>Doctrine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19696">
                <a:tc>
                  <a:txBody>
                    <a:bodyPr/>
                    <a:lstStyle/>
                    <a:p>
                      <a:r>
                        <a:rPr lang="en-US" sz="1000" dirty="0"/>
                        <a:t>Organization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19696">
                <a:tc>
                  <a:txBody>
                    <a:bodyPr/>
                    <a:lstStyle/>
                    <a:p>
                      <a:r>
                        <a:rPr lang="en-US" sz="1000" dirty="0"/>
                        <a:t>Training/ Education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19696">
                <a:tc>
                  <a:txBody>
                    <a:bodyPr/>
                    <a:lstStyle/>
                    <a:p>
                      <a:r>
                        <a:rPr lang="en-US" sz="1000" dirty="0"/>
                        <a:t>Material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00" dirty="0"/>
                        <a:t>Require 6 new phones, computers, workstations..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“M” – New material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19696">
                <a:tc>
                  <a:txBody>
                    <a:bodyPr/>
                    <a:lstStyle/>
                    <a:p>
                      <a:r>
                        <a:rPr lang="en-US" sz="1000" dirty="0"/>
                        <a:t>Material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No issues.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“m” – Existing</a:t>
                      </a:r>
                      <a:r>
                        <a:rPr lang="en-US" sz="1000" baseline="0" dirty="0"/>
                        <a:t> material</a:t>
                      </a:r>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620919">
                <a:tc>
                  <a:txBody>
                    <a:bodyPr/>
                    <a:lstStyle/>
                    <a:p>
                      <a:r>
                        <a:rPr lang="en-US" sz="1000" dirty="0"/>
                        <a:t>Leadership and Communications Synchronization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000" dirty="0"/>
                        <a:t>Requires</a:t>
                      </a:r>
                      <a:r>
                        <a:rPr lang="en-US" sz="1000" baseline="0" dirty="0"/>
                        <a:t> phone lines and NIPR network capabilities to be installed and activated. There is a 2 month backlog in getting lines run and services activated.</a:t>
                      </a:r>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48441">
                <a:tc>
                  <a:txBody>
                    <a:bodyPr/>
                    <a:lstStyle/>
                    <a:p>
                      <a:r>
                        <a:rPr lang="en-US" sz="1000" dirty="0"/>
                        <a:t>Personnel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No issues.</a:t>
                      </a:r>
                    </a:p>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48441">
                <a:tc>
                  <a:txBody>
                    <a:bodyPr/>
                    <a:lstStyle/>
                    <a:p>
                      <a:r>
                        <a:rPr lang="en-US" sz="1000" dirty="0"/>
                        <a:t>Facilities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US" sz="1000" dirty="0"/>
                        <a:t>Surg Co B, 3d MED BN and bulk of 3d MLG not accounted for under DPRI POR. Requires significant MILCON investments into new development areas (KASA-1, CTA or NTA) that were identified at Pacific Posture OPTs.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a:t>Impact is Red because long term basing does not align with DPRI POR – </a:t>
                      </a:r>
                      <a:r>
                        <a:rPr lang="en-US" sz="1000" u="sng" dirty="0"/>
                        <a:t>not bilaterally agreed</a:t>
                      </a:r>
                      <a:r>
                        <a:rPr lang="en-US" sz="1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19696">
                <a:tc>
                  <a:txBody>
                    <a:bodyPr/>
                    <a:lstStyle/>
                    <a:p>
                      <a:r>
                        <a:rPr lang="en-US" sz="1000" dirty="0"/>
                        <a:t>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000" dirty="0"/>
                        <a:t>Funding provided by HQMC DC xxx for all costs.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5" name="TextBox 4">
            <a:extLst>
              <a:ext uri="{FF2B5EF4-FFF2-40B4-BE49-F238E27FC236}">
                <a16:creationId xmlns:a16="http://schemas.microsoft.com/office/drawing/2014/main" id="{E6C6BF9D-7A09-5A41-A234-47225AC020DF}"/>
              </a:ext>
            </a:extLst>
          </p:cNvPr>
          <p:cNvSpPr txBox="1"/>
          <p:nvPr/>
        </p:nvSpPr>
        <p:spPr>
          <a:xfrm>
            <a:off x="131544" y="6239604"/>
            <a:ext cx="11627318" cy="584775"/>
          </a:xfrm>
          <a:prstGeom prst="rect">
            <a:avLst/>
          </a:prstGeom>
          <a:noFill/>
        </p:spPr>
        <p:txBody>
          <a:bodyPr wrap="square">
            <a:spAutoFit/>
          </a:bodyPr>
          <a:lstStyle/>
          <a:p>
            <a:r>
              <a:rPr lang="en-US" sz="800" b="1" dirty="0"/>
              <a:t>RED</a:t>
            </a:r>
            <a:r>
              <a:rPr lang="en-US" sz="800" dirty="0"/>
              <a:t> – Unsupportable (High Risk) Breaks US law, statute, etc. Cannot be accomplished with any amount of resources (time, money, personnel, etc.) </a:t>
            </a:r>
            <a:br>
              <a:rPr lang="en-US" sz="800" dirty="0"/>
            </a:br>
            <a:r>
              <a:rPr lang="en-US" sz="800" b="1" dirty="0"/>
              <a:t>ORANGE</a:t>
            </a:r>
            <a:r>
              <a:rPr lang="en-US" sz="800" dirty="0"/>
              <a:t> –  Insufficient (Significant Risk) Existing or programmed resources are insufficient to support the initiative Cannot be achieved without significant modifications and/or additional programmed resources. </a:t>
            </a:r>
          </a:p>
          <a:p>
            <a:r>
              <a:rPr lang="en-US" sz="800" b="1" dirty="0"/>
              <a:t>YELLOW – </a:t>
            </a:r>
            <a:r>
              <a:rPr lang="en-US" sz="800" dirty="0"/>
              <a:t>Executable (Moderate Risk) Can be accomplished but may require mitigation steps and solutions/resources be identified.</a:t>
            </a:r>
          </a:p>
          <a:p>
            <a:r>
              <a:rPr lang="en-US" sz="800" b="1" dirty="0"/>
              <a:t>GREEN</a:t>
            </a:r>
            <a:r>
              <a:rPr lang="en-US" sz="800" dirty="0"/>
              <a:t> – Supportable (Low Risk)  Achievable; no foreseeable obstacles exist that will preclude planned implementation. </a:t>
            </a:r>
          </a:p>
        </p:txBody>
      </p:sp>
      <p:sp>
        <p:nvSpPr>
          <p:cNvPr id="6" name="object 5">
            <a:extLst>
              <a:ext uri="{FF2B5EF4-FFF2-40B4-BE49-F238E27FC236}">
                <a16:creationId xmlns:a16="http://schemas.microsoft.com/office/drawing/2014/main" id="{570390EB-19DF-42E4-F4D8-CB4EF6288303}"/>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1990224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7738B7-71EA-CCD6-CABB-E40B7882F5B9}"/>
              </a:ext>
            </a:extLst>
          </p:cNvPr>
          <p:cNvSpPr>
            <a:spLocks noGrp="1"/>
          </p:cNvSpPr>
          <p:nvPr>
            <p:ph type="title"/>
          </p:nvPr>
        </p:nvSpPr>
        <p:spPr/>
        <p:txBody>
          <a:bodyPr/>
          <a:lstStyle/>
          <a:p>
            <a:r>
              <a:rPr lang="en-US" dirty="0"/>
              <a:t>Installation Assessment Way-forward</a:t>
            </a:r>
          </a:p>
        </p:txBody>
      </p:sp>
      <p:sp>
        <p:nvSpPr>
          <p:cNvPr id="7" name="Content Placeholder 6">
            <a:extLst>
              <a:ext uri="{FF2B5EF4-FFF2-40B4-BE49-F238E27FC236}">
                <a16:creationId xmlns:a16="http://schemas.microsoft.com/office/drawing/2014/main" id="{13AB8089-8B30-C9FD-668A-7A0395D634CC}"/>
              </a:ext>
            </a:extLst>
          </p:cNvPr>
          <p:cNvSpPr>
            <a:spLocks noGrp="1"/>
          </p:cNvSpPr>
          <p:nvPr>
            <p:ph idx="1"/>
          </p:nvPr>
        </p:nvSpPr>
        <p:spPr/>
        <p:txBody>
          <a:bodyPr>
            <a:normAutofit fontScale="92500" lnSpcReduction="10000"/>
          </a:bodyPr>
          <a:lstStyle/>
          <a:p>
            <a:r>
              <a:rPr lang="en-US" dirty="0"/>
              <a:t>GF MCBB PW recommends COA 1 to meet the new basing requirement on a short-term basis, with notes below:</a:t>
            </a:r>
          </a:p>
          <a:p>
            <a:pPr lvl="1">
              <a:buFont typeface="Courier New" panose="02070309020205020404" pitchFamily="49" charset="0"/>
              <a:buChar char="o"/>
            </a:pPr>
            <a:r>
              <a:rPr lang="en-US" dirty="0"/>
              <a:t>The MCBB Program Of Record does not support 3D MED BN work facility requirements beyond 2030.</a:t>
            </a:r>
          </a:p>
          <a:p>
            <a:pPr lvl="1">
              <a:buFont typeface="Courier New" panose="02070309020205020404" pitchFamily="49" charset="0"/>
              <a:buChar char="o"/>
            </a:pPr>
            <a:r>
              <a:rPr lang="en-US" dirty="0"/>
              <a:t>Major conversion/repair/upgrade projects are possible but requires specified supplemental funding due to current FSRM program backlog. Planning/programming by FY26, Funding in FY27.</a:t>
            </a:r>
          </a:p>
          <a:p>
            <a:pPr lvl="1">
              <a:buFont typeface="Courier New" panose="02070309020205020404" pitchFamily="49" charset="0"/>
              <a:buChar char="o"/>
            </a:pPr>
            <a:r>
              <a:rPr lang="en-US" dirty="0"/>
              <a:t>GF space management actions completed NLT FY27 (facility space request, turnover, and re-assignment procedures).</a:t>
            </a:r>
          </a:p>
          <a:p>
            <a:pPr lvl="1"/>
            <a:endParaRPr lang="en-US" dirty="0"/>
          </a:p>
          <a:p>
            <a:r>
              <a:rPr lang="en-US" dirty="0"/>
              <a:t>Way-forward: GF MCBB PW recommends HQMC either engage DPRI to modify Program Of Record or invest in new development areas if a longer-term or enduring basing of 3D MED BN aboard MCBB is required.</a:t>
            </a:r>
          </a:p>
          <a:p>
            <a:pPr marL="457200" lvl="1" indent="0">
              <a:buNone/>
            </a:pPr>
            <a:endParaRPr lang="en-US" dirty="0"/>
          </a:p>
          <a:p>
            <a:endParaRPr lang="en-US" dirty="0"/>
          </a:p>
        </p:txBody>
      </p:sp>
      <p:sp>
        <p:nvSpPr>
          <p:cNvPr id="5" name="Slide Number Placeholder 4">
            <a:extLst>
              <a:ext uri="{FF2B5EF4-FFF2-40B4-BE49-F238E27FC236}">
                <a16:creationId xmlns:a16="http://schemas.microsoft.com/office/drawing/2014/main" id="{D68F2196-A888-1288-617F-7C63A5E73FBD}"/>
              </a:ext>
            </a:extLst>
          </p:cNvPr>
          <p:cNvSpPr>
            <a:spLocks noGrp="1"/>
          </p:cNvSpPr>
          <p:nvPr>
            <p:ph type="sldNum" sz="quarter" idx="12"/>
          </p:nvPr>
        </p:nvSpPr>
        <p:spPr/>
        <p:txBody>
          <a:bodyPr/>
          <a:lstStyle/>
          <a:p>
            <a:fld id="{683BFD01-D97D-47BB-8E39-D4B87178CFC1}" type="slidenum">
              <a:rPr lang="en-US" smtClean="0"/>
              <a:t>15</a:t>
            </a:fld>
            <a:endParaRPr lang="en-US"/>
          </a:p>
        </p:txBody>
      </p:sp>
      <p:sp>
        <p:nvSpPr>
          <p:cNvPr id="9" name="object 6">
            <a:extLst>
              <a:ext uri="{FF2B5EF4-FFF2-40B4-BE49-F238E27FC236}">
                <a16:creationId xmlns:a16="http://schemas.microsoft.com/office/drawing/2014/main" id="{A38085B6-7FD9-D6A3-C532-BDD1167E5D6A}"/>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2" name="object 5">
            <a:extLst>
              <a:ext uri="{FF2B5EF4-FFF2-40B4-BE49-F238E27FC236}">
                <a16:creationId xmlns:a16="http://schemas.microsoft.com/office/drawing/2014/main" id="{DC841DDE-0B25-80CC-C715-CA3A989A2217}"/>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1334214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EDFC1-C8E2-B674-9C13-A733731A7FC0}"/>
              </a:ext>
            </a:extLst>
          </p:cNvPr>
          <p:cNvSpPr>
            <a:spLocks noGrp="1"/>
          </p:cNvSpPr>
          <p:nvPr>
            <p:ph type="title"/>
          </p:nvPr>
        </p:nvSpPr>
        <p:spPr/>
        <p:txBody>
          <a:bodyPr/>
          <a:lstStyle/>
          <a:p>
            <a:r>
              <a:rPr lang="en-US" dirty="0"/>
              <a:t>Requests for Information</a:t>
            </a:r>
          </a:p>
        </p:txBody>
      </p:sp>
      <p:sp>
        <p:nvSpPr>
          <p:cNvPr id="3" name="Content Placeholder 2">
            <a:extLst>
              <a:ext uri="{FF2B5EF4-FFF2-40B4-BE49-F238E27FC236}">
                <a16:creationId xmlns:a16="http://schemas.microsoft.com/office/drawing/2014/main" id="{13EA4A23-D4B5-3B72-082E-2CF81C752E55}"/>
              </a:ext>
            </a:extLst>
          </p:cNvPr>
          <p:cNvSpPr>
            <a:spLocks noGrp="1"/>
          </p:cNvSpPr>
          <p:nvPr>
            <p:ph idx="1"/>
          </p:nvPr>
        </p:nvSpPr>
        <p:spPr/>
        <p:txBody>
          <a:bodyPr/>
          <a:lstStyle/>
          <a:p>
            <a:r>
              <a:rPr lang="en-US" sz="2800" dirty="0">
                <a:latin typeface="Calibri"/>
                <a:cs typeface="Calibri"/>
              </a:rPr>
              <a:t>Provide</a:t>
            </a:r>
            <a:r>
              <a:rPr lang="en-US" spc="-75" dirty="0">
                <a:latin typeface="Calibri"/>
                <a:cs typeface="Calibri"/>
              </a:rPr>
              <a:t> </a:t>
            </a:r>
            <a:r>
              <a:rPr lang="en-US" sz="2800" spc="-20" dirty="0">
                <a:latin typeface="Calibri"/>
                <a:cs typeface="Calibri"/>
              </a:rPr>
              <a:t>RFI’s</a:t>
            </a:r>
            <a:r>
              <a:rPr lang="en-US" sz="2800" spc="-90" dirty="0">
                <a:latin typeface="Calibri"/>
                <a:cs typeface="Calibri"/>
              </a:rPr>
              <a:t> </a:t>
            </a:r>
            <a:r>
              <a:rPr lang="en-US" sz="2800" dirty="0">
                <a:latin typeface="Calibri"/>
                <a:cs typeface="Calibri"/>
              </a:rPr>
              <a:t>which</a:t>
            </a:r>
            <a:r>
              <a:rPr lang="en-US" sz="2800" spc="-85" dirty="0">
                <a:latin typeface="Calibri"/>
                <a:cs typeface="Calibri"/>
              </a:rPr>
              <a:t> </a:t>
            </a:r>
            <a:r>
              <a:rPr lang="en-US" sz="2800" dirty="0">
                <a:latin typeface="Calibri"/>
                <a:cs typeface="Calibri"/>
              </a:rPr>
              <a:t>must</a:t>
            </a:r>
            <a:r>
              <a:rPr lang="en-US" sz="2800" spc="-60" dirty="0">
                <a:latin typeface="Calibri"/>
                <a:cs typeface="Calibri"/>
              </a:rPr>
              <a:t> </a:t>
            </a:r>
            <a:r>
              <a:rPr lang="en-US" sz="2800" dirty="0">
                <a:latin typeface="Calibri"/>
                <a:cs typeface="Calibri"/>
              </a:rPr>
              <a:t>be</a:t>
            </a:r>
            <a:r>
              <a:rPr lang="en-US" sz="2800" spc="-85" dirty="0">
                <a:latin typeface="Calibri"/>
                <a:cs typeface="Calibri"/>
              </a:rPr>
              <a:t> </a:t>
            </a:r>
            <a:r>
              <a:rPr lang="en-US" sz="2800" spc="-10" dirty="0">
                <a:latin typeface="Calibri"/>
                <a:cs typeface="Calibri"/>
              </a:rPr>
              <a:t>addressed.</a:t>
            </a:r>
            <a:endParaRPr lang="en-US" sz="2800" dirty="0">
              <a:latin typeface="Calibri"/>
              <a:cs typeface="Calibri"/>
            </a:endParaRPr>
          </a:p>
          <a:p>
            <a:endParaRPr lang="en-US" dirty="0"/>
          </a:p>
        </p:txBody>
      </p:sp>
      <p:sp>
        <p:nvSpPr>
          <p:cNvPr id="4" name="Slide Number Placeholder 3">
            <a:extLst>
              <a:ext uri="{FF2B5EF4-FFF2-40B4-BE49-F238E27FC236}">
                <a16:creationId xmlns:a16="http://schemas.microsoft.com/office/drawing/2014/main" id="{861E29A4-6A52-336E-648E-14933CBC839B}"/>
              </a:ext>
            </a:extLst>
          </p:cNvPr>
          <p:cNvSpPr>
            <a:spLocks noGrp="1"/>
          </p:cNvSpPr>
          <p:nvPr>
            <p:ph type="sldNum" sz="quarter" idx="12"/>
          </p:nvPr>
        </p:nvSpPr>
        <p:spPr/>
        <p:txBody>
          <a:bodyPr/>
          <a:lstStyle/>
          <a:p>
            <a:fld id="{683BFD01-D97D-47BB-8E39-D4B87178CFC1}" type="slidenum">
              <a:rPr lang="en-US" smtClean="0"/>
              <a:t>16</a:t>
            </a:fld>
            <a:endParaRPr lang="en-US"/>
          </a:p>
        </p:txBody>
      </p:sp>
      <p:sp>
        <p:nvSpPr>
          <p:cNvPr id="6" name="object 6">
            <a:extLst>
              <a:ext uri="{FF2B5EF4-FFF2-40B4-BE49-F238E27FC236}">
                <a16:creationId xmlns:a16="http://schemas.microsoft.com/office/drawing/2014/main" id="{26820963-117F-58A2-8790-E3479B6B066B}"/>
              </a:ext>
            </a:extLst>
          </p:cNvPr>
          <p:cNvSpPr txBox="1"/>
          <p:nvPr/>
        </p:nvSpPr>
        <p:spPr>
          <a:xfrm>
            <a:off x="5130800" y="6564274"/>
            <a:ext cx="2003425" cy="186690"/>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55" dirty="0">
                <a:solidFill>
                  <a:srgbClr val="6FAC46"/>
                </a:solidFill>
                <a:latin typeface="Calibri"/>
                <a:cs typeface="Calibri"/>
              </a:rPr>
              <a:t> </a:t>
            </a:r>
            <a:r>
              <a:rPr sz="1050" b="1" spc="-10" dirty="0">
                <a:solidFill>
                  <a:srgbClr val="6FAC46"/>
                </a:solidFill>
                <a:latin typeface="Calibri"/>
                <a:cs typeface="Calibri"/>
              </a:rPr>
              <a:t>Information</a:t>
            </a:r>
            <a:endParaRPr sz="1050">
              <a:latin typeface="Calibri"/>
              <a:cs typeface="Calibri"/>
            </a:endParaRPr>
          </a:p>
        </p:txBody>
      </p:sp>
      <p:sp>
        <p:nvSpPr>
          <p:cNvPr id="7" name="object 5">
            <a:extLst>
              <a:ext uri="{FF2B5EF4-FFF2-40B4-BE49-F238E27FC236}">
                <a16:creationId xmlns:a16="http://schemas.microsoft.com/office/drawing/2014/main" id="{3806C71A-FE39-CEA8-74AC-0CEC5CD8C1ED}"/>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3043541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BBC67-2511-061B-111B-2FA926C08552}"/>
              </a:ext>
            </a:extLst>
          </p:cNvPr>
          <p:cNvSpPr>
            <a:spLocks noGrp="1"/>
          </p:cNvSpPr>
          <p:nvPr>
            <p:ph type="title"/>
          </p:nvPr>
        </p:nvSpPr>
        <p:spPr/>
        <p:txBody>
          <a:bodyPr/>
          <a:lstStyle/>
          <a:p>
            <a:r>
              <a:rPr lang="en-US" dirty="0"/>
              <a:t>Installation COA Recommendation</a:t>
            </a:r>
          </a:p>
        </p:txBody>
      </p:sp>
      <p:sp>
        <p:nvSpPr>
          <p:cNvPr id="3" name="Content Placeholder 2">
            <a:extLst>
              <a:ext uri="{FF2B5EF4-FFF2-40B4-BE49-F238E27FC236}">
                <a16:creationId xmlns:a16="http://schemas.microsoft.com/office/drawing/2014/main" id="{763FD03A-EABC-5D11-3E99-4A980DBB974E}"/>
              </a:ext>
            </a:extLst>
          </p:cNvPr>
          <p:cNvSpPr>
            <a:spLocks noGrp="1"/>
          </p:cNvSpPr>
          <p:nvPr>
            <p:ph idx="1"/>
          </p:nvPr>
        </p:nvSpPr>
        <p:spPr/>
        <p:txBody>
          <a:bodyPr>
            <a:normAutofit lnSpcReduction="10000"/>
          </a:bodyPr>
          <a:lstStyle/>
          <a:p>
            <a:pPr marL="571500" lvl="1" indent="-457200">
              <a:spcBef>
                <a:spcPts val="600"/>
              </a:spcBef>
              <a:buClr>
                <a:schemeClr val="tx1"/>
              </a:buClr>
              <a:buSzPct val="100000"/>
            </a:pPr>
            <a:r>
              <a:rPr lang="en-US" sz="2800" dirty="0"/>
              <a:t>COA 1 is the recommended option.</a:t>
            </a:r>
          </a:p>
          <a:p>
            <a:pPr marL="571500" lvl="1" indent="-457200">
              <a:spcBef>
                <a:spcPts val="600"/>
              </a:spcBef>
              <a:buClr>
                <a:schemeClr val="tx1"/>
              </a:buClr>
              <a:buSzPct val="100000"/>
            </a:pPr>
            <a:endParaRPr lang="en-US" sz="2800" dirty="0"/>
          </a:p>
          <a:p>
            <a:pPr marL="571500" lvl="1" indent="-457200">
              <a:spcBef>
                <a:spcPts val="600"/>
              </a:spcBef>
              <a:buClr>
                <a:schemeClr val="tx1"/>
              </a:buClr>
              <a:buSzPct val="100000"/>
            </a:pPr>
            <a:r>
              <a:rPr lang="en-US" sz="2800" dirty="0"/>
              <a:t>COA 1 is the only feasible solution which provides adequate work facilities in the activation timeline. Risk significantly increases beyond 5 years if no additional facility mitigations are pursued.</a:t>
            </a:r>
          </a:p>
          <a:p>
            <a:pPr marL="571500" lvl="1" indent="-457200">
              <a:spcBef>
                <a:spcPts val="600"/>
              </a:spcBef>
              <a:buClr>
                <a:schemeClr val="tx1"/>
              </a:buClr>
              <a:buSzPct val="100000"/>
            </a:pPr>
            <a:endParaRPr lang="en-US" sz="2800" dirty="0"/>
          </a:p>
          <a:p>
            <a:pPr marL="571500" lvl="1" indent="-457200">
              <a:spcBef>
                <a:spcPts val="600"/>
              </a:spcBef>
              <a:buClr>
                <a:schemeClr val="tx1"/>
              </a:buClr>
              <a:buSzPct val="100000"/>
            </a:pPr>
            <a:r>
              <a:rPr lang="en-US" sz="2800" dirty="0"/>
              <a:t>Immediate facility deficiencies can be mitigated via unit-procured equipment solutions, such as ARMAG storage containers.</a:t>
            </a:r>
          </a:p>
          <a:p>
            <a:pPr marL="571500" lvl="1" indent="-457200">
              <a:spcBef>
                <a:spcPts val="600"/>
              </a:spcBef>
              <a:buClr>
                <a:schemeClr val="tx1"/>
              </a:buClr>
              <a:buSzPct val="100000"/>
            </a:pPr>
            <a:endParaRPr lang="en-US" sz="2800" dirty="0"/>
          </a:p>
          <a:p>
            <a:pPr marL="571500" lvl="1" indent="-457200">
              <a:spcBef>
                <a:spcPts val="600"/>
              </a:spcBef>
              <a:buClr>
                <a:schemeClr val="tx1"/>
              </a:buClr>
              <a:buSzPct val="100000"/>
            </a:pPr>
            <a:r>
              <a:rPr lang="en-US" sz="2800" dirty="0"/>
              <a:t>Facility conversion/repair/upgrade is possible, however requires supplemental FSRM funding, NLT Q2 FY27.</a:t>
            </a:r>
            <a:endParaRPr lang="en-US" dirty="0"/>
          </a:p>
        </p:txBody>
      </p:sp>
      <p:sp>
        <p:nvSpPr>
          <p:cNvPr id="4" name="Slide Number Placeholder 3">
            <a:extLst>
              <a:ext uri="{FF2B5EF4-FFF2-40B4-BE49-F238E27FC236}">
                <a16:creationId xmlns:a16="http://schemas.microsoft.com/office/drawing/2014/main" id="{2C9D94AB-27E8-C657-70D8-25E3E3B7DC78}"/>
              </a:ext>
            </a:extLst>
          </p:cNvPr>
          <p:cNvSpPr>
            <a:spLocks noGrp="1"/>
          </p:cNvSpPr>
          <p:nvPr>
            <p:ph type="sldNum" sz="quarter" idx="12"/>
          </p:nvPr>
        </p:nvSpPr>
        <p:spPr/>
        <p:txBody>
          <a:bodyPr/>
          <a:lstStyle/>
          <a:p>
            <a:fld id="{683BFD01-D97D-47BB-8E39-D4B87178CFC1}" type="slidenum">
              <a:rPr lang="en-US" smtClean="0"/>
              <a:t>17</a:t>
            </a:fld>
            <a:endParaRPr lang="en-US"/>
          </a:p>
        </p:txBody>
      </p:sp>
      <p:sp>
        <p:nvSpPr>
          <p:cNvPr id="5" name="object 5">
            <a:extLst>
              <a:ext uri="{FF2B5EF4-FFF2-40B4-BE49-F238E27FC236}">
                <a16:creationId xmlns:a16="http://schemas.microsoft.com/office/drawing/2014/main" id="{6F2B10F0-3293-7725-F10E-E93E3ACDEE7C}"/>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1215693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0E48E9-B019-D7D6-A852-6C33D7E286CD}"/>
              </a:ext>
            </a:extLst>
          </p:cNvPr>
          <p:cNvSpPr>
            <a:spLocks noGrp="1"/>
          </p:cNvSpPr>
          <p:nvPr>
            <p:ph type="ctrTitle"/>
          </p:nvPr>
        </p:nvSpPr>
        <p:spPr/>
        <p:txBody>
          <a:bodyPr/>
          <a:lstStyle/>
          <a:p>
            <a:r>
              <a:rPr lang="en-US" dirty="0"/>
              <a:t>Supporting Information</a:t>
            </a:r>
          </a:p>
        </p:txBody>
      </p:sp>
      <p:sp>
        <p:nvSpPr>
          <p:cNvPr id="4" name="Slide Number Placeholder 3">
            <a:extLst>
              <a:ext uri="{FF2B5EF4-FFF2-40B4-BE49-F238E27FC236}">
                <a16:creationId xmlns:a16="http://schemas.microsoft.com/office/drawing/2014/main" id="{CA8BBAE5-298B-CF51-CDDF-B07E67CB204E}"/>
              </a:ext>
            </a:extLst>
          </p:cNvPr>
          <p:cNvSpPr>
            <a:spLocks noGrp="1"/>
          </p:cNvSpPr>
          <p:nvPr>
            <p:ph type="sldNum" sz="quarter" idx="12"/>
          </p:nvPr>
        </p:nvSpPr>
        <p:spPr/>
        <p:txBody>
          <a:bodyPr/>
          <a:lstStyle/>
          <a:p>
            <a:fld id="{683BFD01-D97D-47BB-8E39-D4B87178CFC1}" type="slidenum">
              <a:rPr lang="en-US" smtClean="0"/>
              <a:t>18</a:t>
            </a:fld>
            <a:endParaRPr lang="en-US"/>
          </a:p>
        </p:txBody>
      </p:sp>
      <p:sp>
        <p:nvSpPr>
          <p:cNvPr id="2" name="object 5">
            <a:extLst>
              <a:ext uri="{FF2B5EF4-FFF2-40B4-BE49-F238E27FC236}">
                <a16:creationId xmlns:a16="http://schemas.microsoft.com/office/drawing/2014/main" id="{E170B322-A363-C96D-195B-8175DD75CF6F}"/>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2945938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7C122-0098-265D-74F8-CCED5E55C2FB}"/>
              </a:ext>
            </a:extLst>
          </p:cNvPr>
          <p:cNvSpPr>
            <a:spLocks noGrp="1"/>
          </p:cNvSpPr>
          <p:nvPr>
            <p:ph type="title"/>
          </p:nvPr>
        </p:nvSpPr>
        <p:spPr/>
        <p:txBody>
          <a:bodyPr/>
          <a:lstStyle/>
          <a:p>
            <a:r>
              <a:rPr lang="en-US" dirty="0"/>
              <a:t>Risk Definitions</a:t>
            </a:r>
          </a:p>
        </p:txBody>
      </p:sp>
      <p:sp>
        <p:nvSpPr>
          <p:cNvPr id="3" name="Content Placeholder 2">
            <a:extLst>
              <a:ext uri="{FF2B5EF4-FFF2-40B4-BE49-F238E27FC236}">
                <a16:creationId xmlns:a16="http://schemas.microsoft.com/office/drawing/2014/main" id="{DCF4AE61-AFEC-3EAE-E719-BB5FB6CBE232}"/>
              </a:ext>
            </a:extLst>
          </p:cNvPr>
          <p:cNvSpPr>
            <a:spLocks noGrp="1"/>
          </p:cNvSpPr>
          <p:nvPr>
            <p:ph idx="1"/>
          </p:nvPr>
        </p:nvSpPr>
        <p:spPr/>
        <p:txBody>
          <a:bodyPr>
            <a:normAutofit/>
          </a:bodyPr>
          <a:lstStyle/>
          <a:p>
            <a:r>
              <a:rPr lang="en-US" sz="1600" b="1" dirty="0"/>
              <a:t>RED</a:t>
            </a:r>
            <a:r>
              <a:rPr lang="en-US" sz="1600" dirty="0"/>
              <a:t> – Unsupportable (High Risk)</a:t>
            </a:r>
          </a:p>
          <a:p>
            <a:pPr lvl="1"/>
            <a:r>
              <a:rPr lang="en-US" sz="1600" dirty="0"/>
              <a:t>Breaks US law, statute, etc.</a:t>
            </a:r>
          </a:p>
          <a:p>
            <a:pPr lvl="1"/>
            <a:r>
              <a:rPr lang="en-US" sz="1600" dirty="0"/>
              <a:t>Cannot be accomplished with any amount of resources (time, money, personnel, etc.)</a:t>
            </a:r>
          </a:p>
          <a:p>
            <a:pPr marL="0" indent="0">
              <a:buNone/>
            </a:pPr>
            <a:endParaRPr lang="en-US" sz="1600" dirty="0"/>
          </a:p>
          <a:p>
            <a:r>
              <a:rPr lang="en-US" sz="1600" b="1" dirty="0"/>
              <a:t>ORANGE</a:t>
            </a:r>
            <a:r>
              <a:rPr lang="en-US" sz="1600" dirty="0"/>
              <a:t> –  Insufficient (Significant Risk)</a:t>
            </a:r>
          </a:p>
          <a:p>
            <a:pPr lvl="1"/>
            <a:r>
              <a:rPr lang="en-US" sz="1600" dirty="0"/>
              <a:t>Existing or programmed resources are insufficient to support the initiative</a:t>
            </a:r>
          </a:p>
          <a:p>
            <a:pPr lvl="1"/>
            <a:r>
              <a:rPr lang="en-US" sz="1600" dirty="0"/>
              <a:t>Cannot be achieved without significant modifications and/or additional programmed resources. </a:t>
            </a:r>
          </a:p>
          <a:p>
            <a:endParaRPr lang="en-US" sz="1600" dirty="0"/>
          </a:p>
          <a:p>
            <a:r>
              <a:rPr lang="en-US" sz="1600" b="1" dirty="0"/>
              <a:t>YELLOW – </a:t>
            </a:r>
            <a:r>
              <a:rPr lang="en-US" sz="1600" dirty="0"/>
              <a:t>Executable (Moderate Risk)</a:t>
            </a:r>
          </a:p>
          <a:p>
            <a:pPr lvl="1"/>
            <a:r>
              <a:rPr lang="en-US" sz="1600" dirty="0"/>
              <a:t>Can be accomplished but may require mitigation steps and solutions/resources be identified.</a:t>
            </a:r>
          </a:p>
          <a:p>
            <a:pPr lvl="1"/>
            <a:endParaRPr lang="en-US" sz="1600" dirty="0"/>
          </a:p>
          <a:p>
            <a:r>
              <a:rPr lang="en-US" sz="1600" b="1" dirty="0"/>
              <a:t>GREEN</a:t>
            </a:r>
            <a:r>
              <a:rPr lang="en-US" sz="1600" dirty="0"/>
              <a:t> – Supportable (Low Risk) </a:t>
            </a:r>
          </a:p>
          <a:p>
            <a:pPr lvl="1"/>
            <a:r>
              <a:rPr lang="en-US" sz="1600" dirty="0"/>
              <a:t>Achievable; no foreseeable obstacles exist that will preclude planned implementation. </a:t>
            </a:r>
            <a:br>
              <a:rPr lang="en-US" sz="2000" dirty="0"/>
            </a:br>
            <a:endParaRPr lang="en-US" sz="2000" dirty="0"/>
          </a:p>
          <a:p>
            <a:endParaRPr lang="en-US" dirty="0"/>
          </a:p>
        </p:txBody>
      </p:sp>
      <p:sp>
        <p:nvSpPr>
          <p:cNvPr id="4" name="Slide Number Placeholder 3">
            <a:extLst>
              <a:ext uri="{FF2B5EF4-FFF2-40B4-BE49-F238E27FC236}">
                <a16:creationId xmlns:a16="http://schemas.microsoft.com/office/drawing/2014/main" id="{F08A1355-6B11-0068-695A-98F7B6E93DCF}"/>
              </a:ext>
            </a:extLst>
          </p:cNvPr>
          <p:cNvSpPr>
            <a:spLocks noGrp="1"/>
          </p:cNvSpPr>
          <p:nvPr>
            <p:ph type="sldNum" sz="quarter" idx="12"/>
          </p:nvPr>
        </p:nvSpPr>
        <p:spPr/>
        <p:txBody>
          <a:bodyPr/>
          <a:lstStyle/>
          <a:p>
            <a:fld id="{683BFD01-D97D-47BB-8E39-D4B87178CFC1}" type="slidenum">
              <a:rPr lang="en-US" smtClean="0"/>
              <a:t>19</a:t>
            </a:fld>
            <a:endParaRPr lang="en-US"/>
          </a:p>
        </p:txBody>
      </p:sp>
      <p:sp>
        <p:nvSpPr>
          <p:cNvPr id="5" name="object 5">
            <a:extLst>
              <a:ext uri="{FF2B5EF4-FFF2-40B4-BE49-F238E27FC236}">
                <a16:creationId xmlns:a16="http://schemas.microsoft.com/office/drawing/2014/main" id="{4004E79F-8797-1A9A-D68C-5F9F50DD8F1B}"/>
              </a:ext>
            </a:extLst>
          </p:cNvPr>
          <p:cNvSpPr txBox="1"/>
          <p:nvPr/>
        </p:nvSpPr>
        <p:spPr>
          <a:xfrm>
            <a:off x="5130800" y="23813"/>
            <a:ext cx="2306955"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6FAC46"/>
                </a:solidFill>
                <a:latin typeface="Calibri"/>
                <a:cs typeface="Calibri"/>
              </a:rPr>
              <a:t>Controlled</a:t>
            </a:r>
            <a:r>
              <a:rPr sz="1050" b="1" spc="-60" dirty="0">
                <a:solidFill>
                  <a:srgbClr val="6FAC46"/>
                </a:solidFill>
                <a:latin typeface="Calibri"/>
                <a:cs typeface="Calibri"/>
              </a:rPr>
              <a:t> </a:t>
            </a:r>
            <a:r>
              <a:rPr sz="1050" b="1" dirty="0">
                <a:solidFill>
                  <a:srgbClr val="6FAC46"/>
                </a:solidFill>
                <a:latin typeface="Calibri"/>
                <a:cs typeface="Calibri"/>
              </a:rPr>
              <a:t>Unclassified</a:t>
            </a:r>
            <a:r>
              <a:rPr sz="1050" b="1" spc="-45" dirty="0">
                <a:solidFill>
                  <a:srgbClr val="6FAC46"/>
                </a:solidFill>
                <a:latin typeface="Calibri"/>
                <a:cs typeface="Calibri"/>
              </a:rPr>
              <a:t> </a:t>
            </a:r>
            <a:r>
              <a:rPr sz="1050" b="1" dirty="0">
                <a:solidFill>
                  <a:srgbClr val="6FAC46"/>
                </a:solidFill>
                <a:latin typeface="Calibri"/>
                <a:cs typeface="Calibri"/>
              </a:rPr>
              <a:t>Information</a:t>
            </a:r>
            <a:endParaRPr sz="1050" dirty="0">
              <a:latin typeface="Calibri"/>
              <a:cs typeface="Calibri"/>
            </a:endParaRPr>
          </a:p>
        </p:txBody>
      </p:sp>
    </p:spTree>
    <p:extLst>
      <p:ext uri="{BB962C8B-B14F-4D97-AF65-F5344CB8AC3E}">
        <p14:creationId xmlns:p14="http://schemas.microsoft.com/office/powerpoint/2010/main" val="2786487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a:spLocks noGrp="1"/>
          </p:cNvSpPr>
          <p:nvPr>
            <p:ph type="title"/>
          </p:nvPr>
        </p:nvSpPr>
        <p:spPr>
          <a:xfrm>
            <a:off x="1981200" y="152400"/>
            <a:ext cx="8229600" cy="685800"/>
          </a:xfrm>
          <a:prstGeom prst="rect">
            <a:avLst/>
          </a:prstGeom>
          <a:effectLst/>
        </p:spPr>
        <p:txBody>
          <a:bodyPr>
            <a:normAutofit fontScale="90000"/>
          </a:bodyPr>
          <a:lstStyle/>
          <a:p>
            <a:r>
              <a:rPr lang="en-US" sz="2800" dirty="0">
                <a:latin typeface="Calibri" panose="020F0502020204030204" pitchFamily="34" charset="0"/>
              </a:rPr>
              <a:t>Butler Facility Planning Work Facility Requirements</a:t>
            </a:r>
            <a:br>
              <a:rPr lang="en-US" sz="2800" dirty="0">
                <a:latin typeface="Calibri" panose="020F0502020204030204" pitchFamily="34" charset="0"/>
              </a:rPr>
            </a:br>
            <a:r>
              <a:rPr lang="en-US" sz="2000" dirty="0">
                <a:latin typeface="Calibri" panose="020F0502020204030204" pitchFamily="34" charset="0"/>
              </a:rPr>
              <a:t>SURG CO B Planning Factors</a:t>
            </a:r>
            <a:endParaRPr lang="en-US" sz="1800" dirty="0">
              <a:latin typeface="Calibri" panose="020F0502020204030204" pitchFamily="34" charset="0"/>
            </a:endParaRPr>
          </a:p>
        </p:txBody>
      </p:sp>
      <p:sp>
        <p:nvSpPr>
          <p:cNvPr id="36" name="Slide Number Placeholder 5"/>
          <p:cNvSpPr>
            <a:spLocks noGrp="1"/>
          </p:cNvSpPr>
          <p:nvPr>
            <p:ph type="sldNum" sz="quarter" idx="12"/>
          </p:nvPr>
        </p:nvSpPr>
        <p:spPr>
          <a:xfrm>
            <a:off x="8077200" y="6356351"/>
            <a:ext cx="2133600" cy="365125"/>
          </a:xfrm>
          <a:prstGeom prst="rect">
            <a:avLst/>
          </a:prstGeom>
        </p:spPr>
        <p:txBody>
          <a:bodyPr/>
          <a:lstStyle/>
          <a:p>
            <a:fld id="{5DEFF953-E479-427D-9B92-DD700061B18D}" type="slidenum">
              <a:rPr lang="en-US" smtClean="0"/>
              <a:t>20</a:t>
            </a:fld>
            <a:endParaRPr lang="en-US"/>
          </a:p>
        </p:txBody>
      </p:sp>
      <p:sp>
        <p:nvSpPr>
          <p:cNvPr id="2" name="TextBox 1">
            <a:extLst>
              <a:ext uri="{FF2B5EF4-FFF2-40B4-BE49-F238E27FC236}">
                <a16:creationId xmlns:a16="http://schemas.microsoft.com/office/drawing/2014/main" id="{2F995E81-EDAF-EBF2-FA8D-1316E2D47B19}"/>
              </a:ext>
            </a:extLst>
          </p:cNvPr>
          <p:cNvSpPr txBox="1"/>
          <p:nvPr/>
        </p:nvSpPr>
        <p:spPr>
          <a:xfrm>
            <a:off x="1860885" y="1190154"/>
            <a:ext cx="8604985" cy="646331"/>
          </a:xfrm>
          <a:prstGeom prst="rect">
            <a:avLst/>
          </a:prstGeom>
          <a:noFill/>
        </p:spPr>
        <p:txBody>
          <a:bodyPr wrap="square" rtlCol="0">
            <a:spAutoFit/>
          </a:bodyPr>
          <a:lstStyle/>
          <a:p>
            <a:r>
              <a:rPr lang="en-US" dirty="0"/>
              <a:t>	No official updated BFR reported for Surgical Co B, however various documents were referenced to assume planning factors during this analysis.</a:t>
            </a:r>
          </a:p>
        </p:txBody>
      </p:sp>
      <p:graphicFrame>
        <p:nvGraphicFramePr>
          <p:cNvPr id="8" name="Table 7">
            <a:extLst>
              <a:ext uri="{FF2B5EF4-FFF2-40B4-BE49-F238E27FC236}">
                <a16:creationId xmlns:a16="http://schemas.microsoft.com/office/drawing/2014/main" id="{EBC8FADC-C389-B825-3804-4C36731D4706}"/>
              </a:ext>
            </a:extLst>
          </p:cNvPr>
          <p:cNvGraphicFramePr>
            <a:graphicFrameLocks noGrp="1"/>
          </p:cNvGraphicFramePr>
          <p:nvPr/>
        </p:nvGraphicFramePr>
        <p:xfrm>
          <a:off x="2908968" y="1968629"/>
          <a:ext cx="6351471" cy="2513520"/>
        </p:xfrm>
        <a:graphic>
          <a:graphicData uri="http://schemas.openxmlformats.org/drawingml/2006/table">
            <a:tbl>
              <a:tblPr>
                <a:tableStyleId>{5C22544A-7EE6-4342-B048-85BDC9FD1C3A}</a:tableStyleId>
              </a:tblPr>
              <a:tblGrid>
                <a:gridCol w="2808171">
                  <a:extLst>
                    <a:ext uri="{9D8B030D-6E8A-4147-A177-3AD203B41FA5}">
                      <a16:colId xmlns:a16="http://schemas.microsoft.com/office/drawing/2014/main" val="330145013"/>
                    </a:ext>
                  </a:extLst>
                </a:gridCol>
                <a:gridCol w="1866900">
                  <a:extLst>
                    <a:ext uri="{9D8B030D-6E8A-4147-A177-3AD203B41FA5}">
                      <a16:colId xmlns:a16="http://schemas.microsoft.com/office/drawing/2014/main" val="1021811643"/>
                    </a:ext>
                  </a:extLst>
                </a:gridCol>
                <a:gridCol w="781050">
                  <a:extLst>
                    <a:ext uri="{9D8B030D-6E8A-4147-A177-3AD203B41FA5}">
                      <a16:colId xmlns:a16="http://schemas.microsoft.com/office/drawing/2014/main" val="2989342409"/>
                    </a:ext>
                  </a:extLst>
                </a:gridCol>
                <a:gridCol w="895350">
                  <a:extLst>
                    <a:ext uri="{9D8B030D-6E8A-4147-A177-3AD203B41FA5}">
                      <a16:colId xmlns:a16="http://schemas.microsoft.com/office/drawing/2014/main" val="3103824680"/>
                    </a:ext>
                  </a:extLst>
                </a:gridCol>
              </a:tblGrid>
              <a:tr h="271696">
                <a:tc gridSpan="4">
                  <a:txBody>
                    <a:bodyPr/>
                    <a:lstStyle/>
                    <a:p>
                      <a:pPr algn="l" fontAlgn="b"/>
                      <a:r>
                        <a:rPr lang="en-US" sz="1800" b="0" i="0" u="none" strike="noStrike" dirty="0">
                          <a:solidFill>
                            <a:srgbClr val="000000"/>
                          </a:solidFill>
                          <a:effectLst/>
                          <a:latin typeface="Aptos Narrow" panose="020B0004020202020204" pitchFamily="34" charset="0"/>
                        </a:rPr>
                        <a:t>SURG CO B (M28262) Facility Requirements</a:t>
                      </a:r>
                    </a:p>
                  </a:txBody>
                  <a:tcPr marL="4960" marR="4960" marT="496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b"/>
                      <a:endParaRPr lang="en-US" sz="105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sz="105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sz="105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374811"/>
                  </a:ext>
                </a:extLst>
              </a:tr>
              <a:tr h="271696">
                <a:tc>
                  <a:txBody>
                    <a:bodyPr/>
                    <a:lstStyle/>
                    <a:p>
                      <a:pPr algn="ctr" fontAlgn="b"/>
                      <a:r>
                        <a:rPr lang="en-US" sz="1600" b="0" i="0" u="none" strike="noStrike" dirty="0">
                          <a:solidFill>
                            <a:srgbClr val="000000"/>
                          </a:solidFill>
                          <a:effectLst/>
                          <a:latin typeface="Aptos Narrow" panose="020B0004020202020204" pitchFamily="34" charset="0"/>
                        </a:rPr>
                        <a:t>FACILITY CATEGORY TYPE</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600" b="0" i="0" u="none" strike="noStrike" dirty="0">
                          <a:solidFill>
                            <a:srgbClr val="000000"/>
                          </a:solidFill>
                          <a:effectLst/>
                          <a:latin typeface="Aptos Narrow" panose="020B0004020202020204" pitchFamily="34" charset="0"/>
                        </a:rPr>
                        <a:t>AREA RATED</a:t>
                      </a:r>
                    </a:p>
                    <a:p>
                      <a:pPr algn="ctr" fontAlgn="b"/>
                      <a:r>
                        <a:rPr lang="en-US" sz="1200" b="0" i="0" u="none" strike="noStrike" dirty="0">
                          <a:solidFill>
                            <a:srgbClr val="000000"/>
                          </a:solidFill>
                          <a:effectLst/>
                          <a:latin typeface="Aptos Narrow" panose="020B0004020202020204" pitchFamily="34" charset="0"/>
                        </a:rPr>
                        <a:t>(BY CATEGORY)</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600" b="0" i="0" u="none" strike="noStrike" dirty="0">
                          <a:solidFill>
                            <a:srgbClr val="000000"/>
                          </a:solidFill>
                          <a:effectLst/>
                          <a:latin typeface="Aptos Narrow" panose="020B0004020202020204" pitchFamily="34" charset="0"/>
                        </a:rPr>
                        <a:t>AREA U/M</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600" b="0" i="0" u="none" strike="noStrike" dirty="0">
                          <a:solidFill>
                            <a:srgbClr val="000000"/>
                          </a:solidFill>
                          <a:effectLst/>
                          <a:latin typeface="Aptos Narrow" panose="020B0004020202020204" pitchFamily="34" charset="0"/>
                        </a:rPr>
                        <a:t>NOTES</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937619420"/>
                  </a:ext>
                </a:extLst>
              </a:tr>
              <a:tr h="137921">
                <a:tc>
                  <a:txBody>
                    <a:bodyPr/>
                    <a:lstStyle/>
                    <a:p>
                      <a:pPr algn="l" fontAlgn="b"/>
                      <a:r>
                        <a:rPr lang="en-US" sz="1600" u="none" strike="noStrike" dirty="0">
                          <a:effectLst/>
                          <a:latin typeface="Aptos Narrow" panose="020B0004020202020204" pitchFamily="34" charset="0"/>
                        </a:rPr>
                        <a:t>ARMORY</a:t>
                      </a:r>
                      <a:endParaRPr lang="en-US" sz="16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latin typeface="Aptos Narrow" panose="020B0004020202020204" pitchFamily="34" charset="0"/>
                        </a:rPr>
                        <a:t>944</a:t>
                      </a:r>
                      <a:endParaRPr lang="en-US" sz="16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latin typeface="Aptos Narrow" panose="020B0004020202020204" pitchFamily="34" charset="0"/>
                        </a:rPr>
                        <a:t>SF</a:t>
                      </a:r>
                      <a:endParaRPr lang="en-US" sz="16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ptos Narrow" panose="020B0004020202020204" pitchFamily="34" charset="0"/>
                        </a:rPr>
                        <a:t>1</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6404514"/>
                  </a:ext>
                </a:extLst>
              </a:tr>
              <a:tr h="137921">
                <a:tc>
                  <a:txBody>
                    <a:bodyPr/>
                    <a:lstStyle/>
                    <a:p>
                      <a:pPr algn="l" fontAlgn="b"/>
                      <a:r>
                        <a:rPr lang="en-US" sz="1600" u="none" strike="noStrike" dirty="0">
                          <a:effectLst/>
                          <a:latin typeface="Aptos Narrow" panose="020B0004020202020204" pitchFamily="34" charset="0"/>
                        </a:rPr>
                        <a:t>STORAGE/WAREHOUSE</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latin typeface="Aptos Narrow" panose="020B0004020202020204" pitchFamily="34" charset="0"/>
                        </a:rPr>
                        <a:t>3,500</a:t>
                      </a:r>
                      <a:endParaRPr lang="en-US" sz="16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u="none" strike="noStrike" dirty="0">
                          <a:effectLst/>
                          <a:latin typeface="Aptos Narrow" panose="020B0004020202020204" pitchFamily="34" charset="0"/>
                        </a:rPr>
                        <a:t>SF</a:t>
                      </a:r>
                      <a:endParaRPr lang="en-US" sz="16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ptos Narrow" panose="020B0004020202020204" pitchFamily="34" charset="0"/>
                        </a:rPr>
                        <a:t>1,2</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305472"/>
                  </a:ext>
                </a:extLst>
              </a:tr>
              <a:tr h="68991">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600" u="none" strike="noStrike" dirty="0">
                          <a:effectLst/>
                          <a:latin typeface="Aptos Narrow" panose="020B0004020202020204" pitchFamily="34" charset="0"/>
                        </a:rPr>
                        <a:t>ORGANIC STORAGE</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kern="1200" dirty="0">
                          <a:solidFill>
                            <a:schemeClr val="dk1"/>
                          </a:solidFill>
                          <a:effectLst/>
                          <a:latin typeface="Aptos Narrow" panose="020B0004020202020204" pitchFamily="34" charset="0"/>
                          <a:ea typeface="+mn-ea"/>
                          <a:cs typeface="+mn-cs"/>
                        </a:rPr>
                        <a:t>800</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Aptos Narrow" panose="020B0004020202020204" pitchFamily="34" charset="0"/>
                        </a:rPr>
                        <a:t>SF</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ptos Narrow" panose="020B0004020202020204" pitchFamily="34" charset="0"/>
                        </a:rPr>
                        <a:t>1,3</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586791"/>
                  </a:ext>
                </a:extLst>
              </a:tr>
              <a:tr h="68991">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600" u="none" strike="noStrike" dirty="0">
                          <a:effectLst/>
                          <a:latin typeface="Aptos Narrow" panose="020B0004020202020204" pitchFamily="34" charset="0"/>
                        </a:rPr>
                        <a:t>HQS/ADMINISTRATIVE</a:t>
                      </a:r>
                      <a:endParaRPr lang="en-US" sz="16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u="none" strike="noStrike" kern="1200" dirty="0">
                          <a:solidFill>
                            <a:schemeClr val="dk1"/>
                          </a:solidFill>
                          <a:effectLst/>
                          <a:latin typeface="Aptos Narrow" panose="020B0004020202020204" pitchFamily="34" charset="0"/>
                          <a:ea typeface="+mn-ea"/>
                          <a:cs typeface="+mn-cs"/>
                        </a:rPr>
                        <a:t>4,063</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Aptos Narrow" panose="020B0004020202020204" pitchFamily="34" charset="0"/>
                        </a:rPr>
                        <a:t>SF</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ptos Narrow" panose="020B0004020202020204" pitchFamily="34" charset="0"/>
                        </a:rPr>
                        <a:t>4</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9363900"/>
                  </a:ext>
                </a:extLst>
              </a:tr>
              <a:tr h="68991">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600" u="none" strike="noStrike" dirty="0">
                          <a:effectLst/>
                          <a:latin typeface="Aptos Narrow" panose="020B0004020202020204" pitchFamily="34" charset="0"/>
                        </a:rPr>
                        <a:t>APPLIED INSTRUCTION</a:t>
                      </a:r>
                      <a:endParaRPr lang="en-US" sz="16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ptos Narrow" panose="020B0004020202020204" pitchFamily="34" charset="0"/>
                        </a:rPr>
                        <a:t>2,815</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Aptos Narrow" panose="020B0004020202020204" pitchFamily="34" charset="0"/>
                        </a:rPr>
                        <a:t>SF</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ptos Narrow" panose="020B0004020202020204" pitchFamily="34" charset="0"/>
                        </a:rPr>
                        <a:t>5</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2842608"/>
                  </a:ext>
                </a:extLst>
              </a:tr>
              <a:tr h="68991">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Aptos Narrow" panose="020B0004020202020204" pitchFamily="34" charset="0"/>
                        </a:rPr>
                        <a:t>AUTO ORG SHOP</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ptos Narrow" panose="020B0004020202020204" pitchFamily="34" charset="0"/>
                        </a:rPr>
                        <a:t>2,848</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Aptos Narrow" panose="020B0004020202020204" pitchFamily="34" charset="0"/>
                        </a:rPr>
                        <a:t>SF</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ptos Narrow" panose="020B0004020202020204" pitchFamily="34" charset="0"/>
                        </a:rPr>
                        <a:t>1</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7668602"/>
                  </a:ext>
                </a:extLst>
              </a:tr>
              <a:tr h="68991">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Aptos Narrow" panose="020B0004020202020204" pitchFamily="34" charset="0"/>
                        </a:rPr>
                        <a:t>TACTICAL VEH LAYDOWN</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Aptos Narrow" panose="020B0004020202020204" pitchFamily="34" charset="0"/>
                        </a:rPr>
                        <a:t>1,811</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Aptos Narrow" panose="020B0004020202020204" pitchFamily="34" charset="0"/>
                        </a:rPr>
                        <a:t>SY</a:t>
                      </a:r>
                      <a:endParaRPr lang="en-US" sz="16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Aptos Narrow" panose="020B0004020202020204" pitchFamily="34" charset="0"/>
                        </a:rPr>
                        <a:t>1</a:t>
                      </a: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5524433"/>
                  </a:ext>
                </a:extLst>
              </a:tr>
            </a:tbl>
          </a:graphicData>
        </a:graphic>
      </p:graphicFrame>
      <p:sp>
        <p:nvSpPr>
          <p:cNvPr id="3" name="TextBox 2">
            <a:extLst>
              <a:ext uri="{FF2B5EF4-FFF2-40B4-BE49-F238E27FC236}">
                <a16:creationId xmlns:a16="http://schemas.microsoft.com/office/drawing/2014/main" id="{854D94B2-BDC7-201C-3402-220ACFD5DE78}"/>
              </a:ext>
            </a:extLst>
          </p:cNvPr>
          <p:cNvSpPr txBox="1"/>
          <p:nvPr/>
        </p:nvSpPr>
        <p:spPr>
          <a:xfrm>
            <a:off x="1860885" y="4562420"/>
            <a:ext cx="8437839" cy="1384995"/>
          </a:xfrm>
          <a:prstGeom prst="rect">
            <a:avLst/>
          </a:prstGeom>
          <a:noFill/>
        </p:spPr>
        <p:txBody>
          <a:bodyPr wrap="square" rtlCol="0">
            <a:spAutoFit/>
          </a:bodyPr>
          <a:lstStyle/>
          <a:p>
            <a:pPr marL="342900" indent="-342900">
              <a:buFont typeface="+mj-lt"/>
              <a:buAutoNum type="arabicPeriod"/>
            </a:pPr>
            <a:r>
              <a:rPr lang="en-US" sz="1200" dirty="0"/>
              <a:t>Existing HI BFR, 2024</a:t>
            </a:r>
          </a:p>
          <a:p>
            <a:pPr marL="342900" indent="-342900">
              <a:buFont typeface="+mj-lt"/>
              <a:buAutoNum type="arabicPeriod"/>
            </a:pPr>
            <a:r>
              <a:rPr lang="en-US" sz="1200" dirty="0"/>
              <a:t>SURG CO MEDLOG requirement will be stored/maintained by MLG 3D SUP BN aboard Camp Kinser per MLG Basing Requirements Brief v9.</a:t>
            </a:r>
          </a:p>
          <a:p>
            <a:pPr marL="342900" indent="-342900">
              <a:buFont typeface="+mj-lt"/>
              <a:buAutoNum type="arabicPeriod"/>
            </a:pPr>
            <a:r>
              <a:rPr lang="en-US" sz="1200" dirty="0"/>
              <a:t>Organic Storage requirement (includes personal effects) should be maintained by parent command, 3D MED BN.</a:t>
            </a:r>
          </a:p>
          <a:p>
            <a:pPr marL="342900" indent="-342900">
              <a:buFont typeface="+mj-lt"/>
              <a:buAutoNum type="arabicPeriod"/>
            </a:pPr>
            <a:r>
              <a:rPr lang="en-US" sz="1200" dirty="0"/>
              <a:t>Company Headquarters requirements mirrors Surg Co A existing BFR, 2023.</a:t>
            </a:r>
          </a:p>
          <a:p>
            <a:pPr marL="342900" indent="-342900">
              <a:buFont typeface="+mj-lt"/>
              <a:buAutoNum type="arabicPeriod"/>
            </a:pPr>
            <a:r>
              <a:rPr lang="en-US" sz="1200" dirty="0"/>
              <a:t>Applied Instruction space requirements should roll up to the BN-level. Surg Co A and Surg Co B Applied instruction space consolidated and existing SURG CO A facility requirement supplemented with additional planning factor shown.</a:t>
            </a:r>
          </a:p>
        </p:txBody>
      </p:sp>
    </p:spTree>
    <p:extLst>
      <p:ext uri="{BB962C8B-B14F-4D97-AF65-F5344CB8AC3E}">
        <p14:creationId xmlns:p14="http://schemas.microsoft.com/office/powerpoint/2010/main" val="668231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a:spLocks noGrp="1"/>
          </p:cNvSpPr>
          <p:nvPr>
            <p:ph type="title"/>
          </p:nvPr>
        </p:nvSpPr>
        <p:spPr>
          <a:xfrm>
            <a:off x="1981200" y="152400"/>
            <a:ext cx="8229600" cy="685800"/>
          </a:xfrm>
          <a:prstGeom prst="rect">
            <a:avLst/>
          </a:prstGeom>
          <a:effectLst/>
        </p:spPr>
        <p:txBody>
          <a:bodyPr>
            <a:normAutofit fontScale="90000"/>
          </a:bodyPr>
          <a:lstStyle/>
          <a:p>
            <a:r>
              <a:rPr lang="en-US" sz="2800" dirty="0">
                <a:latin typeface="Calibri" panose="020F0502020204030204" pitchFamily="34" charset="0"/>
              </a:rPr>
              <a:t>Butler Facility Planning 1</a:t>
            </a:r>
            <a:r>
              <a:rPr lang="en-US" sz="2800" baseline="30000" dirty="0">
                <a:latin typeface="Calibri" panose="020F0502020204030204" pitchFamily="34" charset="0"/>
              </a:rPr>
              <a:t>st</a:t>
            </a:r>
            <a:r>
              <a:rPr lang="en-US" sz="2800" dirty="0">
                <a:latin typeface="Calibri" panose="020F0502020204030204" pitchFamily="34" charset="0"/>
              </a:rPr>
              <a:t> Pass Analysis</a:t>
            </a:r>
            <a:br>
              <a:rPr lang="en-US" sz="2800" dirty="0">
                <a:latin typeface="Calibri" panose="020F0502020204030204" pitchFamily="34" charset="0"/>
              </a:rPr>
            </a:br>
            <a:r>
              <a:rPr lang="en-US" sz="2000" dirty="0">
                <a:latin typeface="Calibri" panose="020F0502020204030204" pitchFamily="34" charset="0"/>
              </a:rPr>
              <a:t>3D MED BN Existing Condition</a:t>
            </a:r>
            <a:endParaRPr lang="en-US" sz="1800" dirty="0">
              <a:latin typeface="Calibri" panose="020F0502020204030204" pitchFamily="34" charset="0"/>
            </a:endParaRPr>
          </a:p>
        </p:txBody>
      </p:sp>
      <p:sp>
        <p:nvSpPr>
          <p:cNvPr id="36" name="Slide Number Placeholder 5"/>
          <p:cNvSpPr>
            <a:spLocks noGrp="1"/>
          </p:cNvSpPr>
          <p:nvPr>
            <p:ph type="sldNum" sz="quarter" idx="12"/>
          </p:nvPr>
        </p:nvSpPr>
        <p:spPr>
          <a:xfrm>
            <a:off x="8077200" y="6356351"/>
            <a:ext cx="2133600" cy="365125"/>
          </a:xfrm>
          <a:prstGeom prst="rect">
            <a:avLst/>
          </a:prstGeom>
        </p:spPr>
        <p:txBody>
          <a:bodyPr/>
          <a:lstStyle/>
          <a:p>
            <a:fld id="{5DEFF953-E479-427D-9B92-DD700061B18D}" type="slidenum">
              <a:rPr lang="en-US" smtClean="0"/>
              <a:t>21</a:t>
            </a:fld>
            <a:endParaRPr lang="en-US"/>
          </a:p>
        </p:txBody>
      </p:sp>
      <p:sp>
        <p:nvSpPr>
          <p:cNvPr id="2" name="TextBox 1">
            <a:extLst>
              <a:ext uri="{FF2B5EF4-FFF2-40B4-BE49-F238E27FC236}">
                <a16:creationId xmlns:a16="http://schemas.microsoft.com/office/drawing/2014/main" id="{2F995E81-EDAF-EBF2-FA8D-1316E2D47B19}"/>
              </a:ext>
            </a:extLst>
          </p:cNvPr>
          <p:cNvSpPr txBox="1"/>
          <p:nvPr/>
        </p:nvSpPr>
        <p:spPr>
          <a:xfrm>
            <a:off x="1860885" y="1188720"/>
            <a:ext cx="8604985" cy="923330"/>
          </a:xfrm>
          <a:prstGeom prst="rect">
            <a:avLst/>
          </a:prstGeom>
          <a:noFill/>
        </p:spPr>
        <p:txBody>
          <a:bodyPr wrap="square" rtlCol="0">
            <a:spAutoFit/>
          </a:bodyPr>
          <a:lstStyle/>
          <a:p>
            <a:r>
              <a:rPr lang="en-US" dirty="0"/>
              <a:t>	First pass analysis reviewed 3D MED BN existing facilities on Camp Foster to assess feasibility of parent command to internally mitigate the additional facility requirements for SURG CO B.</a:t>
            </a:r>
          </a:p>
        </p:txBody>
      </p:sp>
      <p:sp>
        <p:nvSpPr>
          <p:cNvPr id="3" name="TextBox 2">
            <a:extLst>
              <a:ext uri="{FF2B5EF4-FFF2-40B4-BE49-F238E27FC236}">
                <a16:creationId xmlns:a16="http://schemas.microsoft.com/office/drawing/2014/main" id="{854D94B2-BDC7-201C-3402-220ACFD5DE78}"/>
              </a:ext>
            </a:extLst>
          </p:cNvPr>
          <p:cNvSpPr txBox="1"/>
          <p:nvPr/>
        </p:nvSpPr>
        <p:spPr>
          <a:xfrm>
            <a:off x="1803400" y="4338360"/>
            <a:ext cx="8559800" cy="1569660"/>
          </a:xfrm>
          <a:prstGeom prst="rect">
            <a:avLst/>
          </a:prstGeom>
          <a:noFill/>
        </p:spPr>
        <p:txBody>
          <a:bodyPr wrap="square" rtlCol="0">
            <a:spAutoFit/>
          </a:bodyPr>
          <a:lstStyle/>
          <a:p>
            <a:pPr marL="342900" indent="-342900">
              <a:buFont typeface="+mj-lt"/>
              <a:buAutoNum type="arabicPeriod"/>
            </a:pPr>
            <a:r>
              <a:rPr lang="en-US" sz="1200" dirty="0"/>
              <a:t>Armory space utilized is significantly below current requirement. Do not recommend consolidating SURG CO B armory in existing 3D MED BN armory.</a:t>
            </a:r>
          </a:p>
          <a:p>
            <a:pPr marL="342900" indent="-342900">
              <a:buFont typeface="+mj-lt"/>
              <a:buAutoNum type="arabicPeriod"/>
            </a:pPr>
            <a:r>
              <a:rPr lang="en-US" sz="1200" dirty="0"/>
              <a:t>Existing storage space utilized shows significant shortfall however target requirement may need further review if partial equipment storage is maintained by a different MLG unit (</a:t>
            </a:r>
            <a:r>
              <a:rPr lang="en-US" sz="1200" dirty="0" err="1"/>
              <a:t>eg</a:t>
            </a:r>
            <a:r>
              <a:rPr lang="en-US" sz="1200" dirty="0"/>
              <a:t> MEDLOG and/or H&amp;S Co storage).</a:t>
            </a:r>
          </a:p>
          <a:p>
            <a:pPr marL="342900" indent="-342900">
              <a:buFont typeface="+mj-lt"/>
              <a:buAutoNum type="arabicPeriod"/>
            </a:pPr>
            <a:r>
              <a:rPr lang="en-US" sz="1200" dirty="0"/>
              <a:t>A significant surplus of Headquarter/Administrative space exists, consider re-utilization.</a:t>
            </a:r>
          </a:p>
          <a:p>
            <a:pPr marL="342900" indent="-342900">
              <a:buFont typeface="+mj-lt"/>
              <a:buAutoNum type="arabicPeriod"/>
            </a:pPr>
            <a:r>
              <a:rPr lang="en-US" sz="1200" dirty="0"/>
              <a:t>A surplus of Applied Instruction facility space exists, consider re-utilization.</a:t>
            </a:r>
          </a:p>
          <a:p>
            <a:pPr marL="342900" indent="-342900">
              <a:buFont typeface="+mj-lt"/>
              <a:buAutoNum type="arabicPeriod"/>
            </a:pPr>
            <a:r>
              <a:rPr lang="en-US" sz="1200" dirty="0"/>
              <a:t>No Auto Org Shop or Tactical Vehicle laydown facilities are currently utilized. These facility requirements are maintained by other MLG units (</a:t>
            </a:r>
            <a:r>
              <a:rPr lang="en-US" sz="1200" dirty="0" err="1"/>
              <a:t>eg</a:t>
            </a:r>
            <a:r>
              <a:rPr lang="en-US" sz="1200" dirty="0"/>
              <a:t> 3D LSB).</a:t>
            </a:r>
          </a:p>
        </p:txBody>
      </p:sp>
      <p:graphicFrame>
        <p:nvGraphicFramePr>
          <p:cNvPr id="4" name="Table 3">
            <a:extLst>
              <a:ext uri="{FF2B5EF4-FFF2-40B4-BE49-F238E27FC236}">
                <a16:creationId xmlns:a16="http://schemas.microsoft.com/office/drawing/2014/main" id="{D978138B-CDAE-165C-ED14-59DBA761C1FE}"/>
              </a:ext>
            </a:extLst>
          </p:cNvPr>
          <p:cNvGraphicFramePr>
            <a:graphicFrameLocks noGrp="1"/>
          </p:cNvGraphicFramePr>
          <p:nvPr/>
        </p:nvGraphicFramePr>
        <p:xfrm>
          <a:off x="1714072" y="2330557"/>
          <a:ext cx="8750729" cy="1992143"/>
        </p:xfrm>
        <a:graphic>
          <a:graphicData uri="http://schemas.openxmlformats.org/drawingml/2006/table">
            <a:tbl>
              <a:tblPr>
                <a:tableStyleId>{5C22544A-7EE6-4342-B048-85BDC9FD1C3A}</a:tableStyleId>
              </a:tblPr>
              <a:tblGrid>
                <a:gridCol w="695323">
                  <a:extLst>
                    <a:ext uri="{9D8B030D-6E8A-4147-A177-3AD203B41FA5}">
                      <a16:colId xmlns:a16="http://schemas.microsoft.com/office/drawing/2014/main" val="838908514"/>
                    </a:ext>
                  </a:extLst>
                </a:gridCol>
                <a:gridCol w="2625533">
                  <a:extLst>
                    <a:ext uri="{9D8B030D-6E8A-4147-A177-3AD203B41FA5}">
                      <a16:colId xmlns:a16="http://schemas.microsoft.com/office/drawing/2014/main" val="3161166785"/>
                    </a:ext>
                  </a:extLst>
                </a:gridCol>
                <a:gridCol w="1507910">
                  <a:extLst>
                    <a:ext uri="{9D8B030D-6E8A-4147-A177-3AD203B41FA5}">
                      <a16:colId xmlns:a16="http://schemas.microsoft.com/office/drawing/2014/main" val="1823964684"/>
                    </a:ext>
                  </a:extLst>
                </a:gridCol>
                <a:gridCol w="1033244">
                  <a:extLst>
                    <a:ext uri="{9D8B030D-6E8A-4147-A177-3AD203B41FA5}">
                      <a16:colId xmlns:a16="http://schemas.microsoft.com/office/drawing/2014/main" val="580794523"/>
                    </a:ext>
                  </a:extLst>
                </a:gridCol>
                <a:gridCol w="995772">
                  <a:extLst>
                    <a:ext uri="{9D8B030D-6E8A-4147-A177-3AD203B41FA5}">
                      <a16:colId xmlns:a16="http://schemas.microsoft.com/office/drawing/2014/main" val="1733361973"/>
                    </a:ext>
                  </a:extLst>
                </a:gridCol>
                <a:gridCol w="830289">
                  <a:extLst>
                    <a:ext uri="{9D8B030D-6E8A-4147-A177-3AD203B41FA5}">
                      <a16:colId xmlns:a16="http://schemas.microsoft.com/office/drawing/2014/main" val="2017566727"/>
                    </a:ext>
                  </a:extLst>
                </a:gridCol>
                <a:gridCol w="432904">
                  <a:extLst>
                    <a:ext uri="{9D8B030D-6E8A-4147-A177-3AD203B41FA5}">
                      <a16:colId xmlns:a16="http://schemas.microsoft.com/office/drawing/2014/main" val="3243619964"/>
                    </a:ext>
                  </a:extLst>
                </a:gridCol>
                <a:gridCol w="629754">
                  <a:extLst>
                    <a:ext uri="{9D8B030D-6E8A-4147-A177-3AD203B41FA5}">
                      <a16:colId xmlns:a16="http://schemas.microsoft.com/office/drawing/2014/main" val="315111662"/>
                    </a:ext>
                  </a:extLst>
                </a:gridCol>
              </a:tblGrid>
              <a:tr h="287100">
                <a:tc gridSpan="8">
                  <a:txBody>
                    <a:bodyPr/>
                    <a:lstStyle/>
                    <a:p>
                      <a:pPr algn="l" fontAlgn="ctr"/>
                      <a:r>
                        <a:rPr lang="en-US" sz="1800" b="0" i="0" u="none" strike="noStrike" kern="1200" dirty="0">
                          <a:solidFill>
                            <a:srgbClr val="000000"/>
                          </a:solidFill>
                          <a:effectLst/>
                          <a:latin typeface="Aptos Narrow" panose="020B0004020202020204" pitchFamily="34" charset="0"/>
                          <a:ea typeface="+mn-ea"/>
                          <a:cs typeface="+mn-cs"/>
                        </a:rPr>
                        <a:t>3D MED BN Existing Facilities</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fontAlgn="ct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fontAlgn="ct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fontAlgn="ct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fontAlgn="ct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fontAlgn="ct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fontAlgn="ct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768000435"/>
                  </a:ext>
                </a:extLst>
              </a:tr>
              <a:tr h="287100">
                <a:tc>
                  <a:txBody>
                    <a:bodyPr/>
                    <a:lstStyle/>
                    <a:p>
                      <a:pPr algn="ctr" fontAlgn="ctr"/>
                      <a:r>
                        <a:rPr lang="en-US" sz="1200" b="0" i="0" u="none" strike="noStrike" kern="1200" dirty="0">
                          <a:solidFill>
                            <a:srgbClr val="000000"/>
                          </a:solidFill>
                          <a:effectLst/>
                          <a:latin typeface="Aptos Narrow" panose="020B0004020202020204" pitchFamily="34" charset="0"/>
                          <a:ea typeface="+mn-ea"/>
                          <a:cs typeface="+mn-cs"/>
                        </a:rPr>
                        <a:t>FACILITY NO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Aptos Narrow" panose="020B0004020202020204" pitchFamily="34" charset="0"/>
                        </a:rPr>
                        <a:t>FACILITY USE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Aptos Narrow" panose="020B0004020202020204" pitchFamily="34" charset="0"/>
                        </a:rPr>
                        <a:t>USE CATEGORY TYPE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Aptos Narrow" panose="020B0004020202020204" pitchFamily="34" charset="0"/>
                        </a:rPr>
                        <a:t>AREA UTILIZED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Aptos Narrow" panose="020B0004020202020204" pitchFamily="34" charset="0"/>
                        </a:rPr>
                        <a:t>AREA RQMT</a:t>
                      </a:r>
                      <a:br>
                        <a:rPr lang="en-US" sz="1200" b="0" i="0" u="none" strike="noStrike" dirty="0">
                          <a:solidFill>
                            <a:srgbClr val="000000"/>
                          </a:solidFill>
                          <a:effectLst/>
                          <a:latin typeface="Aptos Narrow" panose="020B0004020202020204" pitchFamily="34" charset="0"/>
                        </a:rPr>
                      </a:br>
                      <a:r>
                        <a:rPr lang="en-US" sz="1050" b="0" i="0" u="none" strike="noStrike" dirty="0">
                          <a:solidFill>
                            <a:srgbClr val="000000"/>
                          </a:solidFill>
                          <a:effectLst/>
                          <a:latin typeface="Aptos Narrow" panose="020B0004020202020204" pitchFamily="34" charset="0"/>
                        </a:rPr>
                        <a:t>(BY CATEGORY)</a:t>
                      </a: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Aptos Narrow" panose="020B0004020202020204" pitchFamily="34" charset="0"/>
                        </a:rPr>
                        <a:t>AREA DELTA</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Aptos Narrow" panose="020B0004020202020204" pitchFamily="34" charset="0"/>
                        </a:rPr>
                        <a:t>AREA U/M</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Aptos Narrow" panose="020B0004020202020204" pitchFamily="34" charset="0"/>
                        </a:rPr>
                        <a:t>NOTE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580547014"/>
                  </a:ext>
                </a:extLst>
              </a:tr>
              <a:tr h="144927">
                <a:tc>
                  <a:txBody>
                    <a:bodyPr/>
                    <a:lstStyle/>
                    <a:p>
                      <a:pPr algn="r" fontAlgn="b"/>
                      <a:r>
                        <a:rPr lang="en-US" sz="1200" u="none" strike="noStrike" dirty="0">
                          <a:effectLst/>
                          <a:latin typeface="Aptos Narrow" panose="020B0004020202020204" pitchFamily="34" charset="0"/>
                        </a:rPr>
                        <a:t>225</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dirty="0">
                          <a:effectLst/>
                          <a:latin typeface="Aptos Narrow" panose="020B0004020202020204" pitchFamily="34" charset="0"/>
                        </a:rPr>
                        <a:t>CAMP FOSTER ARMORY</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dirty="0">
                          <a:effectLst/>
                          <a:latin typeface="Aptos Narrow" panose="020B0004020202020204" pitchFamily="34" charset="0"/>
                        </a:rPr>
                        <a:t>ARMORY</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809</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6,398</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-5,589</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l" fontAlgn="b"/>
                      <a:r>
                        <a:rPr lang="en-US" sz="1200" u="none" strike="noStrike" dirty="0">
                          <a:effectLst/>
                          <a:latin typeface="Aptos Narrow" panose="020B0004020202020204" pitchFamily="34" charset="0"/>
                        </a:rPr>
                        <a:t>SF</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Aptos Narrow" panose="020B0004020202020204" pitchFamily="34" charset="0"/>
                        </a:rPr>
                        <a:t>1</a:t>
                      </a: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6891655"/>
                  </a:ext>
                </a:extLst>
              </a:tr>
              <a:tr h="156763">
                <a:tc>
                  <a:txBody>
                    <a:bodyPr/>
                    <a:lstStyle/>
                    <a:p>
                      <a:pPr algn="r" fontAlgn="b"/>
                      <a:r>
                        <a:rPr lang="en-US" sz="1200" u="none" strike="noStrike" dirty="0">
                          <a:effectLst/>
                          <a:latin typeface="Aptos Narrow" panose="020B0004020202020204" pitchFamily="34" charset="0"/>
                        </a:rPr>
                        <a:t>5628</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dirty="0">
                          <a:effectLst/>
                          <a:latin typeface="Aptos Narrow" panose="020B0004020202020204" pitchFamily="34" charset="0"/>
                        </a:rPr>
                        <a:t>COMM MAINT SHOP</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dirty="0">
                          <a:effectLst/>
                          <a:latin typeface="Aptos Narrow" panose="020B0004020202020204" pitchFamily="34" charset="0"/>
                        </a:rPr>
                        <a:t>STORAGE/WAREHOUSE</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8,266</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28,333</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-20,067</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l" fontAlgn="b"/>
                      <a:r>
                        <a:rPr lang="en-US" sz="1200" u="none" strike="noStrike">
                          <a:effectLst/>
                          <a:latin typeface="Aptos Narrow" panose="020B0004020202020204" pitchFamily="34" charset="0"/>
                        </a:rPr>
                        <a:t>SF</a:t>
                      </a:r>
                      <a:endParaRPr lang="en-US" sz="1200" b="0" i="0" u="none" strike="noStrike">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Aptos Narrow" panose="020B0004020202020204" pitchFamily="34" charset="0"/>
                        </a:rPr>
                        <a:t>2</a:t>
                      </a: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7770057"/>
                  </a:ext>
                </a:extLst>
              </a:tr>
              <a:tr h="205893">
                <a:tc>
                  <a:txBody>
                    <a:bodyPr/>
                    <a:lstStyle/>
                    <a:p>
                      <a:pPr algn="r" fontAlgn="b"/>
                      <a:r>
                        <a:rPr lang="en-US" sz="1200" u="none" strike="noStrike" dirty="0">
                          <a:effectLst/>
                          <a:latin typeface="Aptos Narrow" panose="020B0004020202020204" pitchFamily="34" charset="0"/>
                        </a:rPr>
                        <a:t>5717</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a:effectLst/>
                          <a:latin typeface="Aptos Narrow" panose="020B0004020202020204" pitchFamily="34" charset="0"/>
                        </a:rPr>
                        <a:t>LSSS TAX CENTER/WIC/NMCRS/3 MLG</a:t>
                      </a:r>
                      <a:endParaRPr lang="en-US" sz="1200" b="0" i="0" u="none" strike="noStrike">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Aptos Narrow" panose="020B0004020202020204" pitchFamily="34" charset="0"/>
                        </a:rPr>
                        <a:t>HQS/ADMINISTRATIVE</a:t>
                      </a:r>
                      <a:endParaRPr lang="en-US" sz="12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13,998</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r" fontAlgn="ctr"/>
                      <a:r>
                        <a:rPr lang="en-US" sz="1200" u="none" strike="noStrike" dirty="0">
                          <a:effectLst/>
                          <a:latin typeface="Aptos Narrow" panose="020B0004020202020204" pitchFamily="34" charset="0"/>
                        </a:rPr>
                        <a:t>12,513</a:t>
                      </a:r>
                      <a:endParaRPr lang="en-US" sz="12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r" fontAlgn="ctr"/>
                      <a:r>
                        <a:rPr lang="en-US" sz="1200" u="none" strike="noStrike" dirty="0">
                          <a:effectLst/>
                          <a:latin typeface="Aptos Narrow" panose="020B0004020202020204" pitchFamily="34" charset="0"/>
                        </a:rPr>
                        <a:t>14,518 </a:t>
                      </a:r>
                      <a:endParaRPr lang="en-US" sz="12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l" fontAlgn="b"/>
                      <a:r>
                        <a:rPr lang="en-US" sz="1200" u="none" strike="noStrike" dirty="0">
                          <a:effectLst/>
                          <a:latin typeface="Aptos Narrow" panose="020B0004020202020204" pitchFamily="34" charset="0"/>
                        </a:rPr>
                        <a:t>SF</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fontAlgn="b"/>
                      <a:r>
                        <a:rPr lang="en-US" sz="1200" b="0" i="0" u="none" strike="noStrike" dirty="0">
                          <a:solidFill>
                            <a:srgbClr val="000000"/>
                          </a:solidFill>
                          <a:effectLst/>
                          <a:latin typeface="Aptos Narrow" panose="020B0004020202020204" pitchFamily="34" charset="0"/>
                        </a:rPr>
                        <a:t>3</a:t>
                      </a: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241758"/>
                  </a:ext>
                </a:extLst>
              </a:tr>
              <a:tr h="144927">
                <a:tc>
                  <a:txBody>
                    <a:bodyPr/>
                    <a:lstStyle/>
                    <a:p>
                      <a:pPr algn="r" fontAlgn="b"/>
                      <a:r>
                        <a:rPr lang="en-US" sz="1200" u="none" strike="noStrike" dirty="0">
                          <a:effectLst/>
                          <a:latin typeface="Aptos Narrow" panose="020B0004020202020204" pitchFamily="34" charset="0"/>
                        </a:rPr>
                        <a:t>215</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dirty="0">
                          <a:effectLst/>
                          <a:latin typeface="Aptos Narrow" panose="020B0004020202020204" pitchFamily="34" charset="0"/>
                        </a:rPr>
                        <a:t>CO HQ</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a:effectLst/>
                          <a:latin typeface="Aptos Narrow" panose="020B0004020202020204" pitchFamily="34" charset="0"/>
                        </a:rPr>
                        <a:t>HQS/ADMINISTRATIVE</a:t>
                      </a:r>
                      <a:endParaRPr lang="en-US" sz="1200" b="0" i="0" u="none" strike="noStrike">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495</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a:txBody>
                    <a:bodyPr/>
                    <a:lstStyle/>
                    <a:p>
                      <a:pPr algn="l" fontAlgn="b"/>
                      <a:r>
                        <a:rPr lang="en-US" sz="1200" u="none" strike="noStrike" dirty="0">
                          <a:effectLst/>
                          <a:latin typeface="Aptos Narrow" panose="020B0004020202020204" pitchFamily="34" charset="0"/>
                        </a:rPr>
                        <a:t>SF</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b"/>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1269908"/>
                  </a:ext>
                </a:extLst>
              </a:tr>
              <a:tr h="144927">
                <a:tc>
                  <a:txBody>
                    <a:bodyPr/>
                    <a:lstStyle/>
                    <a:p>
                      <a:pPr algn="r" fontAlgn="b"/>
                      <a:r>
                        <a:rPr lang="en-US" sz="1200" u="none" strike="noStrike" dirty="0">
                          <a:effectLst/>
                          <a:latin typeface="Aptos Narrow" panose="020B0004020202020204" pitchFamily="34" charset="0"/>
                        </a:rPr>
                        <a:t>215</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a:effectLst/>
                          <a:latin typeface="Aptos Narrow" panose="020B0004020202020204" pitchFamily="34" charset="0"/>
                        </a:rPr>
                        <a:t>BN HQ</a:t>
                      </a:r>
                      <a:endParaRPr lang="en-US" sz="1200" b="0" i="0" u="none" strike="noStrike">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a:effectLst/>
                          <a:latin typeface="Aptos Narrow" panose="020B0004020202020204" pitchFamily="34" charset="0"/>
                        </a:rPr>
                        <a:t>HQS/ADMINISTRATIVE</a:t>
                      </a:r>
                      <a:endParaRPr lang="en-US" sz="1200" b="0" i="0" u="none" strike="noStrike">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12,538</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US"/>
                    </a:p>
                  </a:txBody>
                  <a:tcPr>
                    <a:lnT w="12700" cap="flat" cmpd="sng" algn="ctr">
                      <a:solidFill>
                        <a:schemeClr val="tx1"/>
                      </a:solidFill>
                      <a:prstDash val="solid"/>
                      <a:round/>
                      <a:headEnd type="none" w="med" len="med"/>
                      <a:tailEnd type="none" w="med" len="med"/>
                    </a:lnT>
                  </a:tcPr>
                </a:tc>
                <a:tc>
                  <a:txBody>
                    <a:bodyPr/>
                    <a:lstStyle/>
                    <a:p>
                      <a:pPr algn="l" fontAlgn="b"/>
                      <a:r>
                        <a:rPr lang="en-US" sz="1200" u="none" strike="noStrike" dirty="0">
                          <a:effectLst/>
                          <a:latin typeface="Aptos Narrow" panose="020B0004020202020204" pitchFamily="34" charset="0"/>
                        </a:rPr>
                        <a:t>SF</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b"/>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5322323"/>
                  </a:ext>
                </a:extLst>
              </a:tr>
              <a:tr h="144927">
                <a:tc>
                  <a:txBody>
                    <a:bodyPr/>
                    <a:lstStyle/>
                    <a:p>
                      <a:pPr algn="r" fontAlgn="b"/>
                      <a:r>
                        <a:rPr lang="en-US" sz="1200" u="none" strike="noStrike" dirty="0">
                          <a:effectLst/>
                          <a:latin typeface="Aptos Narrow" panose="020B0004020202020204" pitchFamily="34" charset="0"/>
                        </a:rPr>
                        <a:t>5628</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a:effectLst/>
                          <a:latin typeface="Aptos Narrow" panose="020B0004020202020204" pitchFamily="34" charset="0"/>
                        </a:rPr>
                        <a:t>COMM MAINT SHOP</a:t>
                      </a:r>
                      <a:endParaRPr lang="en-US" sz="1200" b="0" i="0" u="none" strike="noStrike">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a:effectLst/>
                          <a:latin typeface="Aptos Narrow" panose="020B0004020202020204" pitchFamily="34" charset="0"/>
                        </a:rPr>
                        <a:t>APPLIED INSTRUCTION</a:t>
                      </a:r>
                      <a:endParaRPr lang="en-US" sz="1200" b="0" i="0" u="none" strike="noStrike">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667</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r" fontAlgn="ctr"/>
                      <a:r>
                        <a:rPr lang="en-US" sz="1200" u="none" strike="noStrike" dirty="0">
                          <a:effectLst/>
                          <a:latin typeface="Aptos Narrow" panose="020B0004020202020204" pitchFamily="34" charset="0"/>
                        </a:rPr>
                        <a:t>2,815</a:t>
                      </a:r>
                      <a:endParaRPr lang="en-US" sz="12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r" fontAlgn="ctr"/>
                      <a:r>
                        <a:rPr lang="en-US" sz="1200" u="none" strike="noStrike" dirty="0">
                          <a:effectLst/>
                          <a:latin typeface="Aptos Narrow" panose="020B0004020202020204" pitchFamily="34" charset="0"/>
                        </a:rPr>
                        <a:t>324 </a:t>
                      </a:r>
                      <a:endParaRPr lang="en-US" sz="1200" b="0" i="0" u="none" strike="noStrike" dirty="0">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l" fontAlgn="b"/>
                      <a:r>
                        <a:rPr lang="en-US" sz="1200" u="none" strike="noStrike" dirty="0">
                          <a:effectLst/>
                          <a:latin typeface="Aptos Narrow" panose="020B0004020202020204" pitchFamily="34" charset="0"/>
                        </a:rPr>
                        <a:t>SF</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b"/>
                      <a:r>
                        <a:rPr lang="en-US" sz="1200" b="0" i="0" u="none" strike="noStrike" dirty="0">
                          <a:solidFill>
                            <a:srgbClr val="000000"/>
                          </a:solidFill>
                          <a:effectLst/>
                          <a:latin typeface="Aptos Narrow" panose="020B0004020202020204" pitchFamily="34" charset="0"/>
                        </a:rPr>
                        <a:t>4</a:t>
                      </a: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8342156"/>
                  </a:ext>
                </a:extLst>
              </a:tr>
              <a:tr h="144927">
                <a:tc>
                  <a:txBody>
                    <a:bodyPr/>
                    <a:lstStyle/>
                    <a:p>
                      <a:pPr algn="r" fontAlgn="b"/>
                      <a:r>
                        <a:rPr lang="en-US" sz="1200" u="none" strike="noStrike" dirty="0">
                          <a:effectLst/>
                          <a:latin typeface="Aptos Narrow" panose="020B0004020202020204" pitchFamily="34" charset="0"/>
                        </a:rPr>
                        <a:t>5628</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dirty="0">
                          <a:effectLst/>
                          <a:latin typeface="Aptos Narrow" panose="020B0004020202020204" pitchFamily="34" charset="0"/>
                        </a:rPr>
                        <a:t>COMM MAINT SHOP</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a:effectLst/>
                          <a:latin typeface="Aptos Narrow" panose="020B0004020202020204" pitchFamily="34" charset="0"/>
                        </a:rPr>
                        <a:t>APPLIED INSTRUCTION</a:t>
                      </a:r>
                      <a:endParaRPr lang="en-US" sz="1200" b="0" i="0" u="none" strike="noStrike">
                        <a:solidFill>
                          <a:srgbClr val="000000"/>
                        </a:solidFill>
                        <a:effectLst/>
                        <a:latin typeface="Aptos Narrow" panose="020B0004020202020204" pitchFamily="34" charset="0"/>
                      </a:endParaRPr>
                    </a:p>
                  </a:txBody>
                  <a:tcPr marL="4960" marR="4960" marT="4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u="none" strike="noStrike" dirty="0">
                          <a:effectLst/>
                          <a:latin typeface="Aptos Narrow" panose="020B0004020202020204" pitchFamily="34" charset="0"/>
                        </a:rPr>
                        <a:t>2,472</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a:txBody>
                    <a:bodyPr/>
                    <a:lstStyle/>
                    <a:p>
                      <a:pPr algn="l" fontAlgn="b"/>
                      <a:r>
                        <a:rPr lang="en-US" sz="1200" u="none" strike="noStrike" dirty="0">
                          <a:effectLst/>
                          <a:latin typeface="Aptos Narrow" panose="020B0004020202020204" pitchFamily="34" charset="0"/>
                        </a:rPr>
                        <a:t>SF</a:t>
                      </a:r>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b"/>
                      <a:endParaRPr lang="en-US" sz="1200" b="0" i="0" u="none" strike="noStrike" dirty="0">
                        <a:solidFill>
                          <a:srgbClr val="000000"/>
                        </a:solidFill>
                        <a:effectLst/>
                        <a:latin typeface="Aptos Narrow" panose="020B0004020202020204" pitchFamily="34" charset="0"/>
                      </a:endParaRPr>
                    </a:p>
                  </a:txBody>
                  <a:tcPr marL="4960" marR="4960" marT="49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7673229"/>
                  </a:ext>
                </a:extLst>
              </a:tr>
            </a:tbl>
          </a:graphicData>
        </a:graphic>
      </p:graphicFrame>
    </p:spTree>
    <p:extLst>
      <p:ext uri="{BB962C8B-B14F-4D97-AF65-F5344CB8AC3E}">
        <p14:creationId xmlns:p14="http://schemas.microsoft.com/office/powerpoint/2010/main" val="2351486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a:spLocks noGrp="1"/>
          </p:cNvSpPr>
          <p:nvPr>
            <p:ph type="title"/>
          </p:nvPr>
        </p:nvSpPr>
        <p:spPr>
          <a:xfrm>
            <a:off x="1981200" y="152400"/>
            <a:ext cx="8229600" cy="685800"/>
          </a:xfrm>
          <a:prstGeom prst="rect">
            <a:avLst/>
          </a:prstGeom>
          <a:effectLst/>
        </p:spPr>
        <p:txBody>
          <a:bodyPr>
            <a:normAutofit fontScale="90000"/>
          </a:bodyPr>
          <a:lstStyle/>
          <a:p>
            <a:r>
              <a:rPr lang="en-US" sz="2800" dirty="0">
                <a:latin typeface="Calibri" panose="020F0502020204030204" pitchFamily="34" charset="0"/>
              </a:rPr>
              <a:t>Butler Facility Planning 1</a:t>
            </a:r>
            <a:r>
              <a:rPr lang="en-US" sz="2800" baseline="30000" dirty="0">
                <a:latin typeface="Calibri" panose="020F0502020204030204" pitchFamily="34" charset="0"/>
              </a:rPr>
              <a:t>st</a:t>
            </a:r>
            <a:r>
              <a:rPr lang="en-US" sz="2800" dirty="0">
                <a:latin typeface="Calibri" panose="020F0502020204030204" pitchFamily="34" charset="0"/>
              </a:rPr>
              <a:t> Pass Analysis</a:t>
            </a:r>
            <a:br>
              <a:rPr lang="en-US" sz="2800" dirty="0">
                <a:latin typeface="Calibri" panose="020F0502020204030204" pitchFamily="34" charset="0"/>
              </a:rPr>
            </a:br>
            <a:r>
              <a:rPr lang="en-US" sz="2000" dirty="0">
                <a:latin typeface="Calibri" panose="020F0502020204030204" pitchFamily="34" charset="0"/>
              </a:rPr>
              <a:t>Summary / Recommendations</a:t>
            </a:r>
            <a:endParaRPr lang="en-US" sz="1800" dirty="0">
              <a:latin typeface="Calibri" panose="020F0502020204030204" pitchFamily="34" charset="0"/>
            </a:endParaRPr>
          </a:p>
        </p:txBody>
      </p:sp>
      <p:sp>
        <p:nvSpPr>
          <p:cNvPr id="36" name="Slide Number Placeholder 5"/>
          <p:cNvSpPr>
            <a:spLocks noGrp="1"/>
          </p:cNvSpPr>
          <p:nvPr>
            <p:ph type="sldNum" sz="quarter" idx="12"/>
          </p:nvPr>
        </p:nvSpPr>
        <p:spPr>
          <a:xfrm>
            <a:off x="8077200" y="6356351"/>
            <a:ext cx="2133600" cy="365125"/>
          </a:xfrm>
          <a:prstGeom prst="rect">
            <a:avLst/>
          </a:prstGeom>
        </p:spPr>
        <p:txBody>
          <a:bodyPr/>
          <a:lstStyle/>
          <a:p>
            <a:fld id="{5DEFF953-E479-427D-9B92-DD700061B18D}" type="slidenum">
              <a:rPr lang="en-US" smtClean="0"/>
              <a:t>22</a:t>
            </a:fld>
            <a:endParaRPr lang="en-US"/>
          </a:p>
        </p:txBody>
      </p:sp>
      <p:sp>
        <p:nvSpPr>
          <p:cNvPr id="2" name="TextBox 1">
            <a:extLst>
              <a:ext uri="{FF2B5EF4-FFF2-40B4-BE49-F238E27FC236}">
                <a16:creationId xmlns:a16="http://schemas.microsoft.com/office/drawing/2014/main" id="{2F995E81-EDAF-EBF2-FA8D-1316E2D47B19}"/>
              </a:ext>
            </a:extLst>
          </p:cNvPr>
          <p:cNvSpPr txBox="1"/>
          <p:nvPr/>
        </p:nvSpPr>
        <p:spPr>
          <a:xfrm>
            <a:off x="1743762" y="1188720"/>
            <a:ext cx="8704477" cy="5355312"/>
          </a:xfrm>
          <a:prstGeom prst="rect">
            <a:avLst/>
          </a:prstGeom>
          <a:noFill/>
        </p:spPr>
        <p:txBody>
          <a:bodyPr wrap="square" rtlCol="0">
            <a:spAutoFit/>
          </a:bodyPr>
          <a:lstStyle/>
          <a:p>
            <a:r>
              <a:rPr lang="en-US" dirty="0"/>
              <a:t>	Locating SURG CO B aboard Camp Foster does not align with the long-range Installation Master Plan, therefore recommend temporary assignment to re-utilize existing facilities with potential minor construction support, where required.</a:t>
            </a:r>
          </a:p>
          <a:p>
            <a:pPr marL="685800" lvl="1" indent="-228600">
              <a:buFont typeface="+mj-lt"/>
              <a:buAutoNum type="arabicPeriod"/>
            </a:pPr>
            <a:r>
              <a:rPr lang="en-US" sz="1300" b="1" dirty="0"/>
              <a:t>Armory</a:t>
            </a:r>
            <a:r>
              <a:rPr lang="en-US" sz="1300" dirty="0"/>
              <a:t> – Recommend additional facilities beyond existing 3D MED BN utilization to meet SURG CO B requirements. However, bldg. 225 is the only armory on Camp Foster – it is a consolidated facility supporting various MCIPAC and III MEF tenants and fully occupied. May require MLG/MEF adjudication of priorities and potential space re-distribution. Alternatively, a temporary facility (ARMAG) solution should be considered as a MEF equipment procurement mitigation.</a:t>
            </a:r>
          </a:p>
          <a:p>
            <a:pPr marL="685800" lvl="1" indent="-228600">
              <a:buFont typeface="+mj-lt"/>
              <a:buAutoNum type="arabicPeriod"/>
            </a:pPr>
            <a:r>
              <a:rPr lang="en-US" sz="1300" b="1" dirty="0"/>
              <a:t>Storage / Warehouse </a:t>
            </a:r>
            <a:r>
              <a:rPr lang="en-US" sz="1300" dirty="0"/>
              <a:t>– Adequate organic storage space exists within 3D MED BN warehouse, bldg. 5628. General warehouse requirements (such as MEDLOG storage) will need supplemental support in facilities assigned to other MLG units. Initial assessment shows that 3D MLG has available surplus space to adequately mitigate.</a:t>
            </a:r>
          </a:p>
          <a:p>
            <a:pPr marL="685800" lvl="1" indent="-228600">
              <a:buFont typeface="+mj-lt"/>
              <a:buAutoNum type="arabicPeriod"/>
            </a:pPr>
            <a:r>
              <a:rPr lang="en-US" sz="1300" b="1" dirty="0"/>
              <a:t>HQs / Administrative </a:t>
            </a:r>
            <a:r>
              <a:rPr lang="en-US" sz="1300" dirty="0"/>
              <a:t>– 3D MED BN has significant surplus of existing office space. Recommend re-distributing existing spaces in bldg. 215 and/or 5717 to locate SURG CO B requirements.</a:t>
            </a:r>
          </a:p>
          <a:p>
            <a:pPr marL="685800" lvl="1" indent="-228600">
              <a:buFont typeface="+mj-lt"/>
              <a:buAutoNum type="arabicPeriod"/>
            </a:pPr>
            <a:r>
              <a:rPr lang="en-US" sz="1300" b="1" dirty="0"/>
              <a:t>Applied Instruction </a:t>
            </a:r>
            <a:r>
              <a:rPr lang="en-US" sz="1300" dirty="0"/>
              <a:t>– A small surplus of training space exists currently, recommend re-distribution of space(s) in 5628 to locate SURG CO B requirements. NOTE: 5628 is not currently configured to support training ops. Recommend minor construction project to convert functional areas (primarily HVAC upgrades).</a:t>
            </a:r>
          </a:p>
          <a:p>
            <a:pPr marL="685800" lvl="1" indent="-228600">
              <a:buFont typeface="+mj-lt"/>
              <a:buAutoNum type="arabicPeriod"/>
            </a:pPr>
            <a:r>
              <a:rPr lang="en-US" sz="1300" b="1" dirty="0"/>
              <a:t>Auto Org Shop / Tactical Veh Area </a:t>
            </a:r>
            <a:r>
              <a:rPr lang="en-US" sz="1300" dirty="0"/>
              <a:t>– Currently no assets are assigned explicitly to 3D MED BN. However other 3D MLG units maintain the existing requirements. Initial assessment shows MLG has surplus to take on the additional SURG CO B requirements.</a:t>
            </a:r>
          </a:p>
          <a:p>
            <a:endParaRPr lang="en-US" sz="1200" dirty="0"/>
          </a:p>
          <a:p>
            <a:r>
              <a:rPr lang="en-US" sz="1200" dirty="0"/>
              <a:t> </a:t>
            </a:r>
          </a:p>
          <a:p>
            <a:endParaRPr lang="en-US" sz="1200" dirty="0"/>
          </a:p>
          <a:p>
            <a:endParaRPr lang="en-US" dirty="0"/>
          </a:p>
        </p:txBody>
      </p:sp>
      <p:sp>
        <p:nvSpPr>
          <p:cNvPr id="5" name="TextBox 4">
            <a:extLst>
              <a:ext uri="{FF2B5EF4-FFF2-40B4-BE49-F238E27FC236}">
                <a16:creationId xmlns:a16="http://schemas.microsoft.com/office/drawing/2014/main" id="{1B11A0FD-5D7C-6948-9F23-8AA9FF51238B}"/>
              </a:ext>
            </a:extLst>
          </p:cNvPr>
          <p:cNvSpPr txBox="1"/>
          <p:nvPr/>
        </p:nvSpPr>
        <p:spPr>
          <a:xfrm>
            <a:off x="1093177" y="5517779"/>
            <a:ext cx="10005645" cy="523220"/>
          </a:xfrm>
          <a:prstGeom prst="rect">
            <a:avLst/>
          </a:prstGeom>
          <a:noFill/>
          <a:ln w="19050">
            <a:solidFill>
              <a:srgbClr val="FF0000"/>
            </a:solidFill>
          </a:ln>
        </p:spPr>
        <p:txBody>
          <a:bodyPr wrap="square" rtlCol="0">
            <a:spAutoFit/>
          </a:bodyPr>
          <a:lstStyle/>
          <a:p>
            <a:r>
              <a:rPr lang="en-US" sz="1400" dirty="0"/>
              <a:t>With regards to working facility requirements, a temporary basing in the timeframe aboard Camp Foster is feasible. SURG CO B facility requirements can be adequately mitigated by re-distributing existing 3D MED BN / 3D MLG utilizations.</a:t>
            </a:r>
          </a:p>
        </p:txBody>
      </p:sp>
    </p:spTree>
    <p:extLst>
      <p:ext uri="{BB962C8B-B14F-4D97-AF65-F5344CB8AC3E}">
        <p14:creationId xmlns:p14="http://schemas.microsoft.com/office/powerpoint/2010/main" val="3303064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a:spLocks noGrp="1"/>
          </p:cNvSpPr>
          <p:nvPr>
            <p:ph type="title"/>
          </p:nvPr>
        </p:nvSpPr>
        <p:spPr>
          <a:xfrm>
            <a:off x="1981200" y="152400"/>
            <a:ext cx="8229600" cy="685800"/>
          </a:xfrm>
          <a:prstGeom prst="rect">
            <a:avLst/>
          </a:prstGeom>
          <a:effectLst/>
        </p:spPr>
        <p:txBody>
          <a:bodyPr>
            <a:normAutofit fontScale="90000"/>
          </a:bodyPr>
          <a:lstStyle/>
          <a:p>
            <a:r>
              <a:rPr lang="en-US" sz="2800" dirty="0">
                <a:latin typeface="Calibri" panose="020F0502020204030204" pitchFamily="34" charset="0"/>
              </a:rPr>
              <a:t>Butler Facility Planning 1</a:t>
            </a:r>
            <a:r>
              <a:rPr lang="en-US" sz="2800" baseline="30000" dirty="0">
                <a:latin typeface="Calibri" panose="020F0502020204030204" pitchFamily="34" charset="0"/>
              </a:rPr>
              <a:t>st</a:t>
            </a:r>
            <a:r>
              <a:rPr lang="en-US" sz="2800" dirty="0">
                <a:latin typeface="Calibri" panose="020F0502020204030204" pitchFamily="34" charset="0"/>
              </a:rPr>
              <a:t> Pass Analysis</a:t>
            </a:r>
            <a:br>
              <a:rPr lang="en-US" sz="2800" dirty="0">
                <a:latin typeface="Calibri" panose="020F0502020204030204" pitchFamily="34" charset="0"/>
              </a:rPr>
            </a:br>
            <a:r>
              <a:rPr lang="en-US" sz="2000" dirty="0">
                <a:latin typeface="Calibri" panose="020F0502020204030204" pitchFamily="34" charset="0"/>
              </a:rPr>
              <a:t> Installation Master Plan Notes</a:t>
            </a:r>
            <a:endParaRPr lang="en-US" sz="1800" dirty="0">
              <a:latin typeface="Calibri" panose="020F0502020204030204" pitchFamily="34" charset="0"/>
            </a:endParaRPr>
          </a:p>
        </p:txBody>
      </p:sp>
      <p:sp>
        <p:nvSpPr>
          <p:cNvPr id="36" name="Slide Number Placeholder 5"/>
          <p:cNvSpPr>
            <a:spLocks noGrp="1"/>
          </p:cNvSpPr>
          <p:nvPr>
            <p:ph type="sldNum" sz="quarter" idx="12"/>
          </p:nvPr>
        </p:nvSpPr>
        <p:spPr>
          <a:xfrm>
            <a:off x="8077200" y="6356351"/>
            <a:ext cx="2133600" cy="365125"/>
          </a:xfrm>
          <a:prstGeom prst="rect">
            <a:avLst/>
          </a:prstGeom>
        </p:spPr>
        <p:txBody>
          <a:bodyPr/>
          <a:lstStyle/>
          <a:p>
            <a:fld id="{5DEFF953-E479-427D-9B92-DD700061B18D}" type="slidenum">
              <a:rPr lang="en-US" smtClean="0"/>
              <a:t>23</a:t>
            </a:fld>
            <a:endParaRPr lang="en-US"/>
          </a:p>
        </p:txBody>
      </p:sp>
      <p:sp>
        <p:nvSpPr>
          <p:cNvPr id="2" name="TextBox 1">
            <a:extLst>
              <a:ext uri="{FF2B5EF4-FFF2-40B4-BE49-F238E27FC236}">
                <a16:creationId xmlns:a16="http://schemas.microsoft.com/office/drawing/2014/main" id="{2F995E81-EDAF-EBF2-FA8D-1316E2D47B19}"/>
              </a:ext>
            </a:extLst>
          </p:cNvPr>
          <p:cNvSpPr txBox="1"/>
          <p:nvPr/>
        </p:nvSpPr>
        <p:spPr>
          <a:xfrm>
            <a:off x="1743762" y="1188720"/>
            <a:ext cx="8704477" cy="4801314"/>
          </a:xfrm>
          <a:prstGeom prst="rect">
            <a:avLst/>
          </a:prstGeom>
          <a:noFill/>
        </p:spPr>
        <p:txBody>
          <a:bodyPr wrap="square" rtlCol="0">
            <a:spAutoFit/>
          </a:bodyPr>
          <a:lstStyle/>
          <a:p>
            <a:r>
              <a:rPr lang="en-US" dirty="0"/>
              <a:t>	The Installation Master Plan does not include an enduring requirement for 3D MED BN aboard Camp Foster. Under DPRI OKICON current 3D MED BN and 3D MLG work facilities are impacted in later phases by site clearing demolitions or divestment by land return. The POR end state relocates all 3D MLG functions off Camp Foster to Camp Hansen/Guam/Hawaii. </a:t>
            </a:r>
          </a:p>
          <a:p>
            <a:endParaRPr lang="en-US" dirty="0"/>
          </a:p>
          <a:p>
            <a:r>
              <a:rPr lang="en-US" dirty="0"/>
              <a:t>	Further analysis/advanced planning is required to identify necessary mitigation steps and additional resources required for mid- and long-range plan components.</a:t>
            </a:r>
          </a:p>
          <a:p>
            <a:endParaRPr lang="en-US" dirty="0"/>
          </a:p>
          <a:p>
            <a:r>
              <a:rPr lang="en-US" dirty="0"/>
              <a:t>	Existing 3D MLG units aboard Camp Foster have significant space deltas recorded in the facility database (INFADS). These mostly originate due to improperly executed large-scale re-organization efforts in recent years by 3D MLG subordinate units. A number of 3D MLG units are operating from buildings without documentation or notification to Butler GF – this negatively impacts normal maintenance/sustainment planning, execution of new Force Design requirements, and existing space management or new basing efforts such as Pacific Posture.</a:t>
            </a:r>
          </a:p>
        </p:txBody>
      </p:sp>
    </p:spTree>
    <p:extLst>
      <p:ext uri="{BB962C8B-B14F-4D97-AF65-F5344CB8AC3E}">
        <p14:creationId xmlns:p14="http://schemas.microsoft.com/office/powerpoint/2010/main" val="464032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7B8254D36B6D4F85809159A907EA37" ma:contentTypeVersion="0" ma:contentTypeDescription="Create a new document." ma:contentTypeScope="" ma:versionID="21633df87aa73d3d4d29fb5ec799f4af">
  <xsd:schema xmlns:xsd="http://www.w3.org/2001/XMLSchema" xmlns:xs="http://www.w3.org/2001/XMLSchema" xmlns:p="http://schemas.microsoft.com/office/2006/metadata/properties" targetNamespace="http://schemas.microsoft.com/office/2006/metadata/properties" ma:root="true" ma:fieldsID="124fd2d4348e31d7b7bcc391e9da950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9257BE2-474D-4746-97A5-E340C41D6A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690C029-BBA3-4A55-8C08-F1448572B234}">
  <ds:schemaRefs>
    <ds:schemaRef ds:uri="http://schemas.microsoft.com/sharepoint/v3/contenttype/forms"/>
  </ds:schemaRefs>
</ds:datastoreItem>
</file>

<file path=customXml/itemProps3.xml><?xml version="1.0" encoding="utf-8"?>
<ds:datastoreItem xmlns:ds="http://schemas.openxmlformats.org/officeDocument/2006/customXml" ds:itemID="{870ABE3F-DC2D-44F8-86FB-B7CC11D27C0C}">
  <ds:schemaRefs>
    <ds:schemaRef ds:uri="http://schemas.openxmlformats.org/package/2006/metadata/core-properties"/>
    <ds:schemaRef ds:uri="http://purl.org/dc/dcmitype/"/>
    <ds:schemaRef ds:uri="http://purl.org/dc/elements/1.1/"/>
    <ds:schemaRef ds:uri="http://www.w3.org/XML/1998/namespace"/>
    <ds:schemaRef ds:uri="http://schemas.microsoft.com/office/2006/metadata/properties"/>
    <ds:schemaRef ds:uri="http://purl.org/dc/terms/"/>
    <ds:schemaRef ds:uri="http://schemas.microsoft.com/office/2006/documentManagement/types"/>
    <ds:schemaRef ds:uri="http://schemas.microsoft.com/office/infopath/2007/PartnerControls"/>
  </ds:schemaRefs>
</ds:datastoreItem>
</file>

<file path=docMetadata/LabelInfo.xml><?xml version="1.0" encoding="utf-8"?>
<clbl:labelList xmlns:clbl="http://schemas.microsoft.com/office/2020/mipLabelMetadata">
  <clbl:label id="{f4c44cda-18c6-46b0-80f2-e290072444fd}" enabled="0" method="" siteId="{f4c44cda-18c6-46b0-80f2-e290072444fd}" removed="1"/>
</clbl:labelList>
</file>

<file path=docProps/app.xml><?xml version="1.0" encoding="utf-8"?>
<Properties xmlns="http://schemas.openxmlformats.org/officeDocument/2006/extended-properties" xmlns:vt="http://schemas.openxmlformats.org/officeDocument/2006/docPropsVTypes">
  <Template>Tab B - Decision Brief Template v14</Template>
  <TotalTime>8003</TotalTime>
  <Words>4079</Words>
  <Application>Microsoft Office PowerPoint</Application>
  <PresentationFormat>Widescreen</PresentationFormat>
  <Paragraphs>534</Paragraphs>
  <Slides>23</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Aptos Display</vt:lpstr>
      <vt:lpstr>Aptos Narrow</vt:lpstr>
      <vt:lpstr>Arial</vt:lpstr>
      <vt:lpstr>Calibri</vt:lpstr>
      <vt:lpstr>Calibri Light</vt:lpstr>
      <vt:lpstr>Courier New</vt:lpstr>
      <vt:lpstr>Office Theme</vt:lpstr>
      <vt:lpstr> MCB Butler  Marine Corps Strategic Basing Program 3rd MLG, 3rd Men Bn, Surg Co B Basing Response  Aug 1, 2025 </vt:lpstr>
      <vt:lpstr>Basing Process, Actions, and General Timeline</vt:lpstr>
      <vt:lpstr>Assessment Process</vt:lpstr>
      <vt:lpstr>Installation Planning</vt:lpstr>
      <vt:lpstr>Functional Requirements Assessment</vt:lpstr>
      <vt:lpstr>Functional Requirements Assessment </vt:lpstr>
      <vt:lpstr>Functional Requirements Assessment</vt:lpstr>
      <vt:lpstr>Functional Requirements Assessment</vt:lpstr>
      <vt:lpstr>Functional Requirements Assessment</vt:lpstr>
      <vt:lpstr>Courses of Action Assessment</vt:lpstr>
      <vt:lpstr>COA Summary of Findings</vt:lpstr>
      <vt:lpstr>COA 1 Installation DOTMLPF/C</vt:lpstr>
      <vt:lpstr>COA 2 Installation DOTMLPF/C</vt:lpstr>
      <vt:lpstr>COA 3 Installation DOTMLPF/C</vt:lpstr>
      <vt:lpstr>Installation Assessment Way-forward</vt:lpstr>
      <vt:lpstr>Requests for Information</vt:lpstr>
      <vt:lpstr>Installation COA Recommendation</vt:lpstr>
      <vt:lpstr>Supporting Information</vt:lpstr>
      <vt:lpstr>Risk Definitions</vt:lpstr>
      <vt:lpstr>Butler Facility Planning Work Facility Requirements SURG CO B Planning Factors</vt:lpstr>
      <vt:lpstr>Butler Facility Planning 1st Pass Analysis 3D MED BN Existing Condition</vt:lpstr>
      <vt:lpstr>Butler Facility Planning 1st Pass Analysis Summary / Recommendations</vt:lpstr>
      <vt:lpstr>Butler Facility Planning 1st Pass Analysis  Installation Master Plan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Foster CIV George C</dc:creator>
  <cp:lastModifiedBy>Music CIV Kenji R</cp:lastModifiedBy>
  <cp:revision>369</cp:revision>
  <dcterms:created xsi:type="dcterms:W3CDTF">2025-04-03T16:59:05Z</dcterms:created>
  <dcterms:modified xsi:type="dcterms:W3CDTF">2025-11-26T01:53:41Z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0x0101009E7B8254D36B6D4F85809159A907EA37</vt:lpwstr>
  </property>
  <property fmtid="{D5CDD505-2E9C-101B-9397-08002B2CF9AE}" pid="3" name="MediaServiceImageTags">
    <vt:lpwstr/>
  </property>
</Properties>
</file>