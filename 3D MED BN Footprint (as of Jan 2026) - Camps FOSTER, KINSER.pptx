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0" r:id="rId3"/>
    <p:sldId id="261" r:id="rId4"/>
    <p:sldId id="256" r:id="rId5"/>
    <p:sldId id="258" r:id="rId6"/>
    <p:sldId id="259" r:id="rId7"/>
    <p:sldId id="25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880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5F136-D8B2-77F9-9EC0-C9B76BF10E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883789-32CA-1881-5935-80CC7D4887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9D6340-C269-7D05-BE16-8A8A79209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E5E2A-E010-4096-BDF9-5E6EFFC12DDE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41353-DE3B-7401-23F3-5C68D1906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3B154E-6B7E-2E07-05D0-FC2B9B9B5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23912-F4F2-485A-913F-5EDFED3E3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258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0320E-17CA-EF2B-4A0D-CCB93AC56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6C63-3907-5975-4CEA-9BFF8B606E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4C3D06-A22B-47F3-AFC4-91A892567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E5E2A-E010-4096-BDF9-5E6EFFC12DDE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8954B-2CB5-9DEE-6B43-50E33CFF2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7A687-1AF2-F281-75FE-A2C0BBCA1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23912-F4F2-485A-913F-5EDFED3E3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238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3235D-CAFE-BEB1-4BF8-D601E4F57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97A6CC-F118-5500-226A-5C07A1252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87F5E-24BA-67EB-EA79-508BAC3B2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E5E2A-E010-4096-BDF9-5E6EFFC12DDE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C099-2246-CE83-B706-A8BD165A9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2464D-B8E8-12B7-7AD6-4FB7136BB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23912-F4F2-485A-913F-5EDFED3E3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228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1D54A-7017-9758-61D8-6405E4C2F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1F108-3864-EBD6-4FB0-1DC16310D8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B7C416-E001-F9CE-86B4-EADFBEB992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AA74D-054E-851B-1132-9E14D5D13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E5E2A-E010-4096-BDF9-5E6EFFC12DDE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5B96A7-8B0D-5E28-9693-40F4671F4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72D501-1AFB-1D8A-871A-BB54C994A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23912-F4F2-485A-913F-5EDFED3E3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457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F32D1-F142-7992-5012-CB86628AB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11B5A5-7257-DB9B-F97F-BDD557ADA1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4817B7-2706-C5E6-EB4E-70BBFC3CB9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118ABA-D97B-818F-FC26-668D44A08E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BED0AF-BC3E-DA30-E1E1-B84D2AF795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355A81-D171-BB60-4138-01DB0DE85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E5E2A-E010-4096-BDF9-5E6EFFC12DDE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1271EE-E100-0869-04B5-00351C4E2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E769CD-C3A8-2057-AA9A-6359511A7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23912-F4F2-485A-913F-5EDFED3E3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930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74857-51D1-A9B0-747F-BB38921F1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A4CAE2-F7A7-D91D-6E01-0D99FE990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E5E2A-E010-4096-BDF9-5E6EFFC12DDE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018724-752D-8716-3941-D9EA8B8E5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E71492-2ED8-E263-F1EA-EF89BA09D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23912-F4F2-485A-913F-5EDFED3E3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439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38F9CA-E084-78B0-11FC-1EA40ECD5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E5E2A-E010-4096-BDF9-5E6EFFC12DDE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92BDDE-11A1-10E8-5B0F-CEE04B6B2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CDA9C8-7506-AFE9-E861-7CB5A55FF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23912-F4F2-485A-913F-5EDFED3E3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187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05A8C-CC57-26A7-8F05-9D02AA56D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2BA95-411C-704D-7988-8D33018B8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A3C28A-2BC4-8D69-3BAD-2167EDB297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61905B-80BF-5279-643A-D2FF56A12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E5E2A-E010-4096-BDF9-5E6EFFC12DDE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21A63F-AA09-57EF-2594-0D509A192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419AF7-6AD0-271F-F3FA-C70EB6F2F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23912-F4F2-485A-913F-5EDFED3E3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737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B690A-8007-3BA9-7094-BF22BCB7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21BDFC-908A-DF2E-BFA6-4CB129B1C7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4BB916-83BF-E446-705A-3D6243A492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DE7D43-A30A-90A2-EC86-79F0D52AB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E5E2A-E010-4096-BDF9-5E6EFFC12DDE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DFE92A-E97A-6360-AEDA-C07276B6C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DD5232-ABBC-D779-86A7-2E0193A97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23912-F4F2-485A-913F-5EDFED3E3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502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E9219-7A02-38B5-2ACB-CA0924497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C70932-D920-67CA-12D8-46956A2564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71B8B-51EA-554B-75CC-BD2BAED1A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E5E2A-E010-4096-BDF9-5E6EFFC12DDE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3C5A5-C60D-952C-4E8E-F488A10DB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06250-6A9B-1624-D38C-DE1B217AD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23912-F4F2-485A-913F-5EDFED3E3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530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3DAD2D-D37F-BB0B-CFC7-DCFAF7B28B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059F82-5D89-0054-E57F-7F9F3564D2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C12EC-AB9E-DF98-7E71-A38CAE6B3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E5E2A-E010-4096-BDF9-5E6EFFC12DDE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13F08-081C-AF47-85FA-931F98DC6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4F51D-CDAE-3943-181F-48C254C3E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23912-F4F2-485A-913F-5EDFED3E3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465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36216C-CBDD-EACC-0EEB-5195DADB2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5D9360-9F4A-7BB5-E515-211231094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7D79E-8E12-BFD3-B74F-6D8C7A4445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3E5E2A-E010-4096-BDF9-5E6EFFC12DDE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9ACCFE-93D8-8F7A-6513-7D713A63BC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BFA71F-A2D3-727B-3B86-5328DA228C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323912-F4F2-485A-913F-5EDFED3E361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3F5B17-E7D6-49FA-5994-55098BC85C4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969000" y="63500"/>
            <a:ext cx="293688" cy="2133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400">
                <a:solidFill>
                  <a:srgbClr val="0B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3C1AF5-074A-6FE9-EC4D-A2BFCB7E02A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969000" y="6581140"/>
            <a:ext cx="293688" cy="2133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400">
                <a:solidFill>
                  <a:srgbClr val="0B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CUI</a:t>
            </a:r>
          </a:p>
        </p:txBody>
      </p:sp>
    </p:spTree>
    <p:extLst>
      <p:ext uri="{BB962C8B-B14F-4D97-AF65-F5344CB8AC3E}">
        <p14:creationId xmlns:p14="http://schemas.microsoft.com/office/powerpoint/2010/main" val="434650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D216F0-F96B-EE85-4617-0B47EDEC3B65}"/>
              </a:ext>
            </a:extLst>
          </p:cNvPr>
          <p:cNvSpPr txBox="1"/>
          <p:nvPr/>
        </p:nvSpPr>
        <p:spPr>
          <a:xfrm>
            <a:off x="1029565" y="251423"/>
            <a:ext cx="1013290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/>
              <a:t>3D MED BN Footprint and IT automation requirements</a:t>
            </a:r>
          </a:p>
          <a:p>
            <a:pPr algn="ctr"/>
            <a:r>
              <a:rPr lang="en-US" sz="3200" b="1" dirty="0"/>
              <a:t>(as of Jan 2026; Camps FOSTER, KINSER)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5EABEE1-26C8-60D2-1A17-EF4BA516F9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2698909"/>
              </p:ext>
            </p:extLst>
          </p:nvPr>
        </p:nvGraphicFramePr>
        <p:xfrm>
          <a:off x="840468" y="2073476"/>
          <a:ext cx="10511063" cy="2019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37482">
                  <a:extLst>
                    <a:ext uri="{9D8B030D-6E8A-4147-A177-3AD203B41FA5}">
                      <a16:colId xmlns:a16="http://schemas.microsoft.com/office/drawing/2014/main" val="3962030915"/>
                    </a:ext>
                  </a:extLst>
                </a:gridCol>
                <a:gridCol w="763929">
                  <a:extLst>
                    <a:ext uri="{9D8B030D-6E8A-4147-A177-3AD203B41FA5}">
                      <a16:colId xmlns:a16="http://schemas.microsoft.com/office/drawing/2014/main" val="360256333"/>
                    </a:ext>
                  </a:extLst>
                </a:gridCol>
                <a:gridCol w="868102">
                  <a:extLst>
                    <a:ext uri="{9D8B030D-6E8A-4147-A177-3AD203B41FA5}">
                      <a16:colId xmlns:a16="http://schemas.microsoft.com/office/drawing/2014/main" val="385885378"/>
                    </a:ext>
                  </a:extLst>
                </a:gridCol>
                <a:gridCol w="925974">
                  <a:extLst>
                    <a:ext uri="{9D8B030D-6E8A-4147-A177-3AD203B41FA5}">
                      <a16:colId xmlns:a16="http://schemas.microsoft.com/office/drawing/2014/main" val="975730184"/>
                    </a:ext>
                  </a:extLst>
                </a:gridCol>
                <a:gridCol w="798653">
                  <a:extLst>
                    <a:ext uri="{9D8B030D-6E8A-4147-A177-3AD203B41FA5}">
                      <a16:colId xmlns:a16="http://schemas.microsoft.com/office/drawing/2014/main" val="3662419120"/>
                    </a:ext>
                  </a:extLst>
                </a:gridCol>
                <a:gridCol w="868102">
                  <a:extLst>
                    <a:ext uri="{9D8B030D-6E8A-4147-A177-3AD203B41FA5}">
                      <a16:colId xmlns:a16="http://schemas.microsoft.com/office/drawing/2014/main" val="3617834518"/>
                    </a:ext>
                  </a:extLst>
                </a:gridCol>
                <a:gridCol w="868101">
                  <a:extLst>
                    <a:ext uri="{9D8B030D-6E8A-4147-A177-3AD203B41FA5}">
                      <a16:colId xmlns:a16="http://schemas.microsoft.com/office/drawing/2014/main" val="491590126"/>
                    </a:ext>
                  </a:extLst>
                </a:gridCol>
                <a:gridCol w="810228">
                  <a:extLst>
                    <a:ext uri="{9D8B030D-6E8A-4147-A177-3AD203B41FA5}">
                      <a16:colId xmlns:a16="http://schemas.microsoft.com/office/drawing/2014/main" val="2930249494"/>
                    </a:ext>
                  </a:extLst>
                </a:gridCol>
                <a:gridCol w="1670492">
                  <a:extLst>
                    <a:ext uri="{9D8B030D-6E8A-4147-A177-3AD203B41FA5}">
                      <a16:colId xmlns:a16="http://schemas.microsoft.com/office/drawing/2014/main" val="2049325279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# W/S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# NIPR Phones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# NIPR Printers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# NIPR VTC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# SIPR Phones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# SIPR Printers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# SIPR SVTC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Other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4962492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dirty="0"/>
                        <a:t>FOS-215  (BN HQS)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1x SIPR Shredder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378923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FOS-5717 (Co HQS)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944538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r>
                        <a:rPr lang="en-US" sz="1800" b="1" dirty="0"/>
                        <a:t>FOS-5628 (BN Supply)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876135829"/>
                  </a:ext>
                </a:extLst>
              </a:tr>
              <a:tr h="36203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KIN-300 (MSTC, BN Supply)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6623080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CC"/>
                          </a:solidFill>
                          <a:effectLst/>
                          <a:latin typeface="Aptos Narrow" panose="020B0004020202020204" pitchFamily="34" charset="0"/>
                        </a:rPr>
                        <a:t>TOTALS: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0000CC"/>
                          </a:solidFill>
                          <a:effectLst/>
                          <a:latin typeface="Aptos Narrow" panose="020B0004020202020204" pitchFamily="34" charset="0"/>
                        </a:rPr>
                        <a:t>178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0000CC"/>
                          </a:solidFill>
                          <a:effectLst/>
                          <a:latin typeface="Aptos Narrow" panose="020B0004020202020204" pitchFamily="34" charset="0"/>
                        </a:rPr>
                        <a:t>105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0000CC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0000CC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0000CC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0000CC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0000CC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CC"/>
                          </a:solidFill>
                          <a:effectLst/>
                          <a:latin typeface="Aptos Narrow" panose="020B0004020202020204" pitchFamily="34" charset="0"/>
                        </a:rPr>
                        <a:t>1x SIPR Shredder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713579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7728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016E0-DC61-B5A8-9A65-E896BCECA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06A04C0-5779-B1CD-D4F8-E6CCCDE45E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8519"/>
          <a:stretch>
            <a:fillRect/>
          </a:stretch>
        </p:blipFill>
        <p:spPr>
          <a:xfrm>
            <a:off x="234646" y="769763"/>
            <a:ext cx="3849034" cy="56194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C9EDD4-726F-5402-680E-F2D9EF527176}"/>
              </a:ext>
            </a:extLst>
          </p:cNvPr>
          <p:cNvSpPr txBox="1"/>
          <p:nvPr/>
        </p:nvSpPr>
        <p:spPr>
          <a:xfrm>
            <a:off x="4178300" y="1225540"/>
            <a:ext cx="82677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AutoNum type="arabicPlain" startAt="120"/>
            </a:pPr>
            <a:endParaRPr lang="en-US" sz="1200" dirty="0"/>
          </a:p>
          <a:p>
            <a:pPr marL="0" lvl="1" defTabSz="593725"/>
            <a:r>
              <a:rPr lang="en-US" sz="1200" u="sng" dirty="0"/>
              <a:t>Rm #	Room Function	# W/S(NIPR)	#SIPR	#phones		# Printer</a:t>
            </a:r>
            <a:r>
              <a:rPr lang="en-US" sz="1200" dirty="0"/>
              <a:t>	</a:t>
            </a:r>
          </a:p>
          <a:p>
            <a:pPr marL="0" lvl="1" defTabSz="995363"/>
            <a:r>
              <a:rPr lang="en-US" sz="1200" dirty="0"/>
              <a:t>103	BN </a:t>
            </a:r>
            <a:r>
              <a:rPr lang="en-US" sz="1200" dirty="0" err="1"/>
              <a:t>Clrm</a:t>
            </a:r>
            <a:r>
              <a:rPr lang="en-US" sz="1200" dirty="0"/>
              <a:t>	1		2	</a:t>
            </a:r>
          </a:p>
          <a:p>
            <a:pPr defTabSz="995363"/>
            <a:r>
              <a:rPr lang="en-US" sz="1200" dirty="0"/>
              <a:t>103B	S-3 </a:t>
            </a:r>
            <a:r>
              <a:rPr lang="en-US" sz="1200" dirty="0" err="1"/>
              <a:t>Tng</a:t>
            </a:r>
            <a:r>
              <a:rPr lang="en-US" sz="1200" dirty="0"/>
              <a:t>	8		2	1</a:t>
            </a:r>
          </a:p>
          <a:p>
            <a:pPr defTabSz="995363"/>
            <a:r>
              <a:rPr lang="en-US" sz="1200" dirty="0"/>
              <a:t>104	S-6	10		8	1</a:t>
            </a:r>
          </a:p>
          <a:p>
            <a:pPr defTabSz="995363"/>
            <a:r>
              <a:rPr lang="en-US" sz="1200" dirty="0"/>
              <a:t>105	S-6</a:t>
            </a:r>
          </a:p>
          <a:p>
            <a:pPr defTabSz="995363"/>
            <a:r>
              <a:rPr lang="en-US" sz="1200" dirty="0"/>
              <a:t>106	S-6</a:t>
            </a:r>
          </a:p>
          <a:p>
            <a:pPr defTabSz="995363"/>
            <a:r>
              <a:rPr lang="en-US" sz="1200" dirty="0"/>
              <a:t>107	Duty Rest </a:t>
            </a:r>
          </a:p>
          <a:p>
            <a:pPr marL="228600" indent="-228600" defTabSz="995363">
              <a:buAutoNum type="arabicPlain" startAt="108"/>
            </a:pPr>
            <a:r>
              <a:rPr lang="en-US" sz="1200" dirty="0"/>
              <a:t>   	Chiefs Mess</a:t>
            </a:r>
          </a:p>
          <a:p>
            <a:pPr marL="228600" indent="-228600" defTabSz="995363">
              <a:buAutoNum type="arabicPlain" startAt="108"/>
            </a:pPr>
            <a:r>
              <a:rPr lang="en-US" sz="1200" dirty="0"/>
              <a:t> 	Female Head</a:t>
            </a:r>
          </a:p>
          <a:p>
            <a:pPr marL="228600" indent="-228600" defTabSz="995363">
              <a:buAutoNum type="arabicPlain" startAt="108"/>
            </a:pPr>
            <a:r>
              <a:rPr lang="en-US" sz="1200" dirty="0"/>
              <a:t> 	Male Head</a:t>
            </a:r>
          </a:p>
          <a:p>
            <a:pPr defTabSz="995363"/>
            <a:r>
              <a:rPr lang="en-US" sz="1200" dirty="0"/>
              <a:t>112	SEL, GySgt	2		1	</a:t>
            </a:r>
          </a:p>
          <a:p>
            <a:pPr defTabSz="995363"/>
            <a:r>
              <a:rPr lang="en-US" sz="1200" dirty="0"/>
              <a:t>113	H&amp;S Co </a:t>
            </a:r>
            <a:r>
              <a:rPr lang="en-US" sz="1200" dirty="0" err="1"/>
              <a:t>Cmd</a:t>
            </a:r>
            <a:r>
              <a:rPr lang="en-US" sz="1200" dirty="0"/>
              <a:t> 	3		2	1</a:t>
            </a:r>
          </a:p>
          <a:p>
            <a:pPr defTabSz="995363"/>
            <a:r>
              <a:rPr lang="en-US" sz="1200" dirty="0"/>
              <a:t>114	CO, XO	2		2</a:t>
            </a:r>
          </a:p>
          <a:p>
            <a:pPr defTabSz="995363"/>
            <a:r>
              <a:rPr lang="en-US" sz="1200" dirty="0"/>
              <a:t>115	S-6 closet	</a:t>
            </a:r>
          </a:p>
          <a:p>
            <a:pPr defTabSz="995363"/>
            <a:r>
              <a:rPr lang="en-US" sz="1200" dirty="0"/>
              <a:t>117	Duty Hut	2		2	</a:t>
            </a:r>
          </a:p>
          <a:p>
            <a:pPr defTabSz="995363"/>
            <a:r>
              <a:rPr lang="en-US" sz="1200" dirty="0"/>
              <a:t>118	S-2	6		3	1</a:t>
            </a:r>
          </a:p>
          <a:p>
            <a:pPr marL="228600" indent="-228600" defTabSz="995363">
              <a:buAutoNum type="arabicPlain" startAt="119"/>
            </a:pPr>
            <a:r>
              <a:rPr lang="en-US" sz="1200" dirty="0"/>
              <a:t> 	S-2</a:t>
            </a:r>
          </a:p>
          <a:p>
            <a:pPr marL="228600" indent="-228600" defTabSz="995363">
              <a:buAutoNum type="arabicPlain" startAt="119"/>
            </a:pPr>
            <a:r>
              <a:rPr lang="en-US" sz="1200" dirty="0"/>
              <a:t> 	S-2 (Vault)	2	2	1	1x SIPR Printer, 1x Shredder, 1x SVTC</a:t>
            </a:r>
          </a:p>
          <a:p>
            <a:pPr marL="228600" indent="-228600" defTabSz="995363">
              <a:buAutoNum type="arabicPlain" startAt="119"/>
            </a:pPr>
            <a:r>
              <a:rPr lang="en-US" sz="1200" dirty="0"/>
              <a:t> 	S-2 </a:t>
            </a:r>
          </a:p>
          <a:p>
            <a:pPr defTabSz="995363"/>
            <a:r>
              <a:rPr lang="en-US" sz="1200" dirty="0"/>
              <a:t>		</a:t>
            </a:r>
            <a:r>
              <a:rPr lang="en-US" sz="1600" b="1" dirty="0">
                <a:solidFill>
                  <a:srgbClr val="0000CC"/>
                </a:solidFill>
                <a:highlight>
                  <a:srgbClr val="FFFF00"/>
                </a:highlight>
              </a:rPr>
              <a:t>36	2	23	4x NIPR, 1x SIPR. 1x SVTC</a:t>
            </a:r>
            <a:endParaRPr lang="en-US" sz="1200" b="1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759052-958E-BE2C-4FEE-4DA7B11BA63D}"/>
              </a:ext>
            </a:extLst>
          </p:cNvPr>
          <p:cNvSpPr txBox="1"/>
          <p:nvPr/>
        </p:nvSpPr>
        <p:spPr>
          <a:xfrm>
            <a:off x="2964376" y="251423"/>
            <a:ext cx="62632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/>
              <a:t>FOS-215  HQS, 3D MED BN (1</a:t>
            </a:r>
            <a:r>
              <a:rPr lang="en-US" sz="3200" b="1" baseline="30000" dirty="0"/>
              <a:t>st</a:t>
            </a:r>
            <a:r>
              <a:rPr lang="en-US" sz="3200" b="1" dirty="0"/>
              <a:t> Fl)</a:t>
            </a:r>
          </a:p>
        </p:txBody>
      </p:sp>
    </p:spTree>
    <p:extLst>
      <p:ext uri="{BB962C8B-B14F-4D97-AF65-F5344CB8AC3E}">
        <p14:creationId xmlns:p14="http://schemas.microsoft.com/office/powerpoint/2010/main" val="1973366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C6576-A91A-A88C-F2A7-E08A425E2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CC3F86A-5BB2-86F0-D09F-478BA8CEF3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748"/>
          <a:stretch>
            <a:fillRect/>
          </a:stretch>
        </p:blipFill>
        <p:spPr>
          <a:xfrm>
            <a:off x="277787" y="769763"/>
            <a:ext cx="3827727" cy="56194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F59CD8-B76B-C42F-A35E-441FF3ED817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178300" y="1225540"/>
            <a:ext cx="826770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AutoNum type="arabicPlain" startAt="120"/>
            </a:pPr>
            <a:endParaRPr lang="en-US" sz="1200" dirty="0"/>
          </a:p>
          <a:p>
            <a:pPr marL="0" lvl="1" defTabSz="593725"/>
            <a:r>
              <a:rPr lang="en-US" sz="1200" u="sng" dirty="0"/>
              <a:t>Rm #	Room Function	# W/S(NIPR)	#SIPR	#phones		# Printer</a:t>
            </a:r>
            <a:r>
              <a:rPr lang="en-US" sz="1200" dirty="0"/>
              <a:t>	</a:t>
            </a:r>
          </a:p>
          <a:p>
            <a:pPr marL="228600" lvl="1" indent="-228600" defTabSz="995363">
              <a:buAutoNum type="arabicPlain" startAt="201"/>
            </a:pPr>
            <a:r>
              <a:rPr lang="en-US" sz="1200" dirty="0"/>
              <a:t> 	</a:t>
            </a:r>
            <a:r>
              <a:rPr lang="en-US" sz="1200" dirty="0">
                <a:solidFill>
                  <a:srgbClr val="FF0000"/>
                </a:solidFill>
              </a:rPr>
              <a:t>S-4 (vacant)  </a:t>
            </a:r>
            <a:r>
              <a:rPr lang="en-US" sz="1200" i="1" dirty="0">
                <a:solidFill>
                  <a:srgbClr val="FF0000"/>
                </a:solidFill>
              </a:rPr>
              <a:t>Moved to KIN-300. 7x W/S, 4x phones, 1x Printer	</a:t>
            </a:r>
          </a:p>
          <a:p>
            <a:pPr marL="228600" lvl="1" indent="-228600" defTabSz="995363">
              <a:buAutoNum type="arabicPlain" startAt="201"/>
            </a:pPr>
            <a:r>
              <a:rPr lang="en-US" sz="1200" dirty="0"/>
              <a:t> 	CMO, CNO	2		2</a:t>
            </a:r>
          </a:p>
          <a:p>
            <a:pPr marL="228600" lvl="1" indent="-228600" defTabSz="995363">
              <a:buAutoNum type="arabicPlain" startAt="201"/>
            </a:pPr>
            <a:r>
              <a:rPr lang="en-US" sz="1200" dirty="0"/>
              <a:t> 	Chaplain	2		2	door must have window</a:t>
            </a:r>
          </a:p>
          <a:p>
            <a:pPr defTabSz="995363"/>
            <a:r>
              <a:rPr lang="en-US" sz="1200" dirty="0"/>
              <a:t>204	BN Legal	2		1</a:t>
            </a:r>
          </a:p>
          <a:p>
            <a:pPr defTabSz="995363"/>
            <a:r>
              <a:rPr lang="en-US" sz="1200" dirty="0"/>
              <a:t>205	S-3 COPS	10		6 (3 lines)	1        TV</a:t>
            </a:r>
          </a:p>
          <a:p>
            <a:pPr defTabSz="995363"/>
            <a:r>
              <a:rPr lang="en-US" sz="1200" dirty="0"/>
              <a:t>206	</a:t>
            </a:r>
            <a:r>
              <a:rPr lang="en-US" sz="1200" dirty="0" err="1"/>
              <a:t>OpsO</a:t>
            </a:r>
            <a:r>
              <a:rPr lang="en-US" sz="1200" dirty="0"/>
              <a:t>	1		1</a:t>
            </a:r>
          </a:p>
          <a:p>
            <a:pPr defTabSz="995363"/>
            <a:r>
              <a:rPr lang="en-US" sz="1200" dirty="0"/>
              <a:t>207   	XO	1		1</a:t>
            </a:r>
          </a:p>
          <a:p>
            <a:pPr defTabSz="995363"/>
            <a:r>
              <a:rPr lang="en-US" sz="1200" dirty="0"/>
              <a:t>209 	CO	1		1</a:t>
            </a:r>
          </a:p>
          <a:p>
            <a:pPr defTabSz="995363"/>
            <a:r>
              <a:rPr lang="en-US" sz="1200" dirty="0"/>
              <a:t>210 	Closet</a:t>
            </a:r>
          </a:p>
          <a:p>
            <a:pPr defTabSz="995363"/>
            <a:r>
              <a:rPr lang="en-US" sz="1200" dirty="0"/>
              <a:t>211	ADJ	2		2	</a:t>
            </a:r>
          </a:p>
          <a:p>
            <a:pPr defTabSz="995363"/>
            <a:r>
              <a:rPr lang="en-US" sz="1200" dirty="0"/>
              <a:t>212	DCR	1		1</a:t>
            </a:r>
          </a:p>
          <a:p>
            <a:pPr defTabSz="995363"/>
            <a:r>
              <a:rPr lang="en-US" sz="1200" dirty="0"/>
              <a:t>213	CMC	1		1	1</a:t>
            </a:r>
          </a:p>
          <a:p>
            <a:pPr defTabSz="995363"/>
            <a:r>
              <a:rPr lang="en-US" sz="1200" dirty="0"/>
              <a:t>214	CCC	2		2	1</a:t>
            </a:r>
          </a:p>
          <a:p>
            <a:pPr defTabSz="995363"/>
            <a:r>
              <a:rPr lang="en-US" sz="1200" dirty="0"/>
              <a:t>215	S-1 	15		15 (current: 8)	1    1x shredder</a:t>
            </a:r>
          </a:p>
          <a:p>
            <a:pPr defTabSz="995363"/>
            <a:r>
              <a:rPr lang="en-US" sz="1200" dirty="0"/>
              <a:t>216	S-1	</a:t>
            </a:r>
          </a:p>
          <a:p>
            <a:pPr defTabSz="995363"/>
            <a:r>
              <a:rPr lang="en-US" sz="1200" dirty="0"/>
              <a:t>217	Conf Rm	1 (VTC Suite)</a:t>
            </a:r>
          </a:p>
          <a:p>
            <a:pPr marL="228600" indent="-228600" defTabSz="995363">
              <a:buAutoNum type="arabicPlain" startAt="218"/>
            </a:pPr>
            <a:r>
              <a:rPr lang="en-US" sz="1200" dirty="0"/>
              <a:t> 	Vestibule</a:t>
            </a:r>
          </a:p>
          <a:p>
            <a:pPr marL="228600" indent="-228600" defTabSz="995363">
              <a:buAutoNum type="arabicPlain" startAt="219"/>
            </a:pPr>
            <a:r>
              <a:rPr lang="en-US" sz="1200" dirty="0"/>
              <a:t>	Mail Room Ofc	1</a:t>
            </a:r>
          </a:p>
          <a:p>
            <a:pPr marL="228600" indent="-228600" defTabSz="995363">
              <a:buAutoNum type="arabicPlain" startAt="222"/>
            </a:pPr>
            <a:r>
              <a:rPr lang="en-US" sz="1200" dirty="0"/>
              <a:t> 	Mail Stg	</a:t>
            </a:r>
          </a:p>
          <a:p>
            <a:pPr marL="228600" indent="-228600" defTabSz="995363">
              <a:buAutoNum type="arabicPlain" startAt="221"/>
            </a:pPr>
            <a:r>
              <a:rPr lang="en-US" sz="1200" dirty="0"/>
              <a:t> 	Male Head</a:t>
            </a:r>
          </a:p>
          <a:p>
            <a:pPr marL="228600" indent="-228600" defTabSz="995363">
              <a:buAutoNum type="arabicPlain" startAt="221"/>
            </a:pPr>
            <a:r>
              <a:rPr lang="en-US" sz="1200" dirty="0"/>
              <a:t> 	Janitor Closet</a:t>
            </a:r>
          </a:p>
          <a:p>
            <a:pPr marL="228600" indent="-228600" defTabSz="995363">
              <a:buAutoNum type="arabicPlain" startAt="222"/>
            </a:pPr>
            <a:r>
              <a:rPr lang="en-US" sz="1200" dirty="0"/>
              <a:t> 	Admin Stg</a:t>
            </a:r>
          </a:p>
          <a:p>
            <a:pPr defTabSz="995363"/>
            <a:r>
              <a:rPr lang="en-US" sz="1200" dirty="0"/>
              <a:t>		</a:t>
            </a:r>
            <a:r>
              <a:rPr lang="en-US" sz="1600" b="1" dirty="0">
                <a:solidFill>
                  <a:srgbClr val="0000CC"/>
                </a:solidFill>
                <a:highlight>
                  <a:srgbClr val="FFFF00"/>
                </a:highlight>
              </a:rPr>
              <a:t>42		25 (35 is </a:t>
            </a:r>
            <a:r>
              <a:rPr lang="en-US" sz="1600" b="1" dirty="0" err="1">
                <a:solidFill>
                  <a:srgbClr val="0000CC"/>
                </a:solidFill>
                <a:highlight>
                  <a:srgbClr val="FFFF00"/>
                </a:highlight>
              </a:rPr>
              <a:t>rqmt</a:t>
            </a:r>
            <a:r>
              <a:rPr lang="en-US" sz="1600" b="1" dirty="0">
                <a:solidFill>
                  <a:srgbClr val="0000CC"/>
                </a:solidFill>
                <a:highlight>
                  <a:srgbClr val="FFFF00"/>
                </a:highlight>
              </a:rPr>
              <a:t>), 2x NIPR Printer, 1x VTC</a:t>
            </a:r>
            <a:endParaRPr lang="en-US" sz="1200" b="1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B4159C-23B8-771C-E917-99CB536D04B8}"/>
              </a:ext>
            </a:extLst>
          </p:cNvPr>
          <p:cNvSpPr txBox="1"/>
          <p:nvPr/>
        </p:nvSpPr>
        <p:spPr>
          <a:xfrm>
            <a:off x="2923180" y="251423"/>
            <a:ext cx="63456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/>
              <a:t>FOS-215  HQS, 3D MED BN (2</a:t>
            </a:r>
            <a:r>
              <a:rPr lang="en-US" sz="3200" b="1" baseline="30000" dirty="0"/>
              <a:t>nd</a:t>
            </a:r>
            <a:r>
              <a:rPr lang="en-US" sz="3200" b="1" dirty="0"/>
              <a:t> Fl)</a:t>
            </a:r>
          </a:p>
        </p:txBody>
      </p:sp>
    </p:spTree>
    <p:extLst>
      <p:ext uri="{BB962C8B-B14F-4D97-AF65-F5344CB8AC3E}">
        <p14:creationId xmlns:p14="http://schemas.microsoft.com/office/powerpoint/2010/main" val="1966437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FD760C-AD02-EF7E-B991-9DD8F9F9639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b="61073"/>
          <a:stretch>
            <a:fillRect/>
          </a:stretch>
        </p:blipFill>
        <p:spPr>
          <a:xfrm>
            <a:off x="117986" y="777175"/>
            <a:ext cx="11963767" cy="18578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C2225C-994F-D617-8330-7967E57E53E7}"/>
              </a:ext>
            </a:extLst>
          </p:cNvPr>
          <p:cNvSpPr txBox="1"/>
          <p:nvPr/>
        </p:nvSpPr>
        <p:spPr>
          <a:xfrm>
            <a:off x="494829" y="251423"/>
            <a:ext cx="112023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/>
              <a:t>FOS-5717   Elements of H&amp;S Co, 3D MED BN, Co HQS (2</a:t>
            </a:r>
            <a:r>
              <a:rPr lang="en-US" sz="3200" b="1" baseline="30000" dirty="0"/>
              <a:t>nd</a:t>
            </a:r>
            <a:r>
              <a:rPr lang="en-US" sz="3200" b="1" dirty="0"/>
              <a:t> Fl)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07628F-5055-74F0-B897-631CEF51356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6813" y="2032495"/>
            <a:ext cx="1818968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3d MED BN occupies</a:t>
            </a:r>
          </a:p>
          <a:p>
            <a:r>
              <a:rPr lang="en-US" sz="1400" dirty="0"/>
              <a:t> half of 2</a:t>
            </a:r>
            <a:r>
              <a:rPr lang="en-US" sz="1400" baseline="30000" dirty="0"/>
              <a:t>nd</a:t>
            </a:r>
            <a:r>
              <a:rPr lang="en-US" sz="1400" dirty="0"/>
              <a:t> Floor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2352C4-09B5-4214-8DD5-918E6F1883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23768" y="1101217"/>
            <a:ext cx="4119716" cy="1297858"/>
          </a:xfrm>
          <a:prstGeom prst="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E24EB2-8C78-72DC-FF57-E745F661C9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243484" y="1101217"/>
            <a:ext cx="383456" cy="530942"/>
          </a:xfrm>
          <a:prstGeom prst="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CB96BC-C86B-F383-EADD-173CBB691B6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94039" y="1604808"/>
            <a:ext cx="32643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FF0000"/>
                </a:solidFill>
              </a:rPr>
              <a:t>NOT ASSIGNED to 3d MED BN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669775-E816-AEB6-1BE7-069B52B95E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243484" y="1912584"/>
            <a:ext cx="383456" cy="491613"/>
          </a:xfrm>
          <a:prstGeom prst="rect">
            <a:avLst/>
          </a:prstGeom>
          <a:solidFill>
            <a:srgbClr val="FFFF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F048ED-A3A5-146A-C225-38D0C4307D5B}"/>
              </a:ext>
            </a:extLst>
          </p:cNvPr>
          <p:cNvSpPr txBox="1"/>
          <p:nvPr/>
        </p:nvSpPr>
        <p:spPr>
          <a:xfrm>
            <a:off x="2301362" y="2300755"/>
            <a:ext cx="82677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AutoNum type="arabicPlain" startAt="120"/>
            </a:pPr>
            <a:endParaRPr lang="en-US" sz="1200" dirty="0"/>
          </a:p>
          <a:p>
            <a:pPr marL="0" lvl="1" defTabSz="593725">
              <a:tabLst>
                <a:tab pos="914400" algn="l"/>
              </a:tabLst>
            </a:pPr>
            <a:r>
              <a:rPr lang="en-US" sz="1200" u="sng" dirty="0"/>
              <a:t>Rm #	Room Function	# W/S(NIPR)	#phones		# Printer</a:t>
            </a:r>
            <a:r>
              <a:rPr lang="en-US" sz="1200" dirty="0"/>
              <a:t>	</a:t>
            </a:r>
          </a:p>
          <a:p>
            <a:pPr marL="0" lvl="1" defTabSz="1244600">
              <a:tabLst>
                <a:tab pos="1031875" algn="l"/>
                <a:tab pos="2743200" algn="l"/>
              </a:tabLst>
            </a:pPr>
            <a:r>
              <a:rPr lang="en-US" sz="1200" dirty="0"/>
              <a:t>201 	Safety Sect OIC 	1	1</a:t>
            </a:r>
          </a:p>
          <a:p>
            <a:pPr marL="228600" indent="-228600" defTabSz="1244600">
              <a:buAutoNum type="arabicPlain" startAt="202"/>
              <a:tabLst>
                <a:tab pos="1031875" algn="l"/>
                <a:tab pos="2743200" algn="l"/>
              </a:tabLst>
            </a:pPr>
            <a:r>
              <a:rPr lang="en-US" sz="1200" dirty="0"/>
              <a:t> 	PMU OIC 	1	1	</a:t>
            </a:r>
          </a:p>
          <a:p>
            <a:pPr marL="228600" indent="-228600" defTabSz="1244600">
              <a:buAutoNum type="arabicPlain" startAt="202"/>
              <a:tabLst>
                <a:tab pos="1031875" algn="l"/>
                <a:tab pos="2743200" algn="l"/>
              </a:tabLst>
            </a:pPr>
            <a:r>
              <a:rPr lang="en-US" sz="1200" dirty="0"/>
              <a:t> 	PMU, Safety	2	1</a:t>
            </a:r>
          </a:p>
          <a:p>
            <a:pPr defTabSz="1244600">
              <a:tabLst>
                <a:tab pos="1031875" algn="l"/>
                <a:tab pos="2743200" algn="l"/>
              </a:tabLst>
            </a:pPr>
            <a:r>
              <a:rPr lang="en-US" sz="1200" dirty="0"/>
              <a:t>204	 PMU, Safety	1	1	</a:t>
            </a:r>
          </a:p>
          <a:p>
            <a:pPr defTabSz="1244600">
              <a:tabLst>
                <a:tab pos="1031875" algn="l"/>
                <a:tab pos="2743200" algn="l"/>
              </a:tabLst>
            </a:pPr>
            <a:r>
              <a:rPr lang="en-US" sz="1200" dirty="0"/>
              <a:t>205	 PMU, Safety	2	1</a:t>
            </a:r>
          </a:p>
          <a:p>
            <a:pPr marL="228600" indent="-228600" defTabSz="1244600">
              <a:buAutoNum type="arabicPlain" startAt="206"/>
              <a:tabLst>
                <a:tab pos="1031875" algn="l"/>
                <a:tab pos="2743200" algn="l"/>
              </a:tabLst>
            </a:pPr>
            <a:r>
              <a:rPr lang="en-US" sz="1200" dirty="0"/>
              <a:t> 	 PMU, Safety	2	1</a:t>
            </a:r>
          </a:p>
          <a:p>
            <a:pPr marL="228600" indent="-228600" defTabSz="1244600">
              <a:buAutoNum type="arabicPlain" startAt="206"/>
              <a:tabLst>
                <a:tab pos="1031875" algn="l"/>
                <a:tab pos="2743200" algn="l"/>
              </a:tabLst>
            </a:pPr>
            <a:r>
              <a:rPr lang="en-US" sz="1200" dirty="0"/>
              <a:t>   	 PMU, Safety	2	1</a:t>
            </a:r>
          </a:p>
          <a:p>
            <a:pPr marL="228600" indent="-228600" defTabSz="1244600">
              <a:buAutoNum type="arabicPlain" startAt="206"/>
              <a:tabLst>
                <a:tab pos="1031875" algn="l"/>
                <a:tab pos="2743200" algn="l"/>
              </a:tabLst>
            </a:pPr>
            <a:r>
              <a:rPr lang="en-US" sz="1200" dirty="0"/>
              <a:t> 	 PMU, Safety	1	1</a:t>
            </a:r>
          </a:p>
          <a:p>
            <a:pPr marL="228600" indent="-228600" defTabSz="1244600">
              <a:buAutoNum type="arabicPlain" startAt="206"/>
              <a:tabLst>
                <a:tab pos="1031875" algn="l"/>
                <a:tab pos="2743200" algn="l"/>
              </a:tabLst>
            </a:pPr>
            <a:r>
              <a:rPr lang="en-US" sz="1200" dirty="0"/>
              <a:t>	 PMU, Safety	1	1</a:t>
            </a:r>
          </a:p>
          <a:p>
            <a:pPr marL="228600" indent="-228600" defTabSz="1244600">
              <a:buAutoNum type="arabicPlain" startAt="206"/>
              <a:tabLst>
                <a:tab pos="1031875" algn="l"/>
                <a:tab pos="2743200" algn="l"/>
              </a:tabLst>
            </a:pPr>
            <a:r>
              <a:rPr lang="en-US" sz="1200" dirty="0"/>
              <a:t> 	 PMU, Safety	2	1	</a:t>
            </a:r>
          </a:p>
          <a:p>
            <a:pPr defTabSz="1244600">
              <a:tabLst>
                <a:tab pos="1031875" algn="l"/>
                <a:tab pos="2743200" algn="l"/>
              </a:tabLst>
            </a:pPr>
            <a:r>
              <a:rPr lang="en-US" sz="1200" dirty="0"/>
              <a:t>211 	VACANT (had mold issues; fixed)</a:t>
            </a:r>
          </a:p>
          <a:p>
            <a:pPr defTabSz="1244600">
              <a:tabLst>
                <a:tab pos="1031875" algn="l"/>
                <a:tab pos="2743200" algn="l"/>
              </a:tabLst>
            </a:pPr>
            <a:r>
              <a:rPr lang="en-US" sz="1200" dirty="0"/>
              <a:t>212 	PMU, Safety	1	1</a:t>
            </a:r>
          </a:p>
          <a:p>
            <a:pPr defTabSz="1244600">
              <a:tabLst>
                <a:tab pos="1031875" algn="l"/>
                <a:tab pos="2743200" algn="l"/>
              </a:tabLst>
            </a:pPr>
            <a:r>
              <a:rPr lang="en-US" sz="1200" dirty="0"/>
              <a:t>213	CSP (</a:t>
            </a:r>
            <a:r>
              <a:rPr lang="en-US" sz="1200" dirty="0" err="1"/>
              <a:t>Cbt</a:t>
            </a:r>
            <a:r>
              <a:rPr lang="en-US" sz="1200" dirty="0"/>
              <a:t> Stress)	1	1</a:t>
            </a:r>
          </a:p>
          <a:p>
            <a:pPr defTabSz="1244600">
              <a:tabLst>
                <a:tab pos="1031875" algn="l"/>
                <a:tab pos="2743200" algn="l"/>
              </a:tabLst>
            </a:pPr>
            <a:r>
              <a:rPr lang="en-US" sz="1200" dirty="0"/>
              <a:t>214	CSP	1	1</a:t>
            </a:r>
          </a:p>
          <a:p>
            <a:pPr defTabSz="1244600">
              <a:tabLst>
                <a:tab pos="1031875" algn="l"/>
                <a:tab pos="2743200" algn="l"/>
              </a:tabLst>
            </a:pPr>
            <a:r>
              <a:rPr lang="en-US" sz="1200" dirty="0"/>
              <a:t>215		2	0	</a:t>
            </a:r>
          </a:p>
          <a:p>
            <a:pPr defTabSz="1244600">
              <a:tabLst>
                <a:tab pos="1031875" algn="l"/>
                <a:tab pos="2743200" algn="l"/>
              </a:tabLst>
            </a:pPr>
            <a:r>
              <a:rPr lang="en-US" sz="1200" dirty="0"/>
              <a:t>216	Clinic Ops, BN Surgeon	2	1 	 </a:t>
            </a:r>
          </a:p>
          <a:p>
            <a:pPr defTabSz="1244600">
              <a:tabLst>
                <a:tab pos="1031875" algn="l"/>
                <a:tab pos="2743200" algn="l"/>
              </a:tabLst>
            </a:pPr>
            <a:r>
              <a:rPr lang="en-US" sz="1200" dirty="0"/>
              <a:t>218	PRINTER			1</a:t>
            </a:r>
          </a:p>
          <a:p>
            <a:pPr defTabSz="1244600">
              <a:tabLst>
                <a:tab pos="1031875" algn="l"/>
                <a:tab pos="2743200" algn="l"/>
              </a:tabLst>
            </a:pPr>
            <a:r>
              <a:rPr lang="en-US" sz="1200" dirty="0"/>
              <a:t>240 	Male head</a:t>
            </a:r>
          </a:p>
          <a:p>
            <a:pPr defTabSz="1244600">
              <a:tabLst>
                <a:tab pos="1031875" algn="l"/>
                <a:tab pos="2743200" algn="l"/>
              </a:tabLst>
            </a:pPr>
            <a:r>
              <a:rPr lang="en-US" sz="1200" dirty="0"/>
              <a:t>239 	Mech Room</a:t>
            </a:r>
          </a:p>
          <a:p>
            <a:pPr marL="228600" indent="-228600" defTabSz="1244600">
              <a:buAutoNum type="arabicPlain" startAt="238"/>
              <a:tabLst>
                <a:tab pos="1031875" algn="l"/>
                <a:tab pos="2743200" algn="l"/>
              </a:tabLst>
            </a:pPr>
            <a:r>
              <a:rPr lang="en-US" sz="1200" dirty="0"/>
              <a:t> 	Storage/Supply  (PMU, Safety)</a:t>
            </a:r>
          </a:p>
          <a:p>
            <a:pPr lvl="6" defTabSz="1244600">
              <a:tabLst>
                <a:tab pos="1031875" algn="l"/>
                <a:tab pos="2743200" algn="l"/>
              </a:tabLst>
            </a:pPr>
            <a:r>
              <a:rPr lang="en-US" sz="1600" b="1" dirty="0">
                <a:solidFill>
                  <a:srgbClr val="0000CC"/>
                </a:solidFill>
                <a:highlight>
                  <a:srgbClr val="FFFF00"/>
                </a:highlight>
              </a:rPr>
              <a:t>21	14	1</a:t>
            </a:r>
          </a:p>
        </p:txBody>
      </p:sp>
    </p:spTree>
    <p:extLst>
      <p:ext uri="{BB962C8B-B14F-4D97-AF65-F5344CB8AC3E}">
        <p14:creationId xmlns:p14="http://schemas.microsoft.com/office/powerpoint/2010/main" val="2752902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5FAC5-6682-5170-7648-0CF7789DC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27F8D91-5497-34C9-F96B-48DF2ABC8AD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50000" b="12043"/>
          <a:stretch>
            <a:fillRect/>
          </a:stretch>
        </p:blipFill>
        <p:spPr>
          <a:xfrm>
            <a:off x="117984" y="764455"/>
            <a:ext cx="11963767" cy="181159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63F5F12-B126-F486-7E2B-7F77848D0DAF}"/>
              </a:ext>
            </a:extLst>
          </p:cNvPr>
          <p:cNvSpPr txBox="1"/>
          <p:nvPr/>
        </p:nvSpPr>
        <p:spPr>
          <a:xfrm>
            <a:off x="1965229" y="251423"/>
            <a:ext cx="82615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/>
              <a:t>FOS-5717   A Co, 3D MED BN, Co HQS (3</a:t>
            </a:r>
            <a:r>
              <a:rPr lang="en-US" sz="3200" b="1" baseline="30000" dirty="0"/>
              <a:t>rd</a:t>
            </a:r>
            <a:r>
              <a:rPr lang="en-US" sz="3200" b="1" dirty="0"/>
              <a:t> Fl)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5D4FE3-187F-5BE9-9117-A368BBCD55F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6813" y="2042327"/>
            <a:ext cx="1818968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3d MED BN occupies</a:t>
            </a:r>
          </a:p>
          <a:p>
            <a:r>
              <a:rPr lang="en-US" sz="1400" dirty="0"/>
              <a:t> all of 3</a:t>
            </a:r>
            <a:r>
              <a:rPr lang="en-US" sz="1400" baseline="30000" dirty="0"/>
              <a:t>rd</a:t>
            </a:r>
            <a:r>
              <a:rPr lang="en-US" sz="1400" dirty="0"/>
              <a:t> Floor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0D5975-EA5B-254A-E0DD-C8F31F6585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243484" y="1912584"/>
            <a:ext cx="383456" cy="491613"/>
          </a:xfrm>
          <a:prstGeom prst="rect">
            <a:avLst/>
          </a:prstGeom>
          <a:solidFill>
            <a:srgbClr val="FFFF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5B55DF-385B-A2E3-EBFC-8517225AFCB7}"/>
              </a:ext>
            </a:extLst>
          </p:cNvPr>
          <p:cNvSpPr txBox="1"/>
          <p:nvPr/>
        </p:nvSpPr>
        <p:spPr>
          <a:xfrm>
            <a:off x="492227" y="2404197"/>
            <a:ext cx="5603774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AutoNum type="arabicPlain" startAt="120"/>
            </a:pPr>
            <a:endParaRPr lang="en-US" sz="1200" dirty="0"/>
          </a:p>
          <a:p>
            <a:pPr marL="0" lvl="1" defTabSz="593725">
              <a:tabLst>
                <a:tab pos="914400" algn="l"/>
              </a:tabLst>
            </a:pPr>
            <a:r>
              <a:rPr lang="en-US" sz="1200" u="sng" dirty="0"/>
              <a:t>Rm #	Room Function	# W/S(NIPR)	#phones		# Printer</a:t>
            </a:r>
            <a:r>
              <a:rPr lang="en-US" sz="1200" dirty="0"/>
              <a:t>	</a:t>
            </a:r>
          </a:p>
          <a:p>
            <a:pPr marL="228600" lvl="1" indent="-228600" defTabSz="1244600">
              <a:buAutoNum type="arabicPlain" startAt="301"/>
              <a:tabLst>
                <a:tab pos="1031875" algn="l"/>
                <a:tab pos="2743200" algn="l"/>
              </a:tabLst>
            </a:pPr>
            <a:r>
              <a:rPr lang="en-US" sz="1200" dirty="0"/>
              <a:t> 	CO	1	1	1</a:t>
            </a:r>
          </a:p>
          <a:p>
            <a:pPr marL="228600" lvl="1" indent="-228600" defTabSz="1244600">
              <a:buAutoNum type="arabicPlain" startAt="301"/>
              <a:tabLst>
                <a:tab pos="1031875" algn="l"/>
                <a:tab pos="2743200" algn="l"/>
              </a:tabLst>
            </a:pPr>
            <a:r>
              <a:rPr lang="en-US" sz="1200" dirty="0"/>
              <a:t> 	XO 	1	1	</a:t>
            </a:r>
          </a:p>
          <a:p>
            <a:pPr marL="228600" lvl="1" indent="-228600" defTabSz="1244600">
              <a:buAutoNum type="arabicPlain" startAt="301"/>
              <a:tabLst>
                <a:tab pos="1031875" algn="l"/>
                <a:tab pos="2743200" algn="l"/>
              </a:tabLst>
            </a:pPr>
            <a:r>
              <a:rPr lang="en-US" sz="1200" dirty="0"/>
              <a:t> 	SEL	1	1</a:t>
            </a:r>
          </a:p>
          <a:p>
            <a:pPr marL="228600" lvl="1" indent="-228600" defTabSz="1244600">
              <a:buAutoNum type="arabicPlain" startAt="301"/>
              <a:tabLst>
                <a:tab pos="1031875" algn="l"/>
                <a:tab pos="2743200" algn="l"/>
              </a:tabLst>
            </a:pPr>
            <a:r>
              <a:rPr lang="en-US" sz="1200" dirty="0"/>
              <a:t>	LPO	2	1</a:t>
            </a:r>
          </a:p>
          <a:p>
            <a:pPr defTabSz="1244600">
              <a:tabLst>
                <a:tab pos="1031875" algn="l"/>
                <a:tab pos="2743200" algn="l"/>
              </a:tabLst>
            </a:pPr>
            <a:r>
              <a:rPr lang="en-US" sz="1200" dirty="0"/>
              <a:t>305	OPS Chief	2		</a:t>
            </a:r>
          </a:p>
          <a:p>
            <a:pPr marL="228600" indent="-228600" defTabSz="1244600">
              <a:buAutoNum type="arabicPlain" startAt="306"/>
              <a:tabLst>
                <a:tab pos="1031875" algn="l"/>
                <a:tab pos="2743200" algn="l"/>
              </a:tabLst>
            </a:pPr>
            <a:r>
              <a:rPr lang="en-US" sz="1200" dirty="0"/>
              <a:t> 	1</a:t>
            </a:r>
            <a:r>
              <a:rPr lang="en-US" sz="1200" baseline="30000" dirty="0"/>
              <a:t>st</a:t>
            </a:r>
            <a:r>
              <a:rPr lang="en-US" sz="1200" dirty="0"/>
              <a:t> PLT CDR, CPO 	2	1</a:t>
            </a:r>
          </a:p>
          <a:p>
            <a:pPr marL="228600" indent="-228600" defTabSz="1244600">
              <a:buAutoNum type="arabicPlain" startAt="306"/>
              <a:tabLst>
                <a:tab pos="1031875" algn="l"/>
                <a:tab pos="2743200" algn="l"/>
              </a:tabLst>
            </a:pPr>
            <a:r>
              <a:rPr lang="en-US" sz="1200" dirty="0"/>
              <a:t> 	OPS OIC	2	1</a:t>
            </a:r>
          </a:p>
          <a:p>
            <a:pPr defTabSz="1244600">
              <a:tabLst>
                <a:tab pos="1031875" algn="l"/>
                <a:tab pos="2743200" algn="l"/>
              </a:tabLst>
            </a:pPr>
            <a:r>
              <a:rPr lang="en-US" sz="1200" dirty="0"/>
              <a:t>308   	2</a:t>
            </a:r>
            <a:r>
              <a:rPr lang="en-US" sz="1200" baseline="30000" dirty="0"/>
              <a:t>nd</a:t>
            </a:r>
            <a:r>
              <a:rPr lang="en-US" sz="1200" dirty="0"/>
              <a:t> PLT CDR, CPO 	2	1</a:t>
            </a:r>
          </a:p>
          <a:p>
            <a:pPr defTabSz="1244600">
              <a:tabLst>
                <a:tab pos="1031875" algn="l"/>
                <a:tab pos="2743200" algn="l"/>
              </a:tabLst>
            </a:pPr>
            <a:r>
              <a:rPr lang="en-US" sz="1200" dirty="0"/>
              <a:t>309  	Ops	2	1</a:t>
            </a:r>
          </a:p>
          <a:p>
            <a:pPr defTabSz="1244600">
              <a:tabLst>
                <a:tab pos="1031875" algn="l"/>
                <a:tab pos="2743200" algn="l"/>
              </a:tabLst>
            </a:pPr>
            <a:r>
              <a:rPr lang="en-US" sz="1200" dirty="0"/>
              <a:t>310 	3</a:t>
            </a:r>
            <a:r>
              <a:rPr lang="en-US" sz="1200" baseline="30000" dirty="0"/>
              <a:t>rd</a:t>
            </a:r>
            <a:r>
              <a:rPr lang="en-US" sz="1200" dirty="0"/>
              <a:t> PLT OIC, LCPO 	2	1</a:t>
            </a:r>
          </a:p>
          <a:p>
            <a:pPr defTabSz="1244600">
              <a:tabLst>
                <a:tab pos="1031875" algn="l"/>
                <a:tab pos="2743200" algn="l"/>
              </a:tabLst>
            </a:pPr>
            <a:r>
              <a:rPr lang="en-US" sz="1200" dirty="0"/>
              <a:t>311  	Ops	2	1	</a:t>
            </a:r>
          </a:p>
          <a:p>
            <a:pPr defTabSz="1244600">
              <a:tabLst>
                <a:tab pos="1031875" algn="l"/>
                <a:tab pos="2743200" algn="l"/>
              </a:tabLst>
            </a:pPr>
            <a:r>
              <a:rPr lang="en-US" sz="1200" dirty="0"/>
              <a:t>312 	TNG LPO, LT	2	1</a:t>
            </a:r>
          </a:p>
          <a:p>
            <a:pPr defTabSz="1244600">
              <a:tabLst>
                <a:tab pos="1031875" algn="l"/>
                <a:tab pos="2743200" algn="l"/>
              </a:tabLst>
            </a:pPr>
            <a:r>
              <a:rPr lang="en-US" sz="1200" dirty="0"/>
              <a:t>313  	S-4 Supply Ofc	1	1</a:t>
            </a:r>
          </a:p>
          <a:p>
            <a:pPr defTabSz="1244600">
              <a:tabLst>
                <a:tab pos="1031875" algn="l"/>
                <a:tab pos="2743200" algn="l"/>
              </a:tabLst>
            </a:pPr>
            <a:r>
              <a:rPr lang="en-US" sz="1200" dirty="0"/>
              <a:t>314  	Swing Space	2	</a:t>
            </a:r>
          </a:p>
          <a:p>
            <a:pPr defTabSz="1244600">
              <a:tabLst>
                <a:tab pos="1031875" algn="l"/>
                <a:tab pos="2743200" algn="l"/>
              </a:tabLst>
            </a:pPr>
            <a:r>
              <a:rPr lang="en-US" sz="1200" dirty="0"/>
              <a:t>315  	Supply	1</a:t>
            </a:r>
          </a:p>
          <a:p>
            <a:pPr defTabSz="1244600">
              <a:tabLst>
                <a:tab pos="1031875" algn="l"/>
                <a:tab pos="2743200" algn="l"/>
              </a:tabLst>
            </a:pPr>
            <a:r>
              <a:rPr lang="en-US" sz="1200" dirty="0"/>
              <a:t>316 	PRINTER	2		1</a:t>
            </a:r>
          </a:p>
          <a:p>
            <a:pPr defTabSz="1244600">
              <a:tabLst>
                <a:tab pos="1031875" algn="l"/>
                <a:tab pos="2743200" algn="l"/>
              </a:tabLst>
            </a:pPr>
            <a:r>
              <a:rPr lang="en-US" sz="1200" dirty="0"/>
              <a:t>317 	Breakroom	 	 </a:t>
            </a:r>
          </a:p>
          <a:p>
            <a:pPr defTabSz="1244600">
              <a:tabLst>
                <a:tab pos="1031875" algn="l"/>
                <a:tab pos="2743200" algn="l"/>
              </a:tabLst>
            </a:pPr>
            <a:r>
              <a:rPr lang="en-US" sz="1200" dirty="0"/>
              <a:t>318	Conf Room	1</a:t>
            </a:r>
          </a:p>
          <a:p>
            <a:pPr defTabSz="1244600">
              <a:tabLst>
                <a:tab pos="1031875" algn="l"/>
                <a:tab pos="2743200" algn="l"/>
              </a:tabLst>
            </a:pPr>
            <a:r>
              <a:rPr lang="en-US" sz="1200" dirty="0"/>
              <a:t>340	Female Head</a:t>
            </a:r>
          </a:p>
          <a:p>
            <a:pPr defTabSz="1244600">
              <a:tabLst>
                <a:tab pos="1031875" algn="l"/>
                <a:tab pos="2743200" algn="l"/>
              </a:tabLst>
            </a:pPr>
            <a:r>
              <a:rPr lang="en-US" sz="1200" dirty="0"/>
              <a:t>339	Mech Room </a:t>
            </a:r>
          </a:p>
          <a:p>
            <a:pPr defTabSz="1244600">
              <a:tabLst>
                <a:tab pos="1031875" algn="l"/>
                <a:tab pos="2743200" algn="l"/>
              </a:tabLst>
            </a:pPr>
            <a:r>
              <a:rPr lang="en-US" sz="1200" dirty="0"/>
              <a:t> 		</a:t>
            </a:r>
            <a:r>
              <a:rPr lang="en-US" sz="1600" b="1" dirty="0"/>
              <a:t>28	12	2</a:t>
            </a:r>
            <a:endParaRPr lang="en-US" sz="1200" b="1" dirty="0"/>
          </a:p>
          <a:p>
            <a:pPr defTabSz="1244600">
              <a:tabLst>
                <a:tab pos="1031875" algn="l"/>
                <a:tab pos="2743200" algn="l"/>
              </a:tabLst>
            </a:pPr>
            <a:r>
              <a:rPr lang="en-US" sz="1200" dirty="0"/>
              <a:t> </a:t>
            </a:r>
          </a:p>
          <a:p>
            <a:pPr lvl="6" defTabSz="1244600">
              <a:tabLst>
                <a:tab pos="1031875" algn="l"/>
                <a:tab pos="2743200" algn="l"/>
              </a:tabLst>
            </a:pPr>
            <a:r>
              <a:rPr lang="en-US" sz="1600" b="1" dirty="0"/>
              <a:t>28	12	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743BE1-6F4E-9A9E-B4BB-BEA3E76049F2}"/>
              </a:ext>
            </a:extLst>
          </p:cNvPr>
          <p:cNvSpPr txBox="1"/>
          <p:nvPr/>
        </p:nvSpPr>
        <p:spPr>
          <a:xfrm>
            <a:off x="6096000" y="2404196"/>
            <a:ext cx="6006897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AutoNum type="arabicPlain" startAt="120"/>
            </a:pPr>
            <a:endParaRPr lang="en-US" sz="1200" dirty="0"/>
          </a:p>
          <a:p>
            <a:pPr marL="0" lvl="1" defTabSz="593725">
              <a:tabLst>
                <a:tab pos="914400" algn="l"/>
              </a:tabLst>
            </a:pPr>
            <a:r>
              <a:rPr lang="en-US" sz="1200" u="sng" dirty="0"/>
              <a:t>Rm #	Room Function	# W/S(NIPR)	#phones		# Printer</a:t>
            </a:r>
            <a:r>
              <a:rPr lang="en-US" sz="1200" dirty="0"/>
              <a:t>	</a:t>
            </a:r>
          </a:p>
          <a:p>
            <a:pPr marL="0" lvl="1" defTabSz="1244600">
              <a:tabLst>
                <a:tab pos="1031875" algn="l"/>
                <a:tab pos="2743200" algn="l"/>
              </a:tabLst>
            </a:pPr>
            <a:r>
              <a:rPr lang="en-US" sz="1200" dirty="0"/>
              <a:t>338	Storage	 </a:t>
            </a:r>
          </a:p>
          <a:p>
            <a:pPr marL="0" lvl="1" defTabSz="1244600">
              <a:tabLst>
                <a:tab pos="1031875" algn="l"/>
                <a:tab pos="2743200" algn="l"/>
              </a:tabLst>
            </a:pPr>
            <a:r>
              <a:rPr lang="en-US" sz="1200" dirty="0"/>
              <a:t>337 	Mech Room		</a:t>
            </a:r>
          </a:p>
          <a:p>
            <a:pPr defTabSz="1244600">
              <a:tabLst>
                <a:tab pos="1031875" algn="l"/>
                <a:tab pos="2743200" algn="l"/>
              </a:tabLst>
            </a:pPr>
            <a:r>
              <a:rPr lang="en-US" sz="1200" dirty="0"/>
              <a:t>336	Comm Room</a:t>
            </a:r>
          </a:p>
          <a:p>
            <a:pPr defTabSz="1244600">
              <a:tabLst>
                <a:tab pos="1031875" algn="l"/>
                <a:tab pos="2743200" algn="l"/>
              </a:tabLst>
            </a:pPr>
            <a:r>
              <a:rPr lang="en-US" sz="1200" dirty="0"/>
              <a:t>319 	1</a:t>
            </a:r>
            <a:r>
              <a:rPr lang="en-US" sz="1200" baseline="30000" dirty="0"/>
              <a:t>st</a:t>
            </a:r>
            <a:r>
              <a:rPr lang="en-US" sz="1200" dirty="0"/>
              <a:t> PLT  	1	1</a:t>
            </a:r>
          </a:p>
          <a:p>
            <a:pPr defTabSz="1244600">
              <a:tabLst>
                <a:tab pos="1031875" algn="l"/>
                <a:tab pos="2743200" algn="l"/>
              </a:tabLst>
            </a:pPr>
            <a:r>
              <a:rPr lang="en-US" sz="1200" dirty="0"/>
              <a:t>320 	1</a:t>
            </a:r>
            <a:r>
              <a:rPr lang="en-US" sz="1200" baseline="30000" dirty="0"/>
              <a:t>st</a:t>
            </a:r>
            <a:r>
              <a:rPr lang="en-US" sz="1200" dirty="0"/>
              <a:t> PLT	1	1</a:t>
            </a:r>
          </a:p>
          <a:p>
            <a:pPr defTabSz="1244600">
              <a:tabLst>
                <a:tab pos="1031875" algn="l"/>
                <a:tab pos="2743200" algn="l"/>
              </a:tabLst>
            </a:pPr>
            <a:r>
              <a:rPr lang="en-US" sz="1200" dirty="0"/>
              <a:t>321   	1</a:t>
            </a:r>
            <a:r>
              <a:rPr lang="en-US" sz="1200" baseline="30000" dirty="0"/>
              <a:t>st</a:t>
            </a:r>
            <a:r>
              <a:rPr lang="en-US" sz="1200" dirty="0"/>
              <a:t> PLT	2	1</a:t>
            </a:r>
          </a:p>
          <a:p>
            <a:pPr defTabSz="1244600">
              <a:tabLst>
                <a:tab pos="1031875" algn="l"/>
                <a:tab pos="2743200" algn="l"/>
              </a:tabLst>
            </a:pPr>
            <a:r>
              <a:rPr lang="en-US" sz="1200" dirty="0"/>
              <a:t>322  	1</a:t>
            </a:r>
            <a:r>
              <a:rPr lang="en-US" sz="1200" baseline="30000" dirty="0"/>
              <a:t>st</a:t>
            </a:r>
            <a:r>
              <a:rPr lang="en-US" sz="1200" dirty="0"/>
              <a:t> PLT	1	1</a:t>
            </a:r>
          </a:p>
          <a:p>
            <a:pPr defTabSz="1244600">
              <a:tabLst>
                <a:tab pos="1031875" algn="l"/>
                <a:tab pos="2743200" algn="l"/>
              </a:tabLst>
            </a:pPr>
            <a:r>
              <a:rPr lang="en-US" sz="1200" dirty="0"/>
              <a:t>323 	2</a:t>
            </a:r>
            <a:r>
              <a:rPr lang="en-US" sz="1200" baseline="30000" dirty="0"/>
              <a:t>nd</a:t>
            </a:r>
            <a:r>
              <a:rPr lang="en-US" sz="1200" dirty="0"/>
              <a:t> PLT 	1</a:t>
            </a:r>
          </a:p>
          <a:p>
            <a:pPr defTabSz="1244600">
              <a:tabLst>
                <a:tab pos="1031875" algn="l"/>
                <a:tab pos="2743200" algn="l"/>
              </a:tabLst>
            </a:pPr>
            <a:r>
              <a:rPr lang="en-US" sz="1200" dirty="0"/>
              <a:t>324  	2</a:t>
            </a:r>
            <a:r>
              <a:rPr lang="en-US" sz="1200" baseline="30000" dirty="0"/>
              <a:t>nd</a:t>
            </a:r>
            <a:r>
              <a:rPr lang="en-US" sz="1200" dirty="0"/>
              <a:t> PLT 	1	1	</a:t>
            </a:r>
          </a:p>
          <a:p>
            <a:pPr defTabSz="1244600">
              <a:tabLst>
                <a:tab pos="1031875" algn="l"/>
                <a:tab pos="2743200" algn="l"/>
              </a:tabLst>
            </a:pPr>
            <a:r>
              <a:rPr lang="en-US" sz="1200" dirty="0"/>
              <a:t>325 	2</a:t>
            </a:r>
            <a:r>
              <a:rPr lang="en-US" sz="1200" baseline="30000" dirty="0"/>
              <a:t>nd</a:t>
            </a:r>
            <a:r>
              <a:rPr lang="en-US" sz="1200" dirty="0"/>
              <a:t> PLT	2	1</a:t>
            </a:r>
          </a:p>
          <a:p>
            <a:pPr defTabSz="1244600">
              <a:tabLst>
                <a:tab pos="1031875" algn="l"/>
                <a:tab pos="2743200" algn="l"/>
              </a:tabLst>
            </a:pPr>
            <a:r>
              <a:rPr lang="en-US" sz="1200" dirty="0"/>
              <a:t>326  	2</a:t>
            </a:r>
            <a:r>
              <a:rPr lang="en-US" sz="1200" baseline="30000" dirty="0"/>
              <a:t>nd</a:t>
            </a:r>
            <a:r>
              <a:rPr lang="en-US" sz="1200" dirty="0"/>
              <a:t> PLT 	1	1</a:t>
            </a:r>
          </a:p>
          <a:p>
            <a:pPr defTabSz="1244600">
              <a:tabLst>
                <a:tab pos="1031875" algn="l"/>
                <a:tab pos="2743200" algn="l"/>
              </a:tabLst>
            </a:pPr>
            <a:r>
              <a:rPr lang="en-US" sz="1200" dirty="0"/>
              <a:t>327  	PRINTER			1</a:t>
            </a:r>
          </a:p>
          <a:p>
            <a:pPr marL="228600" indent="-228600" defTabSz="1244600">
              <a:buAutoNum type="arabicPlain" startAt="328"/>
              <a:tabLst>
                <a:tab pos="1031875" algn="l"/>
                <a:tab pos="2743200" algn="l"/>
              </a:tabLst>
            </a:pPr>
            <a:r>
              <a:rPr lang="en-US" sz="1200" dirty="0"/>
              <a:t> 	Study CLRM	1	1</a:t>
            </a:r>
          </a:p>
          <a:p>
            <a:pPr marL="228600" indent="-228600" defTabSz="1244600">
              <a:buAutoNum type="arabicPlain" startAt="328"/>
              <a:tabLst>
                <a:tab pos="1031875" algn="l"/>
                <a:tab pos="2743200" algn="l"/>
              </a:tabLst>
            </a:pPr>
            <a:r>
              <a:rPr lang="en-US" sz="1200" dirty="0"/>
              <a:t> 	3</a:t>
            </a:r>
            <a:r>
              <a:rPr lang="en-US" sz="1200" baseline="30000" dirty="0"/>
              <a:t>rd</a:t>
            </a:r>
            <a:r>
              <a:rPr lang="en-US" sz="1200" dirty="0"/>
              <a:t> PLT	1	1</a:t>
            </a:r>
          </a:p>
          <a:p>
            <a:pPr defTabSz="1244600">
              <a:tabLst>
                <a:tab pos="1031875" algn="l"/>
                <a:tab pos="2743200" algn="l"/>
              </a:tabLst>
            </a:pPr>
            <a:r>
              <a:rPr lang="en-US" sz="1200" dirty="0"/>
              <a:t>330 	3</a:t>
            </a:r>
            <a:r>
              <a:rPr lang="en-US" sz="1200" baseline="30000" dirty="0"/>
              <a:t>rd</a:t>
            </a:r>
            <a:r>
              <a:rPr lang="en-US" sz="1200" dirty="0"/>
              <a:t> PLT	1	1	 </a:t>
            </a:r>
          </a:p>
          <a:p>
            <a:pPr defTabSz="1244600">
              <a:tabLst>
                <a:tab pos="1031875" algn="l"/>
                <a:tab pos="2743200" algn="l"/>
              </a:tabLst>
            </a:pPr>
            <a:r>
              <a:rPr lang="en-US" sz="1200" dirty="0"/>
              <a:t>331	ERC (H&amp;S Co)	1	1</a:t>
            </a:r>
          </a:p>
          <a:p>
            <a:pPr defTabSz="1244600">
              <a:tabLst>
                <a:tab pos="1031875" algn="l"/>
                <a:tab pos="2743200" algn="l"/>
              </a:tabLst>
            </a:pPr>
            <a:r>
              <a:rPr lang="en-US" sz="1200" dirty="0"/>
              <a:t>332	ERC (H&amp;S Co)	2	1</a:t>
            </a:r>
          </a:p>
          <a:p>
            <a:pPr defTabSz="1244600">
              <a:tabLst>
                <a:tab pos="1031875" algn="l"/>
                <a:tab pos="2743200" algn="l"/>
              </a:tabLst>
            </a:pPr>
            <a:r>
              <a:rPr lang="en-US" sz="1200" dirty="0"/>
              <a:t>333	ERC (H&amp;S Co)	2	1</a:t>
            </a:r>
          </a:p>
          <a:p>
            <a:pPr defTabSz="1244600">
              <a:tabLst>
                <a:tab pos="1031875" algn="l"/>
                <a:tab pos="2743200" algn="l"/>
              </a:tabLst>
            </a:pPr>
            <a:r>
              <a:rPr lang="en-US" sz="1200" dirty="0"/>
              <a:t>334 	ERC (H&amp;S Co)	1</a:t>
            </a:r>
          </a:p>
          <a:p>
            <a:pPr defTabSz="1244600">
              <a:tabLst>
                <a:tab pos="1031875" algn="l"/>
                <a:tab pos="2743200" algn="l"/>
              </a:tabLst>
            </a:pPr>
            <a:r>
              <a:rPr lang="en-US" sz="1200" dirty="0"/>
              <a:t> 		</a:t>
            </a:r>
            <a:r>
              <a:rPr lang="en-US" sz="1600" b="1" dirty="0"/>
              <a:t>19	13	1</a:t>
            </a:r>
          </a:p>
          <a:p>
            <a:pPr defTabSz="1244600">
              <a:tabLst>
                <a:tab pos="1031875" algn="l"/>
                <a:tab pos="2743200" algn="l"/>
              </a:tabLst>
            </a:pPr>
            <a:r>
              <a:rPr lang="en-US" sz="1600" b="1" dirty="0"/>
              <a:t>		</a:t>
            </a:r>
            <a:r>
              <a:rPr lang="en-US" sz="1600" b="1" dirty="0">
                <a:solidFill>
                  <a:srgbClr val="0000CC"/>
                </a:solidFill>
                <a:highlight>
                  <a:srgbClr val="FFFF00"/>
                </a:highlight>
              </a:rPr>
              <a:t>47	24	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0A52C2-AF35-BFB5-56CF-C59DD67A01A4}"/>
              </a:ext>
            </a:extLst>
          </p:cNvPr>
          <p:cNvSpPr txBox="1"/>
          <p:nvPr/>
        </p:nvSpPr>
        <p:spPr>
          <a:xfrm>
            <a:off x="7264400" y="2080137"/>
            <a:ext cx="309700" cy="18466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600" b="1" dirty="0"/>
              <a:t>318</a:t>
            </a:r>
          </a:p>
        </p:txBody>
      </p:sp>
    </p:spTree>
    <p:extLst>
      <p:ext uri="{BB962C8B-B14F-4D97-AF65-F5344CB8AC3E}">
        <p14:creationId xmlns:p14="http://schemas.microsoft.com/office/powerpoint/2010/main" val="1541942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5688E0E-6555-8977-0A50-233D7AB88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352" y="933185"/>
            <a:ext cx="9681296" cy="25871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27B29C-8F17-4FB2-A6B0-64B2B8803408}"/>
              </a:ext>
            </a:extLst>
          </p:cNvPr>
          <p:cNvSpPr txBox="1"/>
          <p:nvPr/>
        </p:nvSpPr>
        <p:spPr>
          <a:xfrm>
            <a:off x="3152121" y="251423"/>
            <a:ext cx="58877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/>
              <a:t>FOS-5628    3D MED BN,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B26334-53AC-76D2-1B70-9F3B59CAD527}"/>
              </a:ext>
            </a:extLst>
          </p:cNvPr>
          <p:cNvSpPr txBox="1"/>
          <p:nvPr/>
        </p:nvSpPr>
        <p:spPr>
          <a:xfrm>
            <a:off x="2330859" y="3617326"/>
            <a:ext cx="5603774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AutoNum type="arabicPlain" startAt="120"/>
            </a:pPr>
            <a:endParaRPr lang="en-US" sz="1200" dirty="0"/>
          </a:p>
          <a:p>
            <a:pPr marL="0" lvl="1" defTabSz="593725">
              <a:tabLst>
                <a:tab pos="914400" algn="l"/>
              </a:tabLst>
            </a:pPr>
            <a:r>
              <a:rPr lang="en-US" sz="1200" u="sng" dirty="0"/>
              <a:t>Rm #	Room Function	# W/S(NIPR)	#phones		# Printer</a:t>
            </a:r>
            <a:r>
              <a:rPr lang="en-US" sz="1200" dirty="0"/>
              <a:t>	</a:t>
            </a:r>
          </a:p>
          <a:p>
            <a:pPr marL="0" lvl="1" defTabSz="1244600">
              <a:tabLst>
                <a:tab pos="1031875" algn="l"/>
                <a:tab pos="2743200" algn="l"/>
              </a:tabLst>
            </a:pPr>
            <a:r>
              <a:rPr lang="en-US" sz="1200" dirty="0"/>
              <a:t>110	Supply OIC	3	2</a:t>
            </a:r>
          </a:p>
          <a:p>
            <a:pPr marL="0" lvl="1" defTabSz="1244600">
              <a:tabLst>
                <a:tab pos="1031875" algn="l"/>
                <a:tab pos="2743200" algn="l"/>
              </a:tabLst>
            </a:pPr>
            <a:r>
              <a:rPr lang="en-US" sz="1200" dirty="0"/>
              <a:t>111 	Supply Section	5	2	1</a:t>
            </a:r>
          </a:p>
          <a:p>
            <a:pPr marL="0" lvl="1" defTabSz="1244600">
              <a:tabLst>
                <a:tab pos="1031875" algn="l"/>
                <a:tab pos="2743200" algn="l"/>
              </a:tabLst>
            </a:pPr>
            <a:r>
              <a:rPr lang="en-US" sz="1200" dirty="0"/>
              <a:t>113 	WHSE; MNT Bay	2		</a:t>
            </a:r>
          </a:p>
          <a:p>
            <a:pPr marL="0" lvl="1" defTabSz="1244600">
              <a:tabLst>
                <a:tab pos="1031875" algn="l"/>
                <a:tab pos="2743200" algn="l"/>
              </a:tabLst>
            </a:pPr>
            <a:r>
              <a:rPr lang="en-US" sz="1600" b="1" dirty="0"/>
              <a:t>		</a:t>
            </a:r>
            <a:r>
              <a:rPr lang="en-US" sz="1600" b="1" dirty="0">
                <a:solidFill>
                  <a:srgbClr val="0000CC"/>
                </a:solidFill>
                <a:highlight>
                  <a:srgbClr val="FFFF00"/>
                </a:highlight>
              </a:rPr>
              <a:t>10	4	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5E4C90-FB2E-3286-27C2-AF69B36097F8}"/>
              </a:ext>
            </a:extLst>
          </p:cNvPr>
          <p:cNvSpPr/>
          <p:nvPr/>
        </p:nvSpPr>
        <p:spPr>
          <a:xfrm>
            <a:off x="5191738" y="2479329"/>
            <a:ext cx="1376209" cy="835741"/>
          </a:xfrm>
          <a:prstGeom prst="rect">
            <a:avLst/>
          </a:prstGeom>
          <a:solidFill>
            <a:srgbClr val="84E291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1D4A44-FB71-828B-E319-AEA969A70B57}"/>
              </a:ext>
            </a:extLst>
          </p:cNvPr>
          <p:cNvSpPr/>
          <p:nvPr/>
        </p:nvSpPr>
        <p:spPr>
          <a:xfrm>
            <a:off x="6597598" y="1168573"/>
            <a:ext cx="2442289" cy="766553"/>
          </a:xfrm>
          <a:prstGeom prst="rect">
            <a:avLst/>
          </a:prstGeom>
          <a:solidFill>
            <a:srgbClr val="84E291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9AAE72-7A07-9AA4-CE0B-F39307467BA6}"/>
              </a:ext>
            </a:extLst>
          </p:cNvPr>
          <p:cNvSpPr/>
          <p:nvPr/>
        </p:nvSpPr>
        <p:spPr>
          <a:xfrm>
            <a:off x="6597597" y="1935127"/>
            <a:ext cx="3389919" cy="1379944"/>
          </a:xfrm>
          <a:prstGeom prst="rect">
            <a:avLst/>
          </a:prstGeom>
          <a:solidFill>
            <a:srgbClr val="84E291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AD9620-232D-BB24-F1B8-E1EF27218314}"/>
              </a:ext>
            </a:extLst>
          </p:cNvPr>
          <p:cNvSpPr txBox="1"/>
          <p:nvPr/>
        </p:nvSpPr>
        <p:spPr>
          <a:xfrm>
            <a:off x="8769335" y="3377609"/>
            <a:ext cx="25090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1" dirty="0"/>
              <a:t>Most of unshaded areas are unoccupied</a:t>
            </a:r>
          </a:p>
        </p:txBody>
      </p:sp>
      <p:sp>
        <p:nvSpPr>
          <p:cNvPr id="8" name="Star: 5 Points 7">
            <a:extLst>
              <a:ext uri="{FF2B5EF4-FFF2-40B4-BE49-F238E27FC236}">
                <a16:creationId xmlns:a16="http://schemas.microsoft.com/office/drawing/2014/main" id="{35733089-10FE-37E1-A4AE-652E3A6CAF28}"/>
              </a:ext>
            </a:extLst>
          </p:cNvPr>
          <p:cNvSpPr/>
          <p:nvPr/>
        </p:nvSpPr>
        <p:spPr>
          <a:xfrm>
            <a:off x="6959968" y="3158123"/>
            <a:ext cx="176980" cy="147483"/>
          </a:xfrm>
          <a:prstGeom prst="star5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CB51B9-CEE6-1314-CF7E-BD89EC74D457}"/>
              </a:ext>
            </a:extLst>
          </p:cNvPr>
          <p:cNvSpPr txBox="1"/>
          <p:nvPr/>
        </p:nvSpPr>
        <p:spPr>
          <a:xfrm>
            <a:off x="7081325" y="3131388"/>
            <a:ext cx="218361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Location of WHSE; MNT Bay Phone</a:t>
            </a:r>
          </a:p>
        </p:txBody>
      </p:sp>
    </p:spTree>
    <p:extLst>
      <p:ext uri="{BB962C8B-B14F-4D97-AF65-F5344CB8AC3E}">
        <p14:creationId xmlns:p14="http://schemas.microsoft.com/office/powerpoint/2010/main" val="3383063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AA92DE-F81F-DA9B-9E04-22763AA4263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803" y="621939"/>
            <a:ext cx="5089617" cy="149518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9185FC7-06FD-B0EF-125A-D1507FE68C5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2942" y="2117121"/>
            <a:ext cx="6695767" cy="3321034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48FCFD43-E818-4F7A-E7CA-ABA68D906CA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149213" y="1479054"/>
            <a:ext cx="8042787" cy="48817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BD2D324-14B7-A119-E44E-82F97804097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64578" y="1073783"/>
            <a:ext cx="2286546" cy="111526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E43158A-946B-ECB4-F283-88B97591C2A6}"/>
              </a:ext>
            </a:extLst>
          </p:cNvPr>
          <p:cNvCxnSpPr>
            <a:stCxn id="17" idx="0"/>
            <a:endCxn id="16" idx="0"/>
          </p:cNvCxnSpPr>
          <p:nvPr/>
        </p:nvCxnSpPr>
        <p:spPr>
          <a:xfrm>
            <a:off x="2307851" y="1073783"/>
            <a:ext cx="5862756" cy="40527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F3C92BB-CC46-0627-A26F-381A65F9EE62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1499435" y="2025717"/>
            <a:ext cx="2993907" cy="289041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F992679-5B9F-F41D-7951-796338933347}"/>
              </a:ext>
            </a:extLst>
          </p:cNvPr>
          <p:cNvGrpSpPr/>
          <p:nvPr/>
        </p:nvGrpSpPr>
        <p:grpSpPr>
          <a:xfrm>
            <a:off x="634182" y="5049917"/>
            <a:ext cx="5633884" cy="1363120"/>
            <a:chOff x="196960" y="3919912"/>
            <a:chExt cx="5633884" cy="211246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E2A93DD-4703-7269-EEE6-28BFF734A790}"/>
                </a:ext>
              </a:extLst>
            </p:cNvPr>
            <p:cNvSpPr/>
            <p:nvPr/>
          </p:nvSpPr>
          <p:spPr>
            <a:xfrm>
              <a:off x="196960" y="3919912"/>
              <a:ext cx="5633884" cy="211246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CB26334-53AC-76D2-1B70-9F3B59CAD527}"/>
                </a:ext>
              </a:extLst>
            </p:cNvPr>
            <p:cNvSpPr txBox="1"/>
            <p:nvPr/>
          </p:nvSpPr>
          <p:spPr>
            <a:xfrm>
              <a:off x="212015" y="4172735"/>
              <a:ext cx="5603774" cy="16693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1" defTabSz="593725">
                <a:tabLst>
                  <a:tab pos="914400" algn="l"/>
                </a:tabLst>
              </a:pPr>
              <a:r>
                <a:rPr lang="en-US" sz="1200" u="sng" dirty="0"/>
                <a:t>Rm #	Room Function	# W/S(NIPR)	#phones		# Printer</a:t>
              </a:r>
              <a:r>
                <a:rPr lang="en-US" sz="1200" dirty="0"/>
                <a:t>	</a:t>
              </a:r>
            </a:p>
            <a:p>
              <a:pPr marL="0" lvl="1" defTabSz="1244600">
                <a:tabLst>
                  <a:tab pos="914400" algn="l"/>
                  <a:tab pos="2743200" algn="l"/>
                </a:tabLst>
              </a:pPr>
              <a:r>
                <a:rPr lang="en-US" sz="1200" dirty="0"/>
                <a:t>118	MSTC Classroom	12	0</a:t>
              </a:r>
            </a:p>
            <a:p>
              <a:pPr marL="0" lvl="1" defTabSz="1244600">
                <a:tabLst>
                  <a:tab pos="914400" algn="l"/>
                  <a:tab pos="2743200" algn="l"/>
                </a:tabLst>
              </a:pPr>
              <a:r>
                <a:rPr lang="en-US" sz="1200" dirty="0"/>
                <a:t>119 	MSTC Staff	10	5	0</a:t>
              </a:r>
            </a:p>
            <a:p>
              <a:pPr marL="0" lvl="1" defTabSz="1244600">
                <a:tabLst>
                  <a:tab pos="914400" algn="l"/>
                  <a:tab pos="2743200" algn="l"/>
                </a:tabLst>
              </a:pPr>
              <a:r>
                <a:rPr lang="en-US" sz="1200" dirty="0"/>
                <a:t>Bay 2	WHSE; MNT Bay			</a:t>
              </a:r>
            </a:p>
            <a:p>
              <a:pPr marL="0" lvl="1" defTabSz="1244600">
                <a:tabLst>
                  <a:tab pos="1031875" algn="l"/>
                  <a:tab pos="2743200" algn="l"/>
                </a:tabLst>
              </a:pPr>
              <a:r>
                <a:rPr lang="en-US" sz="1600" b="1" dirty="0">
                  <a:solidFill>
                    <a:srgbClr val="0000CC"/>
                  </a:solidFill>
                </a:rPr>
                <a:t>		</a:t>
              </a:r>
              <a:r>
                <a:rPr lang="en-US" sz="1600" b="1" dirty="0">
                  <a:solidFill>
                    <a:srgbClr val="0000CC"/>
                  </a:solidFill>
                  <a:highlight>
                    <a:srgbClr val="FFFF00"/>
                  </a:highlight>
                </a:rPr>
                <a:t>22	5	0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28D88A25-91D7-19A0-9E09-B269C6D1C136}"/>
              </a:ext>
            </a:extLst>
          </p:cNvPr>
          <p:cNvSpPr txBox="1"/>
          <p:nvPr/>
        </p:nvSpPr>
        <p:spPr>
          <a:xfrm>
            <a:off x="9861755" y="4495409"/>
            <a:ext cx="410690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0000CC"/>
                </a:solidFill>
              </a:rPr>
              <a:t>119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0036E86-C67B-F789-ADF6-2983AA38240F}"/>
              </a:ext>
            </a:extLst>
          </p:cNvPr>
          <p:cNvSpPr txBox="1"/>
          <p:nvPr/>
        </p:nvSpPr>
        <p:spPr>
          <a:xfrm>
            <a:off x="10559844" y="4423596"/>
            <a:ext cx="410690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0000CC"/>
                </a:solidFill>
              </a:rPr>
              <a:t>118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27B29C-8F17-4FB2-A6B0-64B2B8803408}"/>
              </a:ext>
            </a:extLst>
          </p:cNvPr>
          <p:cNvSpPr txBox="1"/>
          <p:nvPr/>
        </p:nvSpPr>
        <p:spPr>
          <a:xfrm>
            <a:off x="3308222" y="251423"/>
            <a:ext cx="55755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/>
              <a:t>KIN-300    3D MED BN, Supply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2262CF4-A531-6CE9-852B-1C978C4E03E6}"/>
              </a:ext>
            </a:extLst>
          </p:cNvPr>
          <p:cNvSpPr txBox="1"/>
          <p:nvPr/>
        </p:nvSpPr>
        <p:spPr>
          <a:xfrm>
            <a:off x="5685310" y="3429000"/>
            <a:ext cx="2154564" cy="83099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0000CC"/>
                </a:solidFill>
              </a:rPr>
              <a:t>BAY 2, KIN-300, is shared by:</a:t>
            </a:r>
          </a:p>
          <a:p>
            <a:r>
              <a:rPr lang="en-US" sz="1200" b="1" dirty="0">
                <a:solidFill>
                  <a:srgbClr val="0000CC"/>
                </a:solidFill>
              </a:rPr>
              <a:t>MSTC </a:t>
            </a:r>
          </a:p>
          <a:p>
            <a:r>
              <a:rPr lang="en-US" sz="1200" b="1" dirty="0">
                <a:solidFill>
                  <a:srgbClr val="0000CC"/>
                </a:solidFill>
              </a:rPr>
              <a:t>CBRNE</a:t>
            </a:r>
          </a:p>
          <a:p>
            <a:r>
              <a:rPr lang="en-US" sz="1200" b="1" dirty="0">
                <a:solidFill>
                  <a:srgbClr val="0000CC"/>
                </a:solidFill>
              </a:rPr>
              <a:t>Food SVC Co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237B228-9DCF-2307-A0E1-B86472C92548}"/>
              </a:ext>
            </a:extLst>
          </p:cNvPr>
          <p:cNvSpPr txBox="1"/>
          <p:nvPr/>
        </p:nvSpPr>
        <p:spPr>
          <a:xfrm>
            <a:off x="413769" y="1003182"/>
            <a:ext cx="851516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solidFill>
                  <a:srgbClr val="0000CC"/>
                </a:solidFill>
              </a:rPr>
              <a:t>Rations</a:t>
            </a:r>
          </a:p>
          <a:p>
            <a:pPr algn="ctr"/>
            <a:r>
              <a:rPr lang="en-US" sz="1000" dirty="0">
                <a:solidFill>
                  <a:srgbClr val="0000CC"/>
                </a:solidFill>
              </a:rPr>
              <a:t>Stored here </a:t>
            </a:r>
          </a:p>
        </p:txBody>
      </p:sp>
    </p:spTree>
    <p:extLst>
      <p:ext uri="{BB962C8B-B14F-4D97-AF65-F5344CB8AC3E}">
        <p14:creationId xmlns:p14="http://schemas.microsoft.com/office/powerpoint/2010/main" val="3747849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40e4756-20cb-4028-8aa7-0372e71bb7d5}" enabled="1" method="Privileged" siteId="{f4c44cda-18c6-46b0-80f2-e290072444fd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1334</Words>
  <Application>Microsoft Office PowerPoint</Application>
  <PresentationFormat>Widescreen</PresentationFormat>
  <Paragraphs>190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Aptos Narrow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United States Marine Corps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Talley CTR Thomas F</dc:creator>
  <cp:lastModifiedBy>Talley CTR Thomas F</cp:lastModifiedBy>
  <cp:revision>4</cp:revision>
  <dcterms:created xsi:type="dcterms:W3CDTF">2026-01-26T06:09:45Z</dcterms:created>
  <dcterms:modified xsi:type="dcterms:W3CDTF">2026-01-26T07:02:46Z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Theme:10</vt:lpwstr>
  </property>
  <property fmtid="{D5CDD505-2E9C-101B-9397-08002B2CF9AE}" pid="3" name="ClassificationContentMarkingFooterText">
    <vt:lpwstr>CUI</vt:lpwstr>
  </property>
  <property fmtid="{D5CDD505-2E9C-101B-9397-08002B2CF9AE}" pid="4" name="ClassificationContentMarkingHeaderLocations">
    <vt:lpwstr>Office Theme:9</vt:lpwstr>
  </property>
  <property fmtid="{D5CDD505-2E9C-101B-9397-08002B2CF9AE}" pid="5" name="ClassificationContentMarkingHeaderText">
    <vt:lpwstr>CUI</vt:lpwstr>
  </property>
</Properties>
</file>